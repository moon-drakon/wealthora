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16c4ff952b41f5" /><Relationship Type="http://schemas.openxmlformats.org/officeDocument/2006/relationships/extended-properties" Target="/docProps/app.xml" Id="R83c6b441f6d84545" /><Relationship Type="http://schemas.openxmlformats.org/officeDocument/2006/relationships/officeDocument" Target="/ppt/presentation.xml" Id="R69168156eb324981" /></Relationships>
</file>

<file path=ppt/presentation.xml><?xml version="1.0" encoding="utf-8"?>
<p:presentation xmlns:p="http://schemas.openxmlformats.org/presentationml/2006/main">
  <p:sldMasterIdLst>
    <p:sldMasterId xmlns:r="http://schemas.openxmlformats.org/officeDocument/2006/relationships" id="2147483648" r:id="Reb2430909901407a"/>
  </p:sldMasterIdLst>
  <p:notesMasterIdLst>
    <p:notesMasterId xmlns:r="http://schemas.openxmlformats.org/officeDocument/2006/relationships" r:id="Re6bddd6e09394998"/>
  </p:notesMasterIdLst>
  <p:sldIdLst>
    <p:sldId xmlns:r="http://schemas.openxmlformats.org/officeDocument/2006/relationships" id="256" r:id="Rfcf93a3727e24f20"/>
    <p:sldId xmlns:r="http://schemas.openxmlformats.org/officeDocument/2006/relationships" id="257" r:id="R50736335ce614437"/>
    <p:sldId xmlns:r="http://schemas.openxmlformats.org/officeDocument/2006/relationships" id="258" r:id="Rdd42708083474233"/>
    <p:sldId xmlns:r="http://schemas.openxmlformats.org/officeDocument/2006/relationships" id="259" r:id="R24575255837c4086"/>
    <p:sldId xmlns:r="http://schemas.openxmlformats.org/officeDocument/2006/relationships" id="260" r:id="R1fdf859123d84ace"/>
    <p:sldId xmlns:r="http://schemas.openxmlformats.org/officeDocument/2006/relationships" id="261" r:id="R3fabc98ce7394a5a"/>
    <p:sldId xmlns:r="http://schemas.openxmlformats.org/officeDocument/2006/relationships" id="262" r:id="R6e138246fb444596"/>
    <p:sldId xmlns:r="http://schemas.openxmlformats.org/officeDocument/2006/relationships" id="263" r:id="Rf47148c103c84b2d"/>
    <p:sldId xmlns:r="http://schemas.openxmlformats.org/officeDocument/2006/relationships" id="264" r:id="Rcc63ba99350841c2"/>
    <p:sldId xmlns:r="http://schemas.openxmlformats.org/officeDocument/2006/relationships" id="265" r:id="Rcad4ec36e8a7445b"/>
    <p:sldId xmlns:r="http://schemas.openxmlformats.org/officeDocument/2006/relationships" id="266" r:id="Raf70d1f0f3b1461e"/>
    <p:sldId xmlns:r="http://schemas.openxmlformats.org/officeDocument/2006/relationships" id="267" r:id="Rc0b0230138d44a0a"/>
    <p:sldId xmlns:r="http://schemas.openxmlformats.org/officeDocument/2006/relationships" id="268" r:id="R0df9b046b3b347d3"/>
    <p:sldId xmlns:r="http://schemas.openxmlformats.org/officeDocument/2006/relationships" id="269" r:id="Rda91872062f143ee"/>
    <p:sldId xmlns:r="http://schemas.openxmlformats.org/officeDocument/2006/relationships" id="270" r:id="Rbe51fbf05d624780"/>
    <p:sldId xmlns:r="http://schemas.openxmlformats.org/officeDocument/2006/relationships" id="271" r:id="Rec20fb4802e5467f"/>
    <p:sldId xmlns:r="http://schemas.openxmlformats.org/officeDocument/2006/relationships" id="272" r:id="R78ebe2281edb4da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d372c90e2842f5" /><Relationship Type="http://schemas.openxmlformats.org/officeDocument/2006/relationships/slideMaster" Target="/ppt/slideMasters/slideMaster1.xml" Id="Reb2430909901407a" /><Relationship Type="http://schemas.openxmlformats.org/officeDocument/2006/relationships/notesMaster" Target="/ppt/notesMasters/notesMaster1.xml" Id="Re6bddd6e09394998" /><Relationship Type="http://schemas.openxmlformats.org/officeDocument/2006/relationships/presProps" Target="/ppt/presProps.xml" Id="R3af72468be66428d" /><Relationship Type="http://schemas.openxmlformats.org/officeDocument/2006/relationships/tableStyles" Target="/ppt/tableStyles.xml" Id="Rd3b85530bcfb4f53" /><Relationship Type="http://schemas.openxmlformats.org/officeDocument/2006/relationships/slide" Target="/ppt/slides/slide1.xml" Id="Rfcf93a3727e24f20" /><Relationship Type="http://schemas.openxmlformats.org/officeDocument/2006/relationships/slide" Target="/ppt/slides/slide2.xml" Id="R50736335ce614437" /><Relationship Type="http://schemas.openxmlformats.org/officeDocument/2006/relationships/slide" Target="/ppt/slides/slide3.xml" Id="Rdd42708083474233" /><Relationship Type="http://schemas.openxmlformats.org/officeDocument/2006/relationships/slide" Target="/ppt/slides/slide4.xml" Id="R24575255837c4086" /><Relationship Type="http://schemas.openxmlformats.org/officeDocument/2006/relationships/slide" Target="/ppt/slides/slide5.xml" Id="R1fdf859123d84ace" /><Relationship Type="http://schemas.openxmlformats.org/officeDocument/2006/relationships/slide" Target="/ppt/slides/slide6.xml" Id="R3fabc98ce7394a5a" /><Relationship Type="http://schemas.openxmlformats.org/officeDocument/2006/relationships/slide" Target="/ppt/slides/slide7.xml" Id="R6e138246fb444596" /><Relationship Type="http://schemas.openxmlformats.org/officeDocument/2006/relationships/slide" Target="/ppt/slides/slide8.xml" Id="Rf47148c103c84b2d" /><Relationship Type="http://schemas.openxmlformats.org/officeDocument/2006/relationships/slide" Target="/ppt/slides/slide9.xml" Id="Rcc63ba99350841c2" /><Relationship Type="http://schemas.openxmlformats.org/officeDocument/2006/relationships/slide" Target="/ppt/slides/slide10.xml" Id="Rcad4ec36e8a7445b" /><Relationship Type="http://schemas.openxmlformats.org/officeDocument/2006/relationships/slide" Target="/ppt/slides/slide11.xml" Id="Raf70d1f0f3b1461e" /><Relationship Type="http://schemas.openxmlformats.org/officeDocument/2006/relationships/slide" Target="/ppt/slides/slide12.xml" Id="Rc0b0230138d44a0a" /><Relationship Type="http://schemas.openxmlformats.org/officeDocument/2006/relationships/slide" Target="/ppt/slides/slide13.xml" Id="R0df9b046b3b347d3" /><Relationship Type="http://schemas.openxmlformats.org/officeDocument/2006/relationships/slide" Target="/ppt/slides/slide14.xml" Id="Rda91872062f143ee" /><Relationship Type="http://schemas.openxmlformats.org/officeDocument/2006/relationships/slide" Target="/ppt/slides/slide15.xml" Id="Rbe51fbf05d624780" /><Relationship Type="http://schemas.openxmlformats.org/officeDocument/2006/relationships/slide" Target="/ppt/slides/slide16.xml" Id="Rec20fb4802e5467f" /><Relationship Type="http://schemas.openxmlformats.org/officeDocument/2006/relationships/slide" Target="/ppt/slides/slide17.xml" Id="R78ebe2281edb4d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3fb9e2933745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ddeba1aced468b" /><Relationship Type="http://schemas.openxmlformats.org/officeDocument/2006/relationships/notesMaster" Target="/ppt/notesMasters/notesMaster1.xml" Id="R85e95769b55145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338e38f07d40d2" /><Relationship Type="http://schemas.openxmlformats.org/officeDocument/2006/relationships/notesMaster" Target="/ppt/notesMasters/notesMaster1.xml" Id="R3bc5ba34c4044a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61ecac68444f49" /><Relationship Type="http://schemas.openxmlformats.org/officeDocument/2006/relationships/notesMaster" Target="/ppt/notesMasters/notesMaster1.xml" Id="R8275cd56a1d945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b2ed3959144f80" /><Relationship Type="http://schemas.openxmlformats.org/officeDocument/2006/relationships/notesMaster" Target="/ppt/notesMasters/notesMaster1.xml" Id="R285c992227fd4c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77ce3bb8a2411d" /><Relationship Type="http://schemas.openxmlformats.org/officeDocument/2006/relationships/notesMaster" Target="/ppt/notesMasters/notesMaster1.xml" Id="R7dff18fa402243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041b2ee58cb4b20" /><Relationship Type="http://schemas.openxmlformats.org/officeDocument/2006/relationships/notesMaster" Target="/ppt/notesMasters/notesMaster1.xml" Id="R20f2df7c1b2545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025fb1c751e14d12" /><Relationship Type="http://schemas.openxmlformats.org/officeDocument/2006/relationships/notesMaster" Target="/ppt/notesMasters/notesMaster1.xml" Id="R0d3abec4d9dc4ad6" /></Relationships>
</file>

<file path=ppt/notesSlides/_rels/notesSlide8.xml.rels>&#65279;<?xml version="1.0" encoding="utf-8"?><Relationships xmlns="http://schemas.openxmlformats.org/package/2006/relationships"><Relationship Type="http://schemas.openxmlformats.org/officeDocument/2006/relationships/slide" Target="/ppt/slides/slide8.xml" Id="R239dc30bc38145bd" /><Relationship Type="http://schemas.openxmlformats.org/officeDocument/2006/relationships/notesMaster" Target="/ppt/notesMasters/notesMaster1.xml" Id="R881922813e9340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4bc667fbb8e4171" /><Relationship Type="http://schemas.openxmlformats.org/officeDocument/2006/relationships/notesMaster" Target="/ppt/notesMasters/notesMaster1.xml" Id="R2f20b3edc6ae4ef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4ee34a4b8b4357" /><Relationship Type="http://schemas.openxmlformats.org/officeDocument/2006/relationships/notesMaster" Target="/ppt/notesMasters/notesMaster1.xml" Id="R1b50d6be5a25442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d84a6ff75d64a66" /><Relationship Type="http://schemas.openxmlformats.org/officeDocument/2006/relationships/notesMaster" Target="/ppt/notesMasters/notesMaster1.xml" Id="R30f280e8b7d9429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ca9431b58a349e9" /><Relationship Type="http://schemas.openxmlformats.org/officeDocument/2006/relationships/notesMaster" Target="/ppt/notesMasters/notesMaster1.xml" Id="R75eb1d5cee2f4d0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e5c5905790946bb" /><Relationship Type="http://schemas.openxmlformats.org/officeDocument/2006/relationships/notesMaster" Target="/ppt/notesMasters/notesMaster1.xml" Id="Rff11d28b2da6471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5c320b28cb448b8" /><Relationship Type="http://schemas.openxmlformats.org/officeDocument/2006/relationships/notesMaster" Target="/ppt/notesMasters/notesMaster1.xml" Id="R9ebc3823e5a248d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7c6eac86bc849fa" /><Relationship Type="http://schemas.openxmlformats.org/officeDocument/2006/relationships/notesMaster" Target="/ppt/notesMasters/notesMaster1.xml" Id="R27adbfc1f820471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a9c5a0c74044ce1" /><Relationship Type="http://schemas.openxmlformats.org/officeDocument/2006/relationships/notesMaster" Target="/ppt/notesMasters/notesMaster1.xml" Id="Rd63bd7b7efd5446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c113a6334584a77" /><Relationship Type="http://schemas.openxmlformats.org/officeDocument/2006/relationships/notesMaster" Target="/ppt/notesMasters/notesMaster1.xml" Id="R41740860a3794b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We are presenting Wealthora for CSE 215, Section 11, under faculty SAM3, with the demonstration scheduled for August 25, 2026. Wealthora is a Java 25 Swing desktop application designed to make everyday finance tracking clear, local, and explainable through object-oriented design. Our final baseline has no functional blockers: all 47 current automated entry points passed and both distribution JARs were verified.</a:t>
            </a:r>
          </a:p>
          <a:p xmlns:a="http://schemas.openxmlformats.org/drawingml/2006/main">
            <a:r>
              <a:t/>
            </a:r>
          </a:p>
          <a:p xmlns:a="http://schemas.openxmlformats.org/drawingml/2006/main">
            <a:r>
              <a:t>[Sources]</a:t>
            </a:r>
          </a:p>
          <a:p xmlns:a="http://schemas.openxmlformats.org/drawingml/2006/main">
            <a:r>
              <a:t>- Team-supplied final academic details, 2026-08-09</a:t>
            </a:r>
          </a:p>
          <a:p xmlns:a="http://schemas.openxmlformats.org/drawingml/2006/main">
            <a:r>
              <a:t>- G:/Projects/SpendWiseExpenseTracker/README.md</a:t>
            </a:r>
          </a:p>
          <a:p xmlns:a="http://schemas.openxmlformats.org/drawingml/2006/main">
            <a:r>
              <a:t>- G:/Projects/SpendWiseExpenseTracker/build.xml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not just data entry; it is fragmentation. A user should be able to answer where money went, whether a budget is at risk, and what the current balance is without joining multiple spreadsheets. Wealthora's objectives therefore combine finance capability, local security, per-user isolation, data portability, and clear OOP structure.</a:t>
            </a:r>
          </a:p>
          <a:p xmlns:a="http://schemas.openxmlformats.org/drawingml/2006/main">
            <a:r>
              <a:t/>
            </a:r>
          </a:p>
          <a:p xmlns:a="http://schemas.openxmlformats.org/drawingml/2006/main">
            <a:r>
              <a:t>[Sources]</a:t>
            </a:r>
          </a:p>
          <a:p xmlns:a="http://schemas.openxmlformats.org/drawingml/2006/main">
            <a:r>
              <a:t>- G:/Projects/SpendWiseExpenseTracker/README.md</a:t>
            </a:r>
          </a:p>
          <a:p xmlns:a="http://schemas.openxmlformats.org/drawingml/2006/main">
            <a:r>
              <a:t>- G:/Projects/SpendWiseExpenseTracker/docs/ARCHITECTURE.md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journey is deliberately linear. Authentication selects the local account; the account identifier activates a dedicated workspace; services validate and save finance records; dashboard and reports calculate from those same records; and portability controls protect or move the workspace. There is no remote finance API in this design.</a:t>
            </a:r>
          </a:p>
          <a:p xmlns:a="http://schemas.openxmlformats.org/drawingml/2006/main">
            <a:r>
              <a:t/>
            </a:r>
          </a:p>
          <a:p xmlns:a="http://schemas.openxmlformats.org/drawingml/2006/main">
            <a:r>
              <a:t>[Sources]</a:t>
            </a:r>
          </a:p>
          <a:p xmlns:a="http://schemas.openxmlformats.org/drawingml/2006/main">
            <a:r>
              <a:t>- G:/Projects/SpendWiseExpenseTracker/src/com/spendwise/app/SpendWiseApplication.java</a:t>
            </a:r>
          </a:p>
          <a:p xmlns:a="http://schemas.openxmlformats.org/drawingml/2006/main">
            <a:r>
              <a:t>- G:/Projects/SpendWiseExpenseTracker/src/com/spendwise/ui/SpendWiseFrame.java</a:t>
            </a:r>
          </a:p>
          <a:p xmlns:a="http://schemas.openxmlformats.org/drawingml/2006/main">
            <a:r>
              <a:t>- G:/Projects/SpendWiseExpenseTracker/src/com/spendwise/config/AppPaths.java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architecture decision. Swing panels call application services; services coordinate validated domain objects and repository interfaces; CSV implementations persist the active workspace. Only explicit email-code actions cross into EmailVerificationGateway. The standalone relay has no finance, login, administration, role, session, or recovery-answer access.</a:t>
            </a:r>
          </a:p>
          <a:p xmlns:a="http://schemas.openxmlformats.org/drawingml/2006/main">
            <a:r>
              <a:t/>
            </a:r>
          </a:p>
          <a:p xmlns:a="http://schemas.openxmlformats.org/drawingml/2006/main">
            <a:r>
              <a:t>[Sources]</a:t>
            </a:r>
          </a:p>
          <a:p xmlns:a="http://schemas.openxmlformats.org/drawingml/2006/main">
            <a:r>
              <a:t>- G:/Projects/SpendWiseExpenseTracker/docs/ARCHITECTURE.md</a:t>
            </a:r>
          </a:p>
          <a:p xmlns:a="http://schemas.openxmlformats.org/drawingml/2006/main">
            <a:r>
              <a:t>- G:/Projects/SpendWiseExpenseTracker/src/com/spendwise/auth/otp/EmailVerificationGateway.java</a:t>
            </a:r>
          </a:p>
          <a:p xmlns:a="http://schemas.openxmlformats.org/drawingml/2006/main">
            <a:r>
              <a:t>- G:/Projects/SpendWiseExpenseTracker/otp-relay/src/com/wealthora/otp/relay/OtpRelayApplication.java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Transaction is the clearest OOP example. It encapsulates common state and defines an abstract impact contract. Income and Expense inherit that state and override the behavior with positive and negative impact. FinanceService can aggregate parent-type references without checking each subtype. Repository, export, speech, and OTP interfaces provide additional abstraction.</a:t>
            </a:r>
          </a:p>
          <a:p xmlns:a="http://schemas.openxmlformats.org/drawingml/2006/main">
            <a:r>
              <a:t/>
            </a:r>
          </a:p>
          <a:p xmlns:a="http://schemas.openxmlformats.org/drawingml/2006/main">
            <a:r>
              <a:t>[Sources]</a:t>
            </a:r>
          </a:p>
          <a:p xmlns:a="http://schemas.openxmlformats.org/drawingml/2006/main">
            <a:r>
              <a:t>- G:/Projects/SpendWiseExpenseTracker/docs/OOP_MAPPING.md</a:t>
            </a:r>
          </a:p>
          <a:p xmlns:a="http://schemas.openxmlformats.org/drawingml/2006/main">
            <a:r>
              <a:t>- G:/Projects/SpendWiseExpenseTracker/src/com/spendwise/model/Transaction.java</a:t>
            </a:r>
          </a:p>
          <a:p xmlns:a="http://schemas.openxmlformats.org/drawingml/2006/main">
            <a:r>
              <a:t>- G:/Projects/SpendWiseExpenseTracker/src/com/spendwise/model/Income.java</a:t>
            </a:r>
          </a:p>
          <a:p xmlns:a="http://schemas.openxmlformats.org/drawingml/2006/main">
            <a:r>
              <a:t>- G:/Projects/SpendWiseExpenseTracker/src/com/spendwise/model/Expense.java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finance engine derives balances from opening value and ledger activity. This avoids persisting a second balance source that can drift. Transfers are separate records because they affect two accounts but not portfolio-wide income or expense. Around this rule, the UI provides recording, organization, planning, and reporting modules.</a:t>
            </a:r>
          </a:p>
          <a:p xmlns:a="http://schemas.openxmlformats.org/drawingml/2006/main">
            <a:r>
              <a:t/>
            </a:r>
          </a:p>
          <a:p xmlns:a="http://schemas.openxmlformats.org/drawingml/2006/main">
            <a:r>
              <a:t>[Sources]</a:t>
            </a:r>
          </a:p>
          <a:p xmlns:a="http://schemas.openxmlformats.org/drawingml/2006/main">
            <a:r>
              <a:t>- G:/Projects/SpendWiseExpenseTracker/docs/PHASE2_FINANCE_ARCHITECTURE.md</a:t>
            </a:r>
          </a:p>
          <a:p xmlns:a="http://schemas.openxmlformats.org/drawingml/2006/main">
            <a:r>
              <a:t>- G:/Projects/SpendWiseExpenseTracker/docs/PHASE3_FINANCE_ARCHITECTURE.md</a:t>
            </a:r>
          </a:p>
          <a:p xmlns:a="http://schemas.openxmlformats.org/drawingml/2006/main">
            <a:r>
              <a:t>- G:/Projects/SpendWiseExpenseTracker/src/com/spendwise/ui/SpendWiseFrame.java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authentication combines an institutional email policy, six-to-128-character passwords, BCrypt protection, and a lockout after five failures. Recovery answers use the same hash service after normalization and domain separation. USER, ADMIN, and OWNER roles are enforced by explicit authorization methods, including a guard that denies cross-user finance access.</a:t>
            </a:r>
          </a:p>
          <a:p xmlns:a="http://schemas.openxmlformats.org/drawingml/2006/main">
            <a:r>
              <a:t/>
            </a:r>
          </a:p>
          <a:p xmlns:a="http://schemas.openxmlformats.org/drawingml/2006/main">
            <a:r>
              <a:t>[Sources]</a:t>
            </a:r>
          </a:p>
          <a:p xmlns:a="http://schemas.openxmlformats.org/drawingml/2006/main">
            <a:r>
              <a:t>- G:/Projects/SpendWiseExpenseTracker/src/com/spendwise/auth/PasswordService.java</a:t>
            </a:r>
          </a:p>
          <a:p xmlns:a="http://schemas.openxmlformats.org/drawingml/2006/main">
            <a:r>
              <a:t>- G:/Projects/SpendWiseExpenseTracker/src/com/spendwise/auth/NsuEmailPolicy.java</a:t>
            </a:r>
          </a:p>
          <a:p xmlns:a="http://schemas.openxmlformats.org/drawingml/2006/main">
            <a:r>
              <a:t>- G:/Projects/SpendWiseExpenseTracker/src/com/spendwise/auth/AuthorizationService.java</a:t>
            </a:r>
          </a:p>
          <a:p xmlns:a="http://schemas.openxmlformats.org/drawingml/2006/main">
            <a:r>
              <a:t>- G:/Projects/SpendWiseExpenseTracker/src/com/spendwise/auth/local/LocalDesktopAuthService.java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Registration and email reset both use the same narrow OTP lifecycle. The relay generates six digits with SecureRandom, retains only a keyed digest, and enforces ten-minute expiry, five attempts, a sixty-second resend cooldown, single use, and rate limits. Account creation or password replacement happens only after verification succeeds locally.</a:t>
            </a:r>
          </a:p>
          <a:p xmlns:a="http://schemas.openxmlformats.org/drawingml/2006/main">
            <a:r>
              <a:t/>
            </a:r>
          </a:p>
          <a:p xmlns:a="http://schemas.openxmlformats.org/drawingml/2006/main">
            <a:r>
              <a:t>[Sources]</a:t>
            </a:r>
          </a:p>
          <a:p xmlns:a="http://schemas.openxmlformats.org/drawingml/2006/main">
            <a:r>
              <a:t>- G:/Projects/SpendWiseExpenseTracker/docs/OTP_RELAY_SETUP.md</a:t>
            </a:r>
          </a:p>
          <a:p xmlns:a="http://schemas.openxmlformats.org/drawingml/2006/main">
            <a:r>
              <a:t>- G:/Projects/SpendWiseExpenseTracker/otp-relay/src/com/wealthora/otp/relay/OtpRelayService.java</a:t>
            </a:r>
          </a:p>
          <a:p xmlns:a="http://schemas.openxmlformats.org/drawingml/2006/main">
            <a:r>
              <a:t>- G:/Projects/SpendWiseExpenseTracker/src/com/spendwise/auth/local/LocalDesktopAuthService.java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Wealthora is offline-first, not offline-only. Existing users can sign in and use the complete finance workspace without the relay. The relay is required only for registration and email password reset. If it is unavailable, the UI reports an OTP-specific problem and leaves offline finance and protected recovery usable.</a:t>
            </a:r>
          </a:p>
          <a:p xmlns:a="http://schemas.openxmlformats.org/drawingml/2006/main">
            <a:r>
              <a:t/>
            </a:r>
          </a:p>
          <a:p xmlns:a="http://schemas.openxmlformats.org/drawingml/2006/main">
            <a:r>
              <a:t>[Sources]</a:t>
            </a:r>
          </a:p>
          <a:p xmlns:a="http://schemas.openxmlformats.org/drawingml/2006/main">
            <a:r>
              <a:t>- G:/Projects/SpendWiseExpenseTracker/docs/ARCHITECTURE.md</a:t>
            </a:r>
          </a:p>
          <a:p xmlns:a="http://schemas.openxmlformats.org/drawingml/2006/main">
            <a:r>
              <a:t>- G:/Projects/SpendWiseExpenseTracker/SECURITY.md</a:t>
            </a:r>
          </a:p>
          <a:p xmlns:a="http://schemas.openxmlformats.org/drawingml/2006/main">
            <a:r>
              <a:t>- G:/Projects/SpendWiseExpenseTracker/src/com/spendwise/auth/ui/EmailPasswordResetPanel.java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mutable state is under the project's data directory. Authentication data is shared locally, but finance is under data/users/&lt;id&gt;. After sign-in, AppPaths activates the trusted identifier, FinanceWorkspace opens repositories over that directory, and AuthorizationService denies a different requested identifier. The completed manual phase verified that one user's unique record was absent from the other user's workspace.</a:t>
            </a:r>
          </a:p>
          <a:p xmlns:a="http://schemas.openxmlformats.org/drawingml/2006/main">
            <a:r>
              <a:t/>
            </a:r>
          </a:p>
          <a:p xmlns:a="http://schemas.openxmlformats.org/drawingml/2006/main">
            <a:r>
              <a:t>[Sources]</a:t>
            </a:r>
          </a:p>
          <a:p xmlns:a="http://schemas.openxmlformats.org/drawingml/2006/main">
            <a:r>
              <a:t>- G:/Projects/SpendWiseExpenseTracker/src/com/spendwise/config/AppPaths.java</a:t>
            </a:r>
          </a:p>
          <a:p xmlns:a="http://schemas.openxmlformats.org/drawingml/2006/main">
            <a:r>
              <a:t>- G:/Projects/SpendWiseExpenseTracker/src/com/spendwise/service/FinanceWorkspace.java</a:t>
            </a:r>
          </a:p>
          <a:p xmlns:a="http://schemas.openxmlformats.org/drawingml/2006/main">
            <a:r>
              <a:t>- G:/Projects/SpendWiseExpenseTracker/src/com/spendwise/auth/AuthorizationService.java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Portability is designed as a transaction. Wealthora inspects and validates before it writes, creates safety backups before genuine imports or destructive restore, and rolls back failure. Money Manager sources are read only and mapped into staging. Presentation data follows the same ownership idea: it is explicit, idempotent, per-user, and removable by exact manifest.</a:t>
            </a:r>
          </a:p>
          <a:p xmlns:a="http://schemas.openxmlformats.org/drawingml/2006/main">
            <a:r>
              <a:t/>
            </a:r>
          </a:p>
          <a:p xmlns:a="http://schemas.openxmlformats.org/drawingml/2006/main">
            <a:r>
              <a:t>[Sources]</a:t>
            </a:r>
          </a:p>
          <a:p xmlns:a="http://schemas.openxmlformats.org/drawingml/2006/main">
            <a:r>
              <a:t>- G:/Projects/SpendWiseExpenseTracker/src/com/spendwise/service/CsvImportService.java</a:t>
            </a:r>
          </a:p>
          <a:p xmlns:a="http://schemas.openxmlformats.org/drawingml/2006/main">
            <a:r>
              <a:t>- G:/Projects/SpendWiseExpenseTracker/src/com/spendwise/service/BackupService.java</a:t>
            </a:r>
          </a:p>
          <a:p xmlns:a="http://schemas.openxmlformats.org/drawingml/2006/main">
            <a:r>
              <a:t>- G:/Projects/SpendWiseExpenseTracker/src/com/spendwise/imports/MoneyManagerImport.java</a:t>
            </a:r>
          </a:p>
          <a:p xmlns:a="http://schemas.openxmlformats.org/drawingml/2006/main">
            <a:r>
              <a:t>- G:/Projects/SpendWiseExpenseTracker/src/com/spendwise/service/PresentationDataService.java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manual gap-closure phase verified the paths that cannot be proven by unit tests alone. Registration completed only after OTP verification; resend invalidated the older code; password reset and offline recovery changed the local hash; persistence survived restart; two users remained isolated; the second-process warning was visible; and relay failure stayed scoped to OTP operations.</a:t>
            </a:r>
          </a:p>
          <a:p xmlns:a="http://schemas.openxmlformats.org/drawingml/2006/main">
            <a:r>
              <a:t/>
            </a:r>
          </a:p>
          <a:p xmlns:a="http://schemas.openxmlformats.org/drawingml/2006/main">
            <a:r>
              <a:t>[Sources]</a:t>
            </a:r>
          </a:p>
          <a:p xmlns:a="http://schemas.openxmlformats.org/drawingml/2006/main">
            <a:r>
              <a:t>- Verified manual baseline supplied for this documentation phase</a:t>
            </a:r>
          </a:p>
          <a:p xmlns:a="http://schemas.openxmlformats.org/drawingml/2006/main">
            <a:r>
              <a:t>- G:/Projects/SpendWiseExpenseTracker/docs/GITHUB_AND_SUBMISSION_GUIDE.md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Automated verification runs as one Ant dependency chain. It covers core models and repositories, GUI foundations, all finance phases, authentication, the desktop HTTP OTP gateway, the relay policy, persistence, portability, Money Manager mapping, presentation data, and voice parsing. A separate Windows launcher suite passed syntax, DPAPI persistence across processes, rollback, corruption and removal, Java discovery, path-with-spaces, relay readiness, duplicate reuse, command-line secret absence, NetBeans startup, and launcher-owned cleanup checks.</a:t>
            </a:r>
          </a:p>
          <a:p xmlns:a="http://schemas.openxmlformats.org/drawingml/2006/main">
            <a:r>
              <a:t/>
            </a:r>
          </a:p>
          <a:p xmlns:a="http://schemas.openxmlformats.org/drawingml/2006/main">
            <a:r>
              <a:t>[Sources]</a:t>
            </a:r>
          </a:p>
          <a:p xmlns:a="http://schemas.openxmlformats.org/drawingml/2006/main">
            <a:r>
              <a:t>- G:/Projects/SpendWiseExpenseTracker/build.xml</a:t>
            </a:r>
          </a:p>
          <a:p xmlns:a="http://schemas.openxmlformats.org/drawingml/2006/main">
            <a:r>
              <a:t>- G:/Projects/SpendWiseExpenseTracker/test</a:t>
            </a:r>
          </a:p>
          <a:p xmlns:a="http://schemas.openxmlformats.org/drawingml/2006/main">
            <a:r>
              <a:t>- G:/Projects/SpendWiseExpenseTracker/otp-relay/test</a:t>
            </a:r>
          </a:p>
          <a:p xmlns:a="http://schemas.openxmlformats.org/drawingml/2006/main">
            <a:r>
              <a:t>- G:/Projects/SpendWiseExpenseTracker/test/launchers/WealthoraLauncherTest.ps1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August 25 demonstration, carry the printed six-page report, run the full Ant command, then use Start Wealthora.cmd. The private persistence gate passed: Gmail configuration was entered once through Configure Wealthora OTP.cmd, and later normal and NetBeans F6 launches reused Windows user-specific DPAPI ciphertext without asking again. Keep Start OTP Relay for NetBeans.cmd open for F6. Shibli Rahman Moon coordinates the presentation and live-demo preparation as Project Lead for System Design and Integration, while each member explains the assigned modules. Keep the demo short and never reveal passwords, OTPs, recovery answers, or local encrypted configuration.</a:t>
            </a:r>
          </a:p>
          <a:p xmlns:a="http://schemas.openxmlformats.org/drawingml/2006/main">
            <a:r>
              <a:t/>
            </a:r>
          </a:p>
          <a:p xmlns:a="http://schemas.openxmlformats.org/drawingml/2006/main">
            <a:r>
              <a:t>[Sources]</a:t>
            </a:r>
          </a:p>
          <a:p xmlns:a="http://schemas.openxmlformats.org/drawingml/2006/main">
            <a:r>
              <a:t>- Team-supplied final contribution allocation and manual persistence result, 2026-08-09</a:t>
            </a:r>
          </a:p>
          <a:p xmlns:a="http://schemas.openxmlformats.org/drawingml/2006/main">
            <a:r>
              <a:t>- G:/Projects/SpendWiseExpenseTracker/README.md</a:t>
            </a:r>
          </a:p>
          <a:p xmlns:a="http://schemas.openxmlformats.org/drawingml/2006/main">
            <a:r>
              <a:t>- G:/Projects/SpendWiseExpenseTracker/docs/ONE_CLICK_LAUNCHERS.md</a:t>
            </a:r>
          </a:p>
          <a:p xmlns:a="http://schemas.openxmlformats.org/drawingml/2006/main">
            <a:r>
              <a:t>- G:/Projects/SpendWiseExpenseTracker/docs/PRESENTATION_GUIDE.md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Wealthora's limitations are documented boundaries rather than hidden gaps. CSV updates are atomic per file, planning records do not silently create transactions, imports are intentionally narrow, notifications are in-app, and relay state is in memory. Future work can add durable relay storage, safer delivery observability, opt-in synchronization, more import formats, and accessibility improvements without discarding the local-first model.</a:t>
            </a:r>
          </a:p>
          <a:p xmlns:a="http://schemas.openxmlformats.org/drawingml/2006/main">
            <a:r>
              <a:t/>
            </a:r>
          </a:p>
          <a:p xmlns:a="http://schemas.openxmlformats.org/drawingml/2006/main">
            <a:r>
              <a:t>[Sources]</a:t>
            </a:r>
          </a:p>
          <a:p xmlns:a="http://schemas.openxmlformats.org/drawingml/2006/main">
            <a:r>
              <a:t>- G:/Projects/SpendWiseExpenseTracker/docs/PHASE3_FINANCE_ARCHITECTURE.md</a:t>
            </a:r>
          </a:p>
          <a:p xmlns:a="http://schemas.openxmlformats.org/drawingml/2006/main">
            <a:r>
              <a:t>- G:/Projects/SpendWiseExpenseTracker/README.md</a:t>
            </a:r>
          </a:p>
          <a:p xmlns:a="http://schemas.openxmlformats.org/drawingml/2006/main">
            <a:r>
              <a:t>- G:/Projects/SpendWiseExpenseTracker/docs/ARCHITECTURE.md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team allocation is explicit. Shibli Rahman Moon serves as Project Lead for System Design and Integration, covering professional UI and dashboard work, authentication and Email OTP, password recovery, multi-user workspace integration, overall system integration, quality assurance, 47 out of 47 test verification, final build verification, documentation coordination, and presentation and live-demo preparation. Md. Nafij Jaman Rabbi owns the core finance modules: accounts, income and expense, transfers, budgets, goals, debts, validation, and related testing. Md. Monimul Haque owns the reports and productivity modules: reports, recurring transactions, calendar features, import and export, backup and restore, demo-data support, and related testing.</a:t>
            </a:r>
          </a:p>
          <a:p xmlns:a="http://schemas.openxmlformats.org/drawingml/2006/main">
            <a:r>
              <a:t/>
            </a:r>
          </a:p>
          <a:p xmlns:a="http://schemas.openxmlformats.org/drawingml/2006/main">
            <a:r>
              <a:t>[Sources]</a:t>
            </a:r>
          </a:p>
          <a:p xmlns:a="http://schemas.openxmlformats.org/drawingml/2006/main">
            <a:r>
              <a:t>- Team-supplied final contribution allocation, 2026-08-09</a:t>
            </a:r>
          </a:p>
          <a:p xmlns:a="http://schemas.openxmlformats.org/drawingml/2006/main">
            <a:r>
              <a:t>- G:/Projects/SpendWiseExpenseTracker/README.md</a:t>
            </a:r>
          </a:p>
          <a:p xmlns:a="http://schemas.openxmlformats.org/drawingml/2006/main">
            <a:r>
              <a:t>- G:/Projects/SpendWiseExpenseTracker/docs/PRESENTATION_GUIDE.md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implemented architecture, verified behavior, and evidence package are aligned. All 47 Java automated entry points passed, the separate Windows launcher suite passed, both distribution JARs were verified, manual security and persistence flows were completed, and the final academic report is exactly six A4 pages. Wealthora supports one-time Gmail setup with Windows user-specific DPAPI encryption and one-click normal or NetBeans OTP startup. It is ready for its CSE 215 Section 11 defense on August 25, 2026 and final submission review. The final archive is created only from the approved committed allowlist and is independently reverified.</a:t>
            </a:r>
          </a:p>
          <a:p xmlns:a="http://schemas.openxmlformats.org/drawingml/2006/main">
            <a:r>
              <a:t/>
            </a:r>
          </a:p>
          <a:p xmlns:a="http://schemas.openxmlformats.org/drawingml/2006/main">
            <a:r>
              <a:t>[Sources]</a:t>
            </a:r>
          </a:p>
          <a:p xmlns:a="http://schemas.openxmlformats.org/drawingml/2006/main">
            <a:r>
              <a:t>- G:/Projects/SpendWiseExpenseTracker/build.xml</a:t>
            </a:r>
          </a:p>
          <a:p xmlns:a="http://schemas.openxmlformats.org/drawingml/2006/main">
            <a:r>
              <a:t>- G:/Projects/SpendWiseExpenseTracker/docs/ARCHITECTURE.md</a:t>
            </a:r>
          </a:p>
          <a:p xmlns:a="http://schemas.openxmlformats.org/drawingml/2006/main">
            <a:r>
              <a:t>- G:/Projects/SpendWiseExpenseTracker/docs/ONE_CLICK_LAUNCHERS.md</a:t>
            </a:r>
          </a:p>
          <a:p xmlns:a="http://schemas.openxmlformats.org/drawingml/2006/main">
            <a:r>
              <a:t>- C:/Users/Drakon/Documents/Codex/2026-08-08/n/outputs/Wealthora_Evidence_Package/Build_Test_and_JAR_Evidence.txt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8f4473230be46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e72064213c4d55" /><Relationship Type="http://schemas.openxmlformats.org/officeDocument/2006/relationships/slideLayout" Target="/ppt/slideLayouts/slideLayout1.xml" Id="R7ca5ce1d7cff41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a5ce1d7cff41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8542dcac44a43a0" /><Relationship Type="http://schemas.openxmlformats.org/officeDocument/2006/relationships/notesSlide" Target="/ppt/notesSlides/notesSlide1.xml" Id="R760cc625595a4d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113e386d5e24af5" /><Relationship Type="http://schemas.openxmlformats.org/officeDocument/2006/relationships/notesSlide" Target="/ppt/notesSlides/notesSlide2.xml" Id="R548ed637657b49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243f8eb0dbd4190" /><Relationship Type="http://schemas.openxmlformats.org/officeDocument/2006/relationships/notesSlide" Target="/ppt/notesSlides/notesSlide3.xml" Id="Rf653990682ef4b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c0d71240de84c92" /><Relationship Type="http://schemas.openxmlformats.org/officeDocument/2006/relationships/notesSlide" Target="/ppt/notesSlides/notesSlide4.xml" Id="Raae7c998038a49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6675ad25f7a4d0e" /><Relationship Type="http://schemas.openxmlformats.org/officeDocument/2006/relationships/notesSlide" Target="/ppt/notesSlides/notesSlide5.xml" Id="R22195f49a4614c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42cfd1647d142d5" /><Relationship Type="http://schemas.openxmlformats.org/officeDocument/2006/relationships/notesSlide" Target="/ppt/notesSlides/notesSlide6.xml" Id="Rd9e143212c694a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8e2284f3b39450c" /><Relationship Type="http://schemas.openxmlformats.org/officeDocument/2006/relationships/notesSlide" Target="/ppt/notesSlides/notesSlide7.xml" Id="R8b3711f268e24b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5960ef321274774" /><Relationship Type="http://schemas.openxmlformats.org/officeDocument/2006/relationships/notesSlide" Target="/ppt/notesSlides/notesSlide8.xml" Id="Rcd2dbb82b2b34a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0d0a63d18b744a9" /><Relationship Type="http://schemas.openxmlformats.org/officeDocument/2006/relationships/notesSlide" Target="/ppt/notesSlides/notesSlide9.xml" Id="Rf864db3daadc441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c6a35b292214c38" /><Relationship Type="http://schemas.openxmlformats.org/officeDocument/2006/relationships/notesSlide" Target="/ppt/notesSlides/notesSlide10.xml" Id="R3d379a1a6566486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4ed0a91c4284625" /><Relationship Type="http://schemas.openxmlformats.org/officeDocument/2006/relationships/notesSlide" Target="/ppt/notesSlides/notesSlide11.xml" Id="R461042a10777475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0f17d23e7b74323" /><Relationship Type="http://schemas.openxmlformats.org/officeDocument/2006/relationships/notesSlide" Target="/ppt/notesSlides/notesSlide12.xml" Id="R347841d6d29a476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03037a3dcf24e91" /><Relationship Type="http://schemas.openxmlformats.org/officeDocument/2006/relationships/notesSlide" Target="/ppt/notesSlides/notesSlide13.xml" Id="R8f32b5bc7e764e7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0afc1d7437840bb" /><Relationship Type="http://schemas.openxmlformats.org/officeDocument/2006/relationships/notesSlide" Target="/ppt/notesSlides/notesSlide14.xml" Id="R3f7e0aeac29940f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51ea33b0a484888" /><Relationship Type="http://schemas.openxmlformats.org/officeDocument/2006/relationships/notesSlide" Target="/ppt/notesSlides/notesSlide15.xml" Id="R638de512baba498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d205c18d6ca46bf" /><Relationship Type="http://schemas.openxmlformats.org/officeDocument/2006/relationships/notesSlide" Target="/ppt/notesSlides/notesSlide16.xml" Id="R66bb03683caa4f2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71289ab860d4d2b" /><Relationship Type="http://schemas.openxmlformats.org/officeDocument/2006/relationships/notesSlide" Target="/ppt/notesSlides/notesSlide17.xml" Id="R3e64aa59c3224ea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A503766-0D20-405B-BF11-84215414FA88}"/>
              </a:ext>
            </a:extLst>
          </p:cNvPr>
          <p:cNvSpPr>
            <a:spLocks xmlns:a="http://schemas.openxmlformats.org/drawingml/2006/main" noGrp="1"/>
          </p:cNvSpPr>
          <p:nvPr/>
        </p:nvSpPr>
        <p:spPr>
          <a:xfrm xmlns:a="http://schemas.openxmlformats.org/drawingml/2006/main">
            <a:off x="0" y="0"/>
            <a:ext cx="247650" cy="6858000"/>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2" name="">
            <a:extLst xmlns:a="http://schemas.openxmlformats.org/drawingml/2006/main">
              <a:ext uri="{FF2B5EF4-FFF2-40B4-BE49-F238E27FC236}">
                <a16:creationId xmlns:a16="http://schemas.microsoft.com/office/drawing/2014/main" id="{73E53872-392F-4D57-A568-21BF23462A85}"/>
              </a:ext>
            </a:extLst>
          </p:cNvPr>
          <p:cNvSpPr>
            <a:spLocks xmlns:a="http://schemas.openxmlformats.org/drawingml/2006/main" noGrp="1"/>
          </p:cNvSpPr>
          <p:nvPr/>
        </p:nvSpPr>
        <p:spPr>
          <a:xfrm xmlns:a="http://schemas.openxmlformats.org/drawingml/2006/main">
            <a:off x="685800" y="6286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CSE 215 PROJECT DEFENSE</a:t>
            </a:r>
          </a:p>
        </p:txBody>
      </p:sp>
      <p:sp>
        <p:nvSpPr>
          <p:cNvPr id="3" name="">
            <a:extLst xmlns:a="http://schemas.openxmlformats.org/drawingml/2006/main">
              <a:ext uri="{FF2B5EF4-FFF2-40B4-BE49-F238E27FC236}">
                <a16:creationId xmlns:a16="http://schemas.microsoft.com/office/drawing/2014/main" id="{7DB6F8BA-5DF4-4B1A-B778-74E63186596C}"/>
              </a:ext>
            </a:extLst>
          </p:cNvPr>
          <p:cNvSpPr>
            <a:spLocks xmlns:a="http://schemas.openxmlformats.org/drawingml/2006/main" noGrp="1"/>
          </p:cNvSpPr>
          <p:nvPr/>
        </p:nvSpPr>
        <p:spPr>
          <a:xfrm xmlns:a="http://schemas.openxmlformats.org/drawingml/2006/main">
            <a:off x="685800" y="1600200"/>
            <a:ext cx="8382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5850" b="1" i="0">
                <a:solidFill>
                  <a:srgbClr val="0F5F49"/>
                </a:solidFill>
              </a:defRPr>
            </a:pPr>
            <a:r>
              <a:rPr sz="5850" b="1" i="0">
                <a:solidFill>
                  <a:srgbClr val="0F5F49"/>
                </a:solidFill>
              </a:rPr>
              <a:t>Wealthora</a:t>
            </a:r>
          </a:p>
        </p:txBody>
      </p:sp>
      <p:sp>
        <p:nvSpPr>
          <p:cNvPr id="4" name="">
            <a:extLst xmlns:a="http://schemas.openxmlformats.org/drawingml/2006/main">
              <a:ext uri="{FF2B5EF4-FFF2-40B4-BE49-F238E27FC236}">
                <a16:creationId xmlns:a16="http://schemas.microsoft.com/office/drawing/2014/main" id="{846CE5A0-CEEB-4942-8616-A442E1D397E5}"/>
              </a:ext>
            </a:extLst>
          </p:cNvPr>
          <p:cNvSpPr>
            <a:spLocks xmlns:a="http://schemas.openxmlformats.org/drawingml/2006/main" noGrp="1"/>
          </p:cNvSpPr>
          <p:nvPr/>
        </p:nvSpPr>
        <p:spPr>
          <a:xfrm xmlns:a="http://schemas.openxmlformats.org/drawingml/2006/main">
            <a:off x="704850" y="2628900"/>
            <a:ext cx="819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7212B"/>
                </a:solidFill>
              </a:defRPr>
            </a:pPr>
            <a:r>
              <a:rPr sz="3000" b="1" i="0">
                <a:solidFill>
                  <a:srgbClr val="17212B"/>
                </a:solidFill>
              </a:rPr>
              <a:t>Personal Expense Tracker</a:t>
            </a:r>
          </a:p>
        </p:txBody>
      </p:sp>
      <p:sp>
        <p:nvSpPr>
          <p:cNvPr id="5" name="">
            <a:extLst xmlns:a="http://schemas.openxmlformats.org/drawingml/2006/main">
              <a:ext uri="{FF2B5EF4-FFF2-40B4-BE49-F238E27FC236}">
                <a16:creationId xmlns:a16="http://schemas.microsoft.com/office/drawing/2014/main" id="{406D05E6-2C5B-4358-9EF5-13637C9A1F85}"/>
              </a:ext>
            </a:extLst>
          </p:cNvPr>
          <p:cNvSpPr>
            <a:spLocks xmlns:a="http://schemas.openxmlformats.org/drawingml/2006/main" noGrp="1"/>
          </p:cNvSpPr>
          <p:nvPr/>
        </p:nvSpPr>
        <p:spPr>
          <a:xfrm xmlns:a="http://schemas.openxmlformats.org/drawingml/2006/main">
            <a:off x="704850" y="32956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i="1">
                <a:solidFill>
                  <a:srgbClr val="C58B20"/>
                </a:solidFill>
              </a:defRPr>
            </a:pPr>
            <a:r>
              <a:rPr sz="1950" b="1" i="1">
                <a:solidFill>
                  <a:srgbClr val="C58B20"/>
                </a:solidFill>
              </a:rPr>
              <a:t>Take Control of Every Taka.</a:t>
            </a:r>
          </a:p>
        </p:txBody>
      </p:sp>
      <p:sp>
        <p:nvSpPr>
          <p:cNvPr id="6" name="">
            <a:extLst xmlns:a="http://schemas.openxmlformats.org/drawingml/2006/main">
              <a:ext uri="{FF2B5EF4-FFF2-40B4-BE49-F238E27FC236}">
                <a16:creationId xmlns:a16="http://schemas.microsoft.com/office/drawing/2014/main" id="{8A8DF3F2-6AD7-47EE-9899-29EEA99C2681}"/>
              </a:ext>
            </a:extLst>
          </p:cNvPr>
          <p:cNvSpPr>
            <a:spLocks xmlns:a="http://schemas.openxmlformats.org/drawingml/2006/main" noGrp="1"/>
          </p:cNvSpPr>
          <p:nvPr/>
        </p:nvSpPr>
        <p:spPr>
          <a:xfrm xmlns:a="http://schemas.openxmlformats.org/drawingml/2006/main">
            <a:off x="704850" y="3905250"/>
            <a:ext cx="5715000" cy="19050"/>
          </a:xfrm>
          <a:prstGeom xmlns:a="http://schemas.openxmlformats.org/drawingml/2006/main" prst="rect">
            <a:avLst/>
          </a:prstGeom>
          <a:solidFill xmlns:a="http://schemas.openxmlformats.org/drawingml/2006/main">
            <a:srgbClr val="B8C2CC"/>
          </a:solidFill>
          <a:ln xmlns:a="http://schemas.openxmlformats.org/drawingml/2006/main" w="0">
            <a:solidFill>
              <a:srgbClr val="B8C2CC"/>
            </a:solidFill>
            <a:prstDash val="solid"/>
          </a:ln>
        </p:spPr>
      </p:sp>
      <p:sp>
        <p:nvSpPr>
          <p:cNvPr id="7" name="">
            <a:extLst xmlns:a="http://schemas.openxmlformats.org/drawingml/2006/main">
              <a:ext uri="{FF2B5EF4-FFF2-40B4-BE49-F238E27FC236}">
                <a16:creationId xmlns:a16="http://schemas.microsoft.com/office/drawing/2014/main" id="{1A35DB02-754C-4004-8A45-187FDC3383DA}"/>
              </a:ext>
            </a:extLst>
          </p:cNvPr>
          <p:cNvSpPr>
            <a:spLocks xmlns:a="http://schemas.openxmlformats.org/drawingml/2006/main" noGrp="1"/>
          </p:cNvSpPr>
          <p:nvPr/>
        </p:nvSpPr>
        <p:spPr>
          <a:xfrm xmlns:a="http://schemas.openxmlformats.org/drawingml/2006/main">
            <a:off x="704850" y="40767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0F5F49"/>
                </a:solidFill>
              </a:defRPr>
            </a:pPr>
            <a:r>
              <a:rPr sz="1500" b="1" i="0">
                <a:solidFill>
                  <a:srgbClr val="0F5F49"/>
                </a:solidFill>
              </a:rPr>
              <a:t>CSE 215  ·  Section 11  ·  Faculty SAM3  ·  Demonstration: August 25, 2026</a:t>
            </a:r>
          </a:p>
        </p:txBody>
      </p:sp>
      <p:sp>
        <p:nvSpPr>
          <p:cNvPr id="8" name="">
            <a:extLst xmlns:a="http://schemas.openxmlformats.org/drawingml/2006/main">
              <a:ext uri="{FF2B5EF4-FFF2-40B4-BE49-F238E27FC236}">
                <a16:creationId xmlns:a16="http://schemas.microsoft.com/office/drawing/2014/main" id="{2B45ED08-AEAE-45B9-90C0-39B52FC81EB6}"/>
              </a:ext>
            </a:extLst>
          </p:cNvPr>
          <p:cNvSpPr>
            <a:spLocks xmlns:a="http://schemas.openxmlformats.org/drawingml/2006/main" noGrp="1"/>
          </p:cNvSpPr>
          <p:nvPr/>
        </p:nvSpPr>
        <p:spPr>
          <a:xfrm xmlns:a="http://schemas.openxmlformats.org/drawingml/2006/main">
            <a:off x="704850" y="4457700"/>
            <a:ext cx="1000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573"/>
                </a:solidFill>
              </a:defRPr>
            </a:pPr>
            <a:r>
              <a:rPr sz="1350" b="0" i="0">
                <a:solidFill>
                  <a:srgbClr val="5B6573"/>
                </a:solidFill>
              </a:rPr>
              <a:t>Java 25  |  Java Swing  |  Apache Ant  |  Offline-first CSV persistence</a:t>
            </a:r>
          </a:p>
        </p:txBody>
      </p:sp>
      <p:sp>
        <p:nvSpPr>
          <p:cNvPr id="9" name="">
            <a:extLst xmlns:a="http://schemas.openxmlformats.org/drawingml/2006/main">
              <a:ext uri="{FF2B5EF4-FFF2-40B4-BE49-F238E27FC236}">
                <a16:creationId xmlns:a16="http://schemas.microsoft.com/office/drawing/2014/main" id="{5B58E3F4-442E-46A9-90A4-E752EC577257}"/>
              </a:ext>
            </a:extLst>
          </p:cNvPr>
          <p:cNvSpPr>
            <a:spLocks xmlns:a="http://schemas.openxmlformats.org/drawingml/2006/main" noGrp="1"/>
          </p:cNvSpPr>
          <p:nvPr/>
        </p:nvSpPr>
        <p:spPr>
          <a:xfrm xmlns:a="http://schemas.openxmlformats.org/drawingml/2006/main">
            <a:off x="704850" y="50101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17212B"/>
                </a:solidFill>
              </a:defRPr>
            </a:pPr>
            <a:r>
              <a:rPr sz="1350" b="1" i="0">
                <a:solidFill>
                  <a:srgbClr val="17212B"/>
                </a:solidFill>
              </a:rPr>
              <a:t>Shibli Rahman Moon</a:t>
            </a:r>
          </a:p>
          <a:p xmlns:a="http://schemas.openxmlformats.org/drawingml/2006/main">
            <a:pPr algn="l">
              <a:buNone/>
              <a:defRPr sz="1350" b="1" i="0">
                <a:solidFill>
                  <a:srgbClr val="17212B"/>
                </a:solidFill>
              </a:defRPr>
            </a:pPr>
            <a:r>
              <a:rPr sz="1350" b="1" i="0">
                <a:solidFill>
                  <a:srgbClr val="17212B"/>
                </a:solidFill>
              </a:rPr>
              <a:t>2534187012</a:t>
            </a:r>
          </a:p>
        </p:txBody>
      </p:sp>
      <p:sp>
        <p:nvSpPr>
          <p:cNvPr id="10" name="">
            <a:extLst xmlns:a="http://schemas.openxmlformats.org/drawingml/2006/main">
              <a:ext uri="{FF2B5EF4-FFF2-40B4-BE49-F238E27FC236}">
                <a16:creationId xmlns:a16="http://schemas.microsoft.com/office/drawing/2014/main" id="{9B30BE40-B0F6-4F82-A98F-0AF0828B3DDA}"/>
              </a:ext>
            </a:extLst>
          </p:cNvPr>
          <p:cNvSpPr>
            <a:spLocks xmlns:a="http://schemas.openxmlformats.org/drawingml/2006/main" noGrp="1"/>
          </p:cNvSpPr>
          <p:nvPr/>
        </p:nvSpPr>
        <p:spPr>
          <a:xfrm xmlns:a="http://schemas.openxmlformats.org/drawingml/2006/main">
            <a:off x="4038600" y="501015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17212B"/>
                </a:solidFill>
              </a:defRPr>
            </a:pPr>
            <a:r>
              <a:rPr sz="1350" b="1" i="0">
                <a:solidFill>
                  <a:srgbClr val="17212B"/>
                </a:solidFill>
              </a:rPr>
              <a:t>Md. Nafij Jaman Rabbi</a:t>
            </a:r>
          </a:p>
          <a:p xmlns:a="http://schemas.openxmlformats.org/drawingml/2006/main">
            <a:pPr algn="l">
              <a:buNone/>
              <a:defRPr sz="1350" b="1" i="0">
                <a:solidFill>
                  <a:srgbClr val="17212B"/>
                </a:solidFill>
              </a:defRPr>
            </a:pPr>
            <a:r>
              <a:rPr sz="1350" b="1" i="0">
                <a:solidFill>
                  <a:srgbClr val="17212B"/>
                </a:solidFill>
              </a:rPr>
              <a:t>2513403642</a:t>
            </a:r>
          </a:p>
        </p:txBody>
      </p:sp>
      <p:sp>
        <p:nvSpPr>
          <p:cNvPr id="11" name="">
            <a:extLst xmlns:a="http://schemas.openxmlformats.org/drawingml/2006/main">
              <a:ext uri="{FF2B5EF4-FFF2-40B4-BE49-F238E27FC236}">
                <a16:creationId xmlns:a16="http://schemas.microsoft.com/office/drawing/2014/main" id="{9BF3D447-05DA-427E-931B-BE4F9DEC6773}"/>
              </a:ext>
            </a:extLst>
          </p:cNvPr>
          <p:cNvSpPr>
            <a:spLocks xmlns:a="http://schemas.openxmlformats.org/drawingml/2006/main" noGrp="1"/>
          </p:cNvSpPr>
          <p:nvPr/>
        </p:nvSpPr>
        <p:spPr>
          <a:xfrm xmlns:a="http://schemas.openxmlformats.org/drawingml/2006/main">
            <a:off x="7562850" y="501015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17212B"/>
                </a:solidFill>
              </a:defRPr>
            </a:pPr>
            <a:r>
              <a:rPr sz="1350" b="1" i="0">
                <a:solidFill>
                  <a:srgbClr val="17212B"/>
                </a:solidFill>
              </a:rPr>
              <a:t>Md. Monimul Haque</a:t>
            </a:r>
          </a:p>
          <a:p xmlns:a="http://schemas.openxmlformats.org/drawingml/2006/main">
            <a:pPr algn="l">
              <a:buNone/>
              <a:defRPr sz="1350" b="1" i="0">
                <a:solidFill>
                  <a:srgbClr val="17212B"/>
                </a:solidFill>
              </a:defRPr>
            </a:pPr>
            <a:r>
              <a:rPr sz="1350" b="1" i="0">
                <a:solidFill>
                  <a:srgbClr val="17212B"/>
                </a:solidFill>
              </a:rPr>
              <a:t>1821781042</a:t>
            </a:r>
          </a:p>
        </p:txBody>
      </p:sp>
      <p:sp>
        <p:nvSpPr>
          <p:cNvPr id="12" name="">
            <a:extLst xmlns:a="http://schemas.openxmlformats.org/drawingml/2006/main">
              <a:ext uri="{FF2B5EF4-FFF2-40B4-BE49-F238E27FC236}">
                <a16:creationId xmlns:a16="http://schemas.microsoft.com/office/drawing/2014/main" id="{FE965DFF-DD8E-4A2F-BA16-79664864E42C}"/>
              </a:ext>
            </a:extLst>
          </p:cNvPr>
          <p:cNvSpPr>
            <a:spLocks xmlns:a="http://schemas.openxmlformats.org/drawingml/2006/main" noGrp="1"/>
          </p:cNvSpPr>
          <p:nvPr/>
        </p:nvSpPr>
        <p:spPr>
          <a:xfrm xmlns:a="http://schemas.openxmlformats.org/drawingml/2006/main">
            <a:off x="704850" y="58864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16785B"/>
                </a:solidFill>
              </a:defRPr>
            </a:pPr>
            <a:r>
              <a:rPr sz="1350" b="0" i="0">
                <a:solidFill>
                  <a:srgbClr val="16785B"/>
                </a:solidFill>
              </a:rPr>
              <a:t>Final verified baseline: 47/47 automated entry points passed; both distribution JARs verified</a:t>
            </a:r>
          </a:p>
        </p:txBody>
      </p:sp>
      <p:sp>
        <p:nvSpPr>
          <p:cNvPr id="13" name="">
            <a:extLst xmlns:a="http://schemas.openxmlformats.org/drawingml/2006/main">
              <a:ext uri="{FF2B5EF4-FFF2-40B4-BE49-F238E27FC236}">
                <a16:creationId xmlns:a16="http://schemas.microsoft.com/office/drawing/2014/main" id="{955C503A-B2E2-4BFC-AB9A-182BEA6E64EC}"/>
              </a:ext>
            </a:extLst>
          </p:cNvPr>
          <p:cNvSpPr>
            <a:spLocks xmlns:a="http://schemas.openxmlformats.org/drawingml/2006/main" noGrp="1"/>
          </p:cNvSpPr>
          <p:nvPr/>
        </p:nvSpPr>
        <p:spPr>
          <a:xfrm xmlns:a="http://schemas.openxmlformats.org/drawingml/2006/main">
            <a:off x="1127760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i="0">
                <a:solidFill>
                  <a:srgbClr val="5B6573"/>
                </a:solidFill>
              </a:defRPr>
            </a:pPr>
            <a:r>
              <a:rPr sz="1050" b="0" i="0">
                <a:solidFill>
                  <a:srgbClr val="5B6573"/>
                </a:solidFill>
              </a:rPr>
              <a:t>01</a:t>
            </a:r>
          </a:p>
        </p:txBody>
      </p:sp>
    </p:spTree>
    <p:extLst>
      <p:ext uri="{BB962C8B-B14F-4D97-AF65-F5344CB8AC3E}">
        <p14:creationId xmlns:p14="http://schemas.microsoft.com/office/powerpoint/2010/main" val="3070102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F4CC440-82BC-4993-B208-209ABB31E980}"/>
              </a:ext>
            </a:extLst>
          </p:cNvPr>
          <p:cNvSpPr>
            <a:spLocks xmlns:a="http://schemas.openxmlformats.org/drawingml/2006/main" noGrp="1"/>
          </p:cNvSpPr>
          <p:nvPr/>
        </p:nvSpPr>
        <p:spPr>
          <a:xfrm xmlns:a="http://schemas.openxmlformats.org/drawingml/2006/main">
            <a:off x="400050" y="247650"/>
            <a:ext cx="11391900" cy="38100"/>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2" name="">
            <a:extLst xmlns:a="http://schemas.openxmlformats.org/drawingml/2006/main">
              <a:ext uri="{FF2B5EF4-FFF2-40B4-BE49-F238E27FC236}">
                <a16:creationId xmlns:a16="http://schemas.microsoft.com/office/drawing/2014/main" id="{63B39234-0D9E-4B3F-B555-0002E84EF6F6}"/>
              </a:ext>
            </a:extLst>
          </p:cNvPr>
          <p:cNvSpPr>
            <a:spLocks xmlns:a="http://schemas.openxmlformats.org/drawingml/2006/main" noGrp="1"/>
          </p:cNvSpPr>
          <p:nvPr/>
        </p:nvSpPr>
        <p:spPr>
          <a:xfrm xmlns:a="http://schemas.openxmlformats.org/drawingml/2006/main">
            <a:off x="457200" y="371475"/>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WHY WEALTHORA</a:t>
            </a:r>
          </a:p>
        </p:txBody>
      </p:sp>
      <p:sp>
        <p:nvSpPr>
          <p:cNvPr id="3" name="">
            <a:extLst xmlns:a="http://schemas.openxmlformats.org/drawingml/2006/main">
              <a:ext uri="{FF2B5EF4-FFF2-40B4-BE49-F238E27FC236}">
                <a16:creationId xmlns:a16="http://schemas.microsoft.com/office/drawing/2014/main" id="{22E12D3B-5916-4D6F-9EF2-0B1F838E38AF}"/>
              </a:ext>
            </a:extLst>
          </p:cNvPr>
          <p:cNvSpPr>
            <a:spLocks xmlns:a="http://schemas.openxmlformats.org/drawingml/2006/main" noGrp="1"/>
          </p:cNvSpPr>
          <p:nvPr/>
        </p:nvSpPr>
        <p:spPr>
          <a:xfrm xmlns:a="http://schemas.openxmlformats.org/drawingml/2006/main">
            <a:off x="457200" y="72390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7212B"/>
                </a:solidFill>
              </a:defRPr>
            </a:pPr>
            <a:r>
              <a:rPr sz="3000" b="1" i="0">
                <a:solidFill>
                  <a:srgbClr val="17212B"/>
                </a:solidFill>
              </a:rPr>
              <a:t>Scattered records make simple money questions hard</a:t>
            </a:r>
          </a:p>
        </p:txBody>
      </p:sp>
      <p:sp>
        <p:nvSpPr>
          <p:cNvPr id="4" name="">
            <a:extLst xmlns:a="http://schemas.openxmlformats.org/drawingml/2006/main">
              <a:ext uri="{FF2B5EF4-FFF2-40B4-BE49-F238E27FC236}">
                <a16:creationId xmlns:a16="http://schemas.microsoft.com/office/drawing/2014/main" id="{1D246F90-D938-4D01-ADD9-BCB145D7C44E}"/>
              </a:ext>
            </a:extLst>
          </p:cNvPr>
          <p:cNvSpPr>
            <a:spLocks xmlns:a="http://schemas.openxmlformats.org/drawingml/2006/main" noGrp="1"/>
          </p:cNvSpPr>
          <p:nvPr/>
        </p:nvSpPr>
        <p:spPr>
          <a:xfrm xmlns:a="http://schemas.openxmlformats.org/drawingml/2006/main">
            <a:off x="1127760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i="0">
                <a:solidFill>
                  <a:srgbClr val="5B6573"/>
                </a:solidFill>
              </a:defRPr>
            </a:pPr>
            <a:r>
              <a:rPr sz="1050" b="0" i="0">
                <a:solidFill>
                  <a:srgbClr val="5B6573"/>
                </a:solidFill>
              </a:rPr>
              <a:t>02</a:t>
            </a:r>
          </a:p>
        </p:txBody>
      </p:sp>
      <p:sp>
        <p:nvSpPr>
          <p:cNvPr id="5" name="">
            <a:extLst xmlns:a="http://schemas.openxmlformats.org/drawingml/2006/main">
              <a:ext uri="{FF2B5EF4-FFF2-40B4-BE49-F238E27FC236}">
                <a16:creationId xmlns:a16="http://schemas.microsoft.com/office/drawing/2014/main" id="{AFE8F073-1976-4E46-84CC-41193C084F6C}"/>
              </a:ext>
            </a:extLst>
          </p:cNvPr>
          <p:cNvSpPr>
            <a:spLocks xmlns:a="http://schemas.openxmlformats.org/drawingml/2006/main" noGrp="1"/>
          </p:cNvSpPr>
          <p:nvPr/>
        </p:nvSpPr>
        <p:spPr>
          <a:xfrm xmlns:a="http://schemas.openxmlformats.org/drawingml/2006/main">
            <a:off x="514350" y="16383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B42318"/>
                </a:solidFill>
              </a:defRPr>
            </a:pPr>
            <a:r>
              <a:rPr sz="1125" b="1" i="0">
                <a:solidFill>
                  <a:srgbClr val="B42318"/>
                </a:solidFill>
              </a:rPr>
              <a:t>THE PROBLEM</a:t>
            </a:r>
          </a:p>
        </p:txBody>
      </p:sp>
      <p:sp>
        <p:nvSpPr>
          <p:cNvPr id="6" name="">
            <a:extLst xmlns:a="http://schemas.openxmlformats.org/drawingml/2006/main">
              <a:ext uri="{FF2B5EF4-FFF2-40B4-BE49-F238E27FC236}">
                <a16:creationId xmlns:a16="http://schemas.microsoft.com/office/drawing/2014/main" id="{1A1BE21A-FA56-471D-BBBE-FF287D0D17A5}"/>
              </a:ext>
            </a:extLst>
          </p:cNvPr>
          <p:cNvSpPr>
            <a:spLocks xmlns:a="http://schemas.openxmlformats.org/drawingml/2006/main" noGrp="1"/>
          </p:cNvSpPr>
          <p:nvPr/>
        </p:nvSpPr>
        <p:spPr>
          <a:xfrm xmlns:a="http://schemas.openxmlformats.org/drawingml/2006/main">
            <a:off x="514350" y="2000250"/>
            <a:ext cx="4762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0" i="0">
                <a:solidFill>
                  <a:srgbClr val="17212B"/>
                </a:solidFill>
              </a:defRPr>
            </a:pPr>
            <a:r>
              <a:rPr sz="1875" b="0" i="0">
                <a:solidFill>
                  <a:srgbClr val="17212B"/>
                </a:solidFill>
              </a:rPr>
              <a:t>Cash, bank, mobile-wallet, budget, and debt information often lives in separate places. Users lose a reliable view of balance, spending patterns, due items, and recoverable history.</a:t>
            </a:r>
          </a:p>
        </p:txBody>
      </p:sp>
      <p:sp>
        <p:nvSpPr>
          <p:cNvPr id="7" name="">
            <a:extLst xmlns:a="http://schemas.openxmlformats.org/drawingml/2006/main">
              <a:ext uri="{FF2B5EF4-FFF2-40B4-BE49-F238E27FC236}">
                <a16:creationId xmlns:a16="http://schemas.microsoft.com/office/drawing/2014/main" id="{E4AFCB4F-9690-4A1D-B236-417CC8C5FF95}"/>
              </a:ext>
            </a:extLst>
          </p:cNvPr>
          <p:cNvSpPr>
            <a:spLocks xmlns:a="http://schemas.openxmlformats.org/drawingml/2006/main" noGrp="1"/>
          </p:cNvSpPr>
          <p:nvPr/>
        </p:nvSpPr>
        <p:spPr>
          <a:xfrm xmlns:a="http://schemas.openxmlformats.org/drawingml/2006/main">
            <a:off x="5810250" y="1619250"/>
            <a:ext cx="19050" cy="4286250"/>
          </a:xfrm>
          <a:prstGeom xmlns:a="http://schemas.openxmlformats.org/drawingml/2006/main" prst="rect">
            <a:avLst/>
          </a:prstGeom>
          <a:solidFill xmlns:a="http://schemas.openxmlformats.org/drawingml/2006/main">
            <a:srgbClr val="B8C2CC"/>
          </a:solidFill>
          <a:ln xmlns:a="http://schemas.openxmlformats.org/drawingml/2006/main" w="0">
            <a:solidFill>
              <a:srgbClr val="B8C2CC"/>
            </a:solidFill>
            <a:prstDash val="solid"/>
          </a:ln>
        </p:spPr>
      </p:sp>
      <p:sp>
        <p:nvSpPr>
          <p:cNvPr id="8" name="">
            <a:extLst xmlns:a="http://schemas.openxmlformats.org/drawingml/2006/main">
              <a:ext uri="{FF2B5EF4-FFF2-40B4-BE49-F238E27FC236}">
                <a16:creationId xmlns:a16="http://schemas.microsoft.com/office/drawing/2014/main" id="{A5238ADA-FC02-464C-800D-3AE4C2AF1FE6}"/>
              </a:ext>
            </a:extLst>
          </p:cNvPr>
          <p:cNvSpPr>
            <a:spLocks xmlns:a="http://schemas.openxmlformats.org/drawingml/2006/main" noGrp="1"/>
          </p:cNvSpPr>
          <p:nvPr/>
        </p:nvSpPr>
        <p:spPr>
          <a:xfrm xmlns:a="http://schemas.openxmlformats.org/drawingml/2006/main">
            <a:off x="6305550" y="16383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2B6CB0"/>
                </a:solidFill>
              </a:defRPr>
            </a:pPr>
            <a:r>
              <a:rPr sz="1125" b="1" i="0">
                <a:solidFill>
                  <a:srgbClr val="2B6CB0"/>
                </a:solidFill>
              </a:rPr>
              <a:t>PROJECT OBJECTIVES</a:t>
            </a:r>
          </a:p>
        </p:txBody>
      </p:sp>
      <p:sp>
        <p:nvSpPr>
          <p:cNvPr id="9" name="">
            <a:extLst xmlns:a="http://schemas.openxmlformats.org/drawingml/2006/main">
              <a:ext uri="{FF2B5EF4-FFF2-40B4-BE49-F238E27FC236}">
                <a16:creationId xmlns:a16="http://schemas.microsoft.com/office/drawing/2014/main" id="{06F9A8FA-8435-468A-9B47-D90460727ADB}"/>
              </a:ext>
            </a:extLst>
          </p:cNvPr>
          <p:cNvSpPr>
            <a:spLocks xmlns:a="http://schemas.openxmlformats.org/drawingml/2006/main" noGrp="1"/>
          </p:cNvSpPr>
          <p:nvPr/>
        </p:nvSpPr>
        <p:spPr>
          <a:xfrm xmlns:a="http://schemas.openxmlformats.org/drawingml/2006/main">
            <a:off x="6305550" y="2000250"/>
            <a:ext cx="4953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i="0">
                <a:solidFill>
                  <a:srgbClr val="17212B"/>
                </a:solidFill>
              </a:defRPr>
            </a:pPr>
            <a:r>
              <a:rPr sz="1650" b="0" i="0">
                <a:solidFill>
                  <a:srgbClr val="17212B"/>
                </a:solidFill>
              </a:rPr>
              <a:t>• Model income, expense, transfers, accounts, budgets, and plans</a:t>
            </a:r>
          </a:p>
          <a:p xmlns:a="http://schemas.openxmlformats.org/drawingml/2006/main">
            <a:pPr algn="l">
              <a:buNone/>
              <a:defRPr sz="1650" b="0" i="0">
                <a:solidFill>
                  <a:srgbClr val="17212B"/>
                </a:solidFill>
              </a:defRPr>
            </a:pPr>
            <a:r>
              <a:rPr sz="1650" b="0" i="0">
                <a:solidFill>
                  <a:srgbClr val="17212B"/>
                </a:solidFill>
              </a:rPr>
              <a:t>• Keep existing-user finance usable without a relay</a:t>
            </a:r>
          </a:p>
          <a:p xmlns:a="http://schemas.openxmlformats.org/drawingml/2006/main">
            <a:pPr algn="l">
              <a:buNone/>
              <a:defRPr sz="1650" b="0" i="0">
                <a:solidFill>
                  <a:srgbClr val="17212B"/>
                </a:solidFill>
              </a:defRPr>
            </a:pPr>
            <a:r>
              <a:rPr sz="1650" b="0" i="0">
                <a:solidFill>
                  <a:srgbClr val="17212B"/>
                </a:solidFill>
              </a:rPr>
              <a:t>• Protect credentials and separate each user's workspace</a:t>
            </a:r>
          </a:p>
          <a:p xmlns:a="http://schemas.openxmlformats.org/drawingml/2006/main">
            <a:pPr algn="l">
              <a:buNone/>
              <a:defRPr sz="1650" b="0" i="0">
                <a:solidFill>
                  <a:srgbClr val="17212B"/>
                </a:solidFill>
              </a:defRPr>
            </a:pPr>
            <a:r>
              <a:rPr sz="1650" b="0" i="0">
                <a:solidFill>
                  <a:srgbClr val="17212B"/>
                </a:solidFill>
              </a:rPr>
              <a:t>• Make build, persistence, import/export, and testing repeatable</a:t>
            </a:r>
          </a:p>
          <a:p xmlns:a="http://schemas.openxmlformats.org/drawingml/2006/main">
            <a:pPr algn="l">
              <a:buNone/>
              <a:defRPr sz="1650" b="0" i="0">
                <a:solidFill>
                  <a:srgbClr val="17212B"/>
                </a:solidFill>
              </a:defRPr>
            </a:pPr>
            <a:r>
              <a:rPr sz="1650" b="0" i="0">
                <a:solidFill>
                  <a:srgbClr val="17212B"/>
                </a:solidFill>
              </a:rPr>
              <a:t>• Demonstrate core OOP concepts in a real Swing application</a:t>
            </a:r>
          </a:p>
        </p:txBody>
      </p:sp>
      <p:sp>
        <p:nvSpPr>
          <p:cNvPr id="10" name="">
            <a:extLst xmlns:a="http://schemas.openxmlformats.org/drawingml/2006/main">
              <a:ext uri="{FF2B5EF4-FFF2-40B4-BE49-F238E27FC236}">
                <a16:creationId xmlns:a16="http://schemas.microsoft.com/office/drawing/2014/main" id="{90A4AF30-08D5-411A-8A8C-8A171342C43C}"/>
              </a:ext>
            </a:extLst>
          </p:cNvPr>
          <p:cNvSpPr>
            <a:spLocks xmlns:a="http://schemas.openxmlformats.org/drawingml/2006/main" noGrp="1"/>
          </p:cNvSpPr>
          <p:nvPr/>
        </p:nvSpPr>
        <p:spPr>
          <a:xfrm xmlns:a="http://schemas.openxmlformats.org/drawingml/2006/main">
            <a:off x="514350" y="5143500"/>
            <a:ext cx="10744200" cy="781050"/>
          </a:xfrm>
          <a:prstGeom xmlns:a="http://schemas.openxmlformats.org/drawingml/2006/main" prst="rect">
            <a:avLst/>
          </a:prstGeom>
          <a:solidFill xmlns:a="http://schemas.openxmlformats.org/drawingml/2006/main">
            <a:srgbClr val="EAF5F0"/>
          </a:solidFill>
          <a:ln xmlns:a="http://schemas.openxmlformats.org/drawingml/2006/main" w="9525">
            <a:solidFill>
              <a:srgbClr val="16785B"/>
            </a:solidFill>
            <a:prstDash val="solid"/>
          </a:ln>
        </p:spPr>
      </p:sp>
      <p:sp>
        <p:nvSpPr>
          <p:cNvPr id="11" name="">
            <a:extLst xmlns:a="http://schemas.openxmlformats.org/drawingml/2006/main">
              <a:ext uri="{FF2B5EF4-FFF2-40B4-BE49-F238E27FC236}">
                <a16:creationId xmlns:a16="http://schemas.microsoft.com/office/drawing/2014/main" id="{ACCDA43E-6E0B-4C15-8973-13434C1834A8}"/>
              </a:ext>
            </a:extLst>
          </p:cNvPr>
          <p:cNvSpPr>
            <a:spLocks xmlns:a="http://schemas.openxmlformats.org/drawingml/2006/main" noGrp="1"/>
          </p:cNvSpPr>
          <p:nvPr/>
        </p:nvSpPr>
        <p:spPr>
          <a:xfrm xmlns:a="http://schemas.openxmlformats.org/drawingml/2006/main">
            <a:off x="742950" y="531495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0F5F49"/>
                </a:solidFill>
              </a:defRPr>
            </a:pPr>
            <a:r>
              <a:rPr sz="1200" b="1" i="0">
                <a:solidFill>
                  <a:srgbClr val="0F5F49"/>
                </a:solidFill>
              </a:rPr>
              <a:t>Outcome</a:t>
            </a:r>
          </a:p>
        </p:txBody>
      </p:sp>
      <p:sp>
        <p:nvSpPr>
          <p:cNvPr id="12" name="">
            <a:extLst xmlns:a="http://schemas.openxmlformats.org/drawingml/2006/main">
              <a:ext uri="{FF2B5EF4-FFF2-40B4-BE49-F238E27FC236}">
                <a16:creationId xmlns:a16="http://schemas.microsoft.com/office/drawing/2014/main" id="{D307AB13-A5B3-47F1-A5FB-C29676B20C8D}"/>
              </a:ext>
            </a:extLst>
          </p:cNvPr>
          <p:cNvSpPr>
            <a:spLocks xmlns:a="http://schemas.openxmlformats.org/drawingml/2006/main" noGrp="1"/>
          </p:cNvSpPr>
          <p:nvPr/>
        </p:nvSpPr>
        <p:spPr>
          <a:xfrm xmlns:a="http://schemas.openxmlformats.org/drawingml/2006/main">
            <a:off x="2095500" y="5257800"/>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7212B"/>
                </a:solidFill>
              </a:defRPr>
            </a:pPr>
            <a:r>
              <a:rPr sz="1725" b="1" i="0">
                <a:solidFill>
                  <a:srgbClr val="17212B"/>
                </a:solidFill>
              </a:rPr>
              <a:t>One portable desktop workspace that turns validated records into balances, budgets, reports, and decisions.</a:t>
            </a:r>
          </a:p>
        </p:txBody>
      </p:sp>
    </p:spTree>
    <p:extLst>
      <p:ext uri="{BB962C8B-B14F-4D97-AF65-F5344CB8AC3E}">
        <p14:creationId xmlns:p14="http://schemas.microsoft.com/office/powerpoint/2010/main" val="5480621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51059FC-3589-422C-8C43-0629A48A6E22}"/>
              </a:ext>
            </a:extLst>
          </p:cNvPr>
          <p:cNvSpPr>
            <a:spLocks xmlns:a="http://schemas.openxmlformats.org/drawingml/2006/main" noGrp="1"/>
          </p:cNvSpPr>
          <p:nvPr/>
        </p:nvSpPr>
        <p:spPr>
          <a:xfrm xmlns:a="http://schemas.openxmlformats.org/drawingml/2006/main">
            <a:off x="400050" y="247650"/>
            <a:ext cx="11391900" cy="38100"/>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2" name="">
            <a:extLst xmlns:a="http://schemas.openxmlformats.org/drawingml/2006/main">
              <a:ext uri="{FF2B5EF4-FFF2-40B4-BE49-F238E27FC236}">
                <a16:creationId xmlns:a16="http://schemas.microsoft.com/office/drawing/2014/main" id="{D2B5B925-9481-4FDC-8F3D-6A04F19F46E1}"/>
              </a:ext>
            </a:extLst>
          </p:cNvPr>
          <p:cNvSpPr>
            <a:spLocks xmlns:a="http://schemas.openxmlformats.org/drawingml/2006/main" noGrp="1"/>
          </p:cNvSpPr>
          <p:nvPr/>
        </p:nvSpPr>
        <p:spPr>
          <a:xfrm xmlns:a="http://schemas.openxmlformats.org/drawingml/2006/main">
            <a:off x="457200" y="371475"/>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USER JOURNEY</a:t>
            </a:r>
          </a:p>
        </p:txBody>
      </p:sp>
      <p:sp>
        <p:nvSpPr>
          <p:cNvPr id="3" name="">
            <a:extLst xmlns:a="http://schemas.openxmlformats.org/drawingml/2006/main">
              <a:ext uri="{FF2B5EF4-FFF2-40B4-BE49-F238E27FC236}">
                <a16:creationId xmlns:a16="http://schemas.microsoft.com/office/drawing/2014/main" id="{EBB3395E-8504-4E8F-9906-9C11946CEA24}"/>
              </a:ext>
            </a:extLst>
          </p:cNvPr>
          <p:cNvSpPr>
            <a:spLocks xmlns:a="http://schemas.openxmlformats.org/drawingml/2006/main" noGrp="1"/>
          </p:cNvSpPr>
          <p:nvPr/>
        </p:nvSpPr>
        <p:spPr>
          <a:xfrm xmlns:a="http://schemas.openxmlformats.org/drawingml/2006/main">
            <a:off x="457200" y="72390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7212B"/>
                </a:solidFill>
              </a:defRPr>
            </a:pPr>
            <a:r>
              <a:rPr sz="3000" b="1" i="0">
                <a:solidFill>
                  <a:srgbClr val="17212B"/>
                </a:solidFill>
              </a:rPr>
              <a:t>Five steps connect authentication to financial insight</a:t>
            </a:r>
          </a:p>
        </p:txBody>
      </p:sp>
      <p:sp>
        <p:nvSpPr>
          <p:cNvPr id="4" name="">
            <a:extLst xmlns:a="http://schemas.openxmlformats.org/drawingml/2006/main">
              <a:ext uri="{FF2B5EF4-FFF2-40B4-BE49-F238E27FC236}">
                <a16:creationId xmlns:a16="http://schemas.microsoft.com/office/drawing/2014/main" id="{B515E397-AFA8-4B2E-ACB2-79A07332FFE9}"/>
              </a:ext>
            </a:extLst>
          </p:cNvPr>
          <p:cNvSpPr>
            <a:spLocks xmlns:a="http://schemas.openxmlformats.org/drawingml/2006/main" noGrp="1"/>
          </p:cNvSpPr>
          <p:nvPr/>
        </p:nvSpPr>
        <p:spPr>
          <a:xfrm xmlns:a="http://schemas.openxmlformats.org/drawingml/2006/main">
            <a:off x="1127760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i="0">
                <a:solidFill>
                  <a:srgbClr val="5B6573"/>
                </a:solidFill>
              </a:defRPr>
            </a:pPr>
            <a:r>
              <a:rPr sz="1050" b="0" i="0">
                <a:solidFill>
                  <a:srgbClr val="5B6573"/>
                </a:solidFill>
              </a:rPr>
              <a:t>03</a:t>
            </a:r>
          </a:p>
        </p:txBody>
      </p:sp>
      <p:sp>
        <p:nvSpPr>
          <p:cNvPr id="5" name="">
            <a:extLst xmlns:a="http://schemas.openxmlformats.org/drawingml/2006/main">
              <a:ext uri="{FF2B5EF4-FFF2-40B4-BE49-F238E27FC236}">
                <a16:creationId xmlns:a16="http://schemas.microsoft.com/office/drawing/2014/main" id="{F3652180-F3D4-4F7F-BDBF-5686B5A1EDBB}"/>
              </a:ext>
            </a:extLst>
          </p:cNvPr>
          <p:cNvSpPr>
            <a:spLocks xmlns:a="http://schemas.openxmlformats.org/drawingml/2006/main" noGrp="1"/>
          </p:cNvSpPr>
          <p:nvPr/>
        </p:nvSpPr>
        <p:spPr>
          <a:xfrm xmlns:a="http://schemas.openxmlformats.org/drawingml/2006/main">
            <a:off x="457200" y="1885950"/>
            <a:ext cx="2076450" cy="3105150"/>
          </a:xfrm>
          <a:prstGeom xmlns:a="http://schemas.openxmlformats.org/drawingml/2006/main" prst="rect">
            <a:avLst/>
          </a:prstGeom>
          <a:solidFill xmlns:a="http://schemas.openxmlformats.org/drawingml/2006/main">
            <a:srgbClr val="EAF5F0"/>
          </a:solidFill>
          <a:ln xmlns:a="http://schemas.openxmlformats.org/drawingml/2006/main" w="9525">
            <a:solidFill>
              <a:srgbClr val="B8C2CC"/>
            </a:solidFill>
            <a:prstDash val="solid"/>
          </a:ln>
        </p:spPr>
      </p:sp>
      <p:sp>
        <p:nvSpPr>
          <p:cNvPr id="6" name="">
            <a:extLst xmlns:a="http://schemas.openxmlformats.org/drawingml/2006/main">
              <a:ext uri="{FF2B5EF4-FFF2-40B4-BE49-F238E27FC236}">
                <a16:creationId xmlns:a16="http://schemas.microsoft.com/office/drawing/2014/main" id="{7025A4E4-BA45-455E-AFA8-F112C98F140B}"/>
              </a:ext>
            </a:extLst>
          </p:cNvPr>
          <p:cNvSpPr>
            <a:spLocks xmlns:a="http://schemas.openxmlformats.org/drawingml/2006/main" noGrp="1"/>
          </p:cNvSpPr>
          <p:nvPr/>
        </p:nvSpPr>
        <p:spPr>
          <a:xfrm xmlns:a="http://schemas.openxmlformats.org/drawingml/2006/main">
            <a:off x="628650" y="2076450"/>
            <a:ext cx="5238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0F5F49"/>
                </a:solidFill>
              </a:defRPr>
            </a:pPr>
            <a:r>
              <a:rPr sz="2850" b="1" i="0">
                <a:solidFill>
                  <a:srgbClr val="0F5F49"/>
                </a:solidFill>
              </a:rPr>
              <a:t>1</a:t>
            </a:r>
          </a:p>
        </p:txBody>
      </p:sp>
      <p:sp>
        <p:nvSpPr>
          <p:cNvPr id="7" name="">
            <a:extLst xmlns:a="http://schemas.openxmlformats.org/drawingml/2006/main">
              <a:ext uri="{FF2B5EF4-FFF2-40B4-BE49-F238E27FC236}">
                <a16:creationId xmlns:a16="http://schemas.microsoft.com/office/drawing/2014/main" id="{24085D20-52B2-45B7-9421-DDC198D5ED50}"/>
              </a:ext>
            </a:extLst>
          </p:cNvPr>
          <p:cNvSpPr>
            <a:spLocks xmlns:a="http://schemas.openxmlformats.org/drawingml/2006/main" noGrp="1"/>
          </p:cNvSpPr>
          <p:nvPr/>
        </p:nvSpPr>
        <p:spPr>
          <a:xfrm xmlns:a="http://schemas.openxmlformats.org/drawingml/2006/main">
            <a:off x="628650" y="2724150"/>
            <a:ext cx="1733550" cy="38100"/>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8" name="">
            <a:extLst xmlns:a="http://schemas.openxmlformats.org/drawingml/2006/main">
              <a:ext uri="{FF2B5EF4-FFF2-40B4-BE49-F238E27FC236}">
                <a16:creationId xmlns:a16="http://schemas.microsoft.com/office/drawing/2014/main" id="{8646A707-6688-43A6-83EF-48DF123407D2}"/>
              </a:ext>
            </a:extLst>
          </p:cNvPr>
          <p:cNvSpPr>
            <a:spLocks xmlns:a="http://schemas.openxmlformats.org/drawingml/2006/main" noGrp="1"/>
          </p:cNvSpPr>
          <p:nvPr/>
        </p:nvSpPr>
        <p:spPr>
          <a:xfrm xmlns:a="http://schemas.openxmlformats.org/drawingml/2006/main">
            <a:off x="628650" y="2971800"/>
            <a:ext cx="1733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7212B"/>
                </a:solidFill>
              </a:defRPr>
            </a:pPr>
            <a:r>
              <a:rPr sz="1875" b="1" i="0">
                <a:solidFill>
                  <a:srgbClr val="17212B"/>
                </a:solidFill>
              </a:rPr>
              <a:t>Authenticate</a:t>
            </a:r>
          </a:p>
        </p:txBody>
      </p:sp>
      <p:sp>
        <p:nvSpPr>
          <p:cNvPr id="9" name="">
            <a:extLst xmlns:a="http://schemas.openxmlformats.org/drawingml/2006/main">
              <a:ext uri="{FF2B5EF4-FFF2-40B4-BE49-F238E27FC236}">
                <a16:creationId xmlns:a16="http://schemas.microsoft.com/office/drawing/2014/main" id="{7F74C885-32D2-4152-BAC9-B80D5F709B64}"/>
              </a:ext>
            </a:extLst>
          </p:cNvPr>
          <p:cNvSpPr>
            <a:spLocks xmlns:a="http://schemas.openxmlformats.org/drawingml/2006/main" noGrp="1"/>
          </p:cNvSpPr>
          <p:nvPr/>
        </p:nvSpPr>
        <p:spPr>
          <a:xfrm xmlns:a="http://schemas.openxmlformats.org/drawingml/2006/main">
            <a:off x="628650" y="3638550"/>
            <a:ext cx="1733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5B6573"/>
                </a:solidFill>
              </a:defRPr>
            </a:pPr>
            <a:r>
              <a:rPr sz="1425" b="0" i="0">
                <a:solidFill>
                  <a:srgbClr val="5B6573"/>
                </a:solidFill>
              </a:rPr>
              <a:t>Local sign-in, owner bootstrap, or verified registration</a:t>
            </a:r>
          </a:p>
        </p:txBody>
      </p:sp>
      <p:sp>
        <p:nvSpPr>
          <p:cNvPr id="10" name="">
            <a:extLst xmlns:a="http://schemas.openxmlformats.org/drawingml/2006/main">
              <a:ext uri="{FF2B5EF4-FFF2-40B4-BE49-F238E27FC236}">
                <a16:creationId xmlns:a16="http://schemas.microsoft.com/office/drawing/2014/main" id="{4F9E9245-1CC0-4CE6-BD7D-A993B5D38F2A}"/>
              </a:ext>
            </a:extLst>
          </p:cNvPr>
          <p:cNvSpPr>
            <a:spLocks xmlns:a="http://schemas.openxmlformats.org/drawingml/2006/main" noGrp="1"/>
          </p:cNvSpPr>
          <p:nvPr/>
        </p:nvSpPr>
        <p:spPr>
          <a:xfrm xmlns:a="http://schemas.openxmlformats.org/drawingml/2006/main">
            <a:off x="2705100" y="1885950"/>
            <a:ext cx="2076450" cy="3105150"/>
          </a:xfrm>
          <a:prstGeom xmlns:a="http://schemas.openxmlformats.org/drawingml/2006/main" prst="rect">
            <a:avLst/>
          </a:prstGeom>
          <a:solidFill xmlns:a="http://schemas.openxmlformats.org/drawingml/2006/main">
            <a:srgbClr val="EEF1F3"/>
          </a:solidFill>
          <a:ln xmlns:a="http://schemas.openxmlformats.org/drawingml/2006/main" w="9525">
            <a:solidFill>
              <a:srgbClr val="B8C2CC"/>
            </a:solidFill>
            <a:prstDash val="solid"/>
          </a:ln>
        </p:spPr>
      </p:sp>
      <p:sp>
        <p:nvSpPr>
          <p:cNvPr id="11" name="">
            <a:extLst xmlns:a="http://schemas.openxmlformats.org/drawingml/2006/main">
              <a:ext uri="{FF2B5EF4-FFF2-40B4-BE49-F238E27FC236}">
                <a16:creationId xmlns:a16="http://schemas.microsoft.com/office/drawing/2014/main" id="{24BC5571-BE21-4F34-97D4-4743DFE5A169}"/>
              </a:ext>
            </a:extLst>
          </p:cNvPr>
          <p:cNvSpPr>
            <a:spLocks xmlns:a="http://schemas.openxmlformats.org/drawingml/2006/main" noGrp="1"/>
          </p:cNvSpPr>
          <p:nvPr/>
        </p:nvSpPr>
        <p:spPr>
          <a:xfrm xmlns:a="http://schemas.openxmlformats.org/drawingml/2006/main">
            <a:off x="2876550" y="2076450"/>
            <a:ext cx="5238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0F5F49"/>
                </a:solidFill>
              </a:defRPr>
            </a:pPr>
            <a:r>
              <a:rPr sz="2850" b="1" i="0">
                <a:solidFill>
                  <a:srgbClr val="0F5F49"/>
                </a:solidFill>
              </a:rPr>
              <a:t>2</a:t>
            </a:r>
          </a:p>
        </p:txBody>
      </p:sp>
      <p:sp>
        <p:nvSpPr>
          <p:cNvPr id="12" name="">
            <a:extLst xmlns:a="http://schemas.openxmlformats.org/drawingml/2006/main">
              <a:ext uri="{FF2B5EF4-FFF2-40B4-BE49-F238E27FC236}">
                <a16:creationId xmlns:a16="http://schemas.microsoft.com/office/drawing/2014/main" id="{C7358C70-D423-4E62-A7C7-131097ABB3FF}"/>
              </a:ext>
            </a:extLst>
          </p:cNvPr>
          <p:cNvSpPr>
            <a:spLocks xmlns:a="http://schemas.openxmlformats.org/drawingml/2006/main" noGrp="1"/>
          </p:cNvSpPr>
          <p:nvPr/>
        </p:nvSpPr>
        <p:spPr>
          <a:xfrm xmlns:a="http://schemas.openxmlformats.org/drawingml/2006/main">
            <a:off x="2876550" y="2724150"/>
            <a:ext cx="1733550" cy="38100"/>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13" name="">
            <a:extLst xmlns:a="http://schemas.openxmlformats.org/drawingml/2006/main">
              <a:ext uri="{FF2B5EF4-FFF2-40B4-BE49-F238E27FC236}">
                <a16:creationId xmlns:a16="http://schemas.microsoft.com/office/drawing/2014/main" id="{ED7328B6-26F2-4F43-9900-AC3A852BD6AB}"/>
              </a:ext>
            </a:extLst>
          </p:cNvPr>
          <p:cNvSpPr>
            <a:spLocks xmlns:a="http://schemas.openxmlformats.org/drawingml/2006/main" noGrp="1"/>
          </p:cNvSpPr>
          <p:nvPr/>
        </p:nvSpPr>
        <p:spPr>
          <a:xfrm xmlns:a="http://schemas.openxmlformats.org/drawingml/2006/main">
            <a:off x="2876550" y="2971800"/>
            <a:ext cx="1733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7212B"/>
                </a:solidFill>
              </a:defRPr>
            </a:pPr>
            <a:r>
              <a:rPr sz="1875" b="1" i="0">
                <a:solidFill>
                  <a:srgbClr val="17212B"/>
                </a:solidFill>
              </a:rPr>
              <a:t>Open workspace</a:t>
            </a:r>
          </a:p>
        </p:txBody>
      </p:sp>
      <p:sp>
        <p:nvSpPr>
          <p:cNvPr id="14" name="">
            <a:extLst xmlns:a="http://schemas.openxmlformats.org/drawingml/2006/main">
              <a:ext uri="{FF2B5EF4-FFF2-40B4-BE49-F238E27FC236}">
                <a16:creationId xmlns:a16="http://schemas.microsoft.com/office/drawing/2014/main" id="{762834E0-F980-4E16-94DF-FFA6D26F7824}"/>
              </a:ext>
            </a:extLst>
          </p:cNvPr>
          <p:cNvSpPr>
            <a:spLocks xmlns:a="http://schemas.openxmlformats.org/drawingml/2006/main" noGrp="1"/>
          </p:cNvSpPr>
          <p:nvPr/>
        </p:nvSpPr>
        <p:spPr>
          <a:xfrm xmlns:a="http://schemas.openxmlformats.org/drawingml/2006/main">
            <a:off x="2876550" y="3638550"/>
            <a:ext cx="1733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5B6573"/>
                </a:solidFill>
              </a:defRPr>
            </a:pPr>
            <a:r>
              <a:rPr sz="1425" b="0" i="0">
                <a:solidFill>
                  <a:srgbClr val="5B6573"/>
                </a:solidFill>
              </a:rPr>
              <a:t>Activate data/users/&lt;id&gt; for the signed-in account</a:t>
            </a:r>
          </a:p>
        </p:txBody>
      </p:sp>
      <p:sp>
        <p:nvSpPr>
          <p:cNvPr id="15" name="">
            <a:extLst xmlns:a="http://schemas.openxmlformats.org/drawingml/2006/main">
              <a:ext uri="{FF2B5EF4-FFF2-40B4-BE49-F238E27FC236}">
                <a16:creationId xmlns:a16="http://schemas.microsoft.com/office/drawing/2014/main" id="{522D6A37-4C93-4FB4-8C26-97E9EE26C544}"/>
              </a:ext>
            </a:extLst>
          </p:cNvPr>
          <p:cNvSpPr>
            <a:spLocks xmlns:a="http://schemas.openxmlformats.org/drawingml/2006/main" noGrp="1"/>
          </p:cNvSpPr>
          <p:nvPr/>
        </p:nvSpPr>
        <p:spPr>
          <a:xfrm xmlns:a="http://schemas.openxmlformats.org/drawingml/2006/main">
            <a:off x="4953000" y="1885950"/>
            <a:ext cx="2076450" cy="3105150"/>
          </a:xfrm>
          <a:prstGeom xmlns:a="http://schemas.openxmlformats.org/drawingml/2006/main" prst="rect">
            <a:avLst/>
          </a:prstGeom>
          <a:solidFill xmlns:a="http://schemas.openxmlformats.org/drawingml/2006/main">
            <a:srgbClr val="EAF5F0"/>
          </a:solidFill>
          <a:ln xmlns:a="http://schemas.openxmlformats.org/drawingml/2006/main" w="9525">
            <a:solidFill>
              <a:srgbClr val="B8C2CC"/>
            </a:solidFill>
            <a:prstDash val="solid"/>
          </a:ln>
        </p:spPr>
      </p:sp>
      <p:sp>
        <p:nvSpPr>
          <p:cNvPr id="16" name="">
            <a:extLst xmlns:a="http://schemas.openxmlformats.org/drawingml/2006/main">
              <a:ext uri="{FF2B5EF4-FFF2-40B4-BE49-F238E27FC236}">
                <a16:creationId xmlns:a16="http://schemas.microsoft.com/office/drawing/2014/main" id="{08EC898A-504D-4562-8636-767E9A2A3B5E}"/>
              </a:ext>
            </a:extLst>
          </p:cNvPr>
          <p:cNvSpPr>
            <a:spLocks xmlns:a="http://schemas.openxmlformats.org/drawingml/2006/main" noGrp="1"/>
          </p:cNvSpPr>
          <p:nvPr/>
        </p:nvSpPr>
        <p:spPr>
          <a:xfrm xmlns:a="http://schemas.openxmlformats.org/drawingml/2006/main">
            <a:off x="5124450" y="2076450"/>
            <a:ext cx="5238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0F5F49"/>
                </a:solidFill>
              </a:defRPr>
            </a:pPr>
            <a:r>
              <a:rPr sz="2850" b="1" i="0">
                <a:solidFill>
                  <a:srgbClr val="0F5F49"/>
                </a:solidFill>
              </a:rPr>
              <a:t>3</a:t>
            </a:r>
          </a:p>
        </p:txBody>
      </p:sp>
      <p:sp>
        <p:nvSpPr>
          <p:cNvPr id="17" name="">
            <a:extLst xmlns:a="http://schemas.openxmlformats.org/drawingml/2006/main">
              <a:ext uri="{FF2B5EF4-FFF2-40B4-BE49-F238E27FC236}">
                <a16:creationId xmlns:a16="http://schemas.microsoft.com/office/drawing/2014/main" id="{FEEE83F2-DE3A-44A9-87A3-A6CEA47DA216}"/>
              </a:ext>
            </a:extLst>
          </p:cNvPr>
          <p:cNvSpPr>
            <a:spLocks xmlns:a="http://schemas.openxmlformats.org/drawingml/2006/main" noGrp="1"/>
          </p:cNvSpPr>
          <p:nvPr/>
        </p:nvSpPr>
        <p:spPr>
          <a:xfrm xmlns:a="http://schemas.openxmlformats.org/drawingml/2006/main">
            <a:off x="5124450" y="2724150"/>
            <a:ext cx="1733550" cy="38100"/>
          </a:xfrm>
          <a:prstGeom xmlns:a="http://schemas.openxmlformats.org/drawingml/2006/main" prst="rect">
            <a:avLst/>
          </a:prstGeom>
          <a:solidFill xmlns:a="http://schemas.openxmlformats.org/drawingml/2006/main">
            <a:srgbClr val="2B6CB0"/>
          </a:solidFill>
          <a:ln xmlns:a="http://schemas.openxmlformats.org/drawingml/2006/main" w="0">
            <a:solidFill>
              <a:srgbClr val="2B6CB0"/>
            </a:solidFill>
            <a:prstDash val="solid"/>
          </a:ln>
        </p:spPr>
      </p:sp>
      <p:sp>
        <p:nvSpPr>
          <p:cNvPr id="18" name="">
            <a:extLst xmlns:a="http://schemas.openxmlformats.org/drawingml/2006/main">
              <a:ext uri="{FF2B5EF4-FFF2-40B4-BE49-F238E27FC236}">
                <a16:creationId xmlns:a16="http://schemas.microsoft.com/office/drawing/2014/main" id="{519CA24A-0B55-487A-A2C6-5B59F26EC665}"/>
              </a:ext>
            </a:extLst>
          </p:cNvPr>
          <p:cNvSpPr>
            <a:spLocks xmlns:a="http://schemas.openxmlformats.org/drawingml/2006/main" noGrp="1"/>
          </p:cNvSpPr>
          <p:nvPr/>
        </p:nvSpPr>
        <p:spPr>
          <a:xfrm xmlns:a="http://schemas.openxmlformats.org/drawingml/2006/main">
            <a:off x="5124450" y="2971800"/>
            <a:ext cx="1733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7212B"/>
                </a:solidFill>
              </a:defRPr>
            </a:pPr>
            <a:r>
              <a:rPr sz="1875" b="1" i="0">
                <a:solidFill>
                  <a:srgbClr val="17212B"/>
                </a:solidFill>
              </a:rPr>
              <a:t>Record activity</a:t>
            </a:r>
          </a:p>
        </p:txBody>
      </p:sp>
      <p:sp>
        <p:nvSpPr>
          <p:cNvPr id="19" name="">
            <a:extLst xmlns:a="http://schemas.openxmlformats.org/drawingml/2006/main">
              <a:ext uri="{FF2B5EF4-FFF2-40B4-BE49-F238E27FC236}">
                <a16:creationId xmlns:a16="http://schemas.microsoft.com/office/drawing/2014/main" id="{C5299953-8C0A-4081-8B6B-E32C2A2B2A90}"/>
              </a:ext>
            </a:extLst>
          </p:cNvPr>
          <p:cNvSpPr>
            <a:spLocks xmlns:a="http://schemas.openxmlformats.org/drawingml/2006/main" noGrp="1"/>
          </p:cNvSpPr>
          <p:nvPr/>
        </p:nvSpPr>
        <p:spPr>
          <a:xfrm xmlns:a="http://schemas.openxmlformats.org/drawingml/2006/main">
            <a:off x="5124450" y="3638550"/>
            <a:ext cx="1733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5B6573"/>
                </a:solidFill>
              </a:defRPr>
            </a:pPr>
            <a:r>
              <a:rPr sz="1425" b="0" i="0">
                <a:solidFill>
                  <a:srgbClr val="5B6573"/>
                </a:solidFill>
              </a:rPr>
              <a:t>Income, expense, transfer, recurring and quick entry</a:t>
            </a:r>
          </a:p>
        </p:txBody>
      </p:sp>
      <p:sp>
        <p:nvSpPr>
          <p:cNvPr id="20" name="">
            <a:extLst xmlns:a="http://schemas.openxmlformats.org/drawingml/2006/main">
              <a:ext uri="{FF2B5EF4-FFF2-40B4-BE49-F238E27FC236}">
                <a16:creationId xmlns:a16="http://schemas.microsoft.com/office/drawing/2014/main" id="{38EE496B-AE7E-477B-A8CD-26634DDF2C9D}"/>
              </a:ext>
            </a:extLst>
          </p:cNvPr>
          <p:cNvSpPr>
            <a:spLocks xmlns:a="http://schemas.openxmlformats.org/drawingml/2006/main" noGrp="1"/>
          </p:cNvSpPr>
          <p:nvPr/>
        </p:nvSpPr>
        <p:spPr>
          <a:xfrm xmlns:a="http://schemas.openxmlformats.org/drawingml/2006/main">
            <a:off x="7200900" y="1885950"/>
            <a:ext cx="2076450" cy="3105150"/>
          </a:xfrm>
          <a:prstGeom xmlns:a="http://schemas.openxmlformats.org/drawingml/2006/main" prst="rect">
            <a:avLst/>
          </a:prstGeom>
          <a:solidFill xmlns:a="http://schemas.openxmlformats.org/drawingml/2006/main">
            <a:srgbClr val="EEF1F3"/>
          </a:solidFill>
          <a:ln xmlns:a="http://schemas.openxmlformats.org/drawingml/2006/main" w="9525">
            <a:solidFill>
              <a:srgbClr val="B8C2CC"/>
            </a:solidFill>
            <a:prstDash val="solid"/>
          </a:ln>
        </p:spPr>
      </p:sp>
      <p:sp>
        <p:nvSpPr>
          <p:cNvPr id="21" name="">
            <a:extLst xmlns:a="http://schemas.openxmlformats.org/drawingml/2006/main">
              <a:ext uri="{FF2B5EF4-FFF2-40B4-BE49-F238E27FC236}">
                <a16:creationId xmlns:a16="http://schemas.microsoft.com/office/drawing/2014/main" id="{66BEC793-62CA-44D4-8CCE-35A508C0017A}"/>
              </a:ext>
            </a:extLst>
          </p:cNvPr>
          <p:cNvSpPr>
            <a:spLocks xmlns:a="http://schemas.openxmlformats.org/drawingml/2006/main" noGrp="1"/>
          </p:cNvSpPr>
          <p:nvPr/>
        </p:nvSpPr>
        <p:spPr>
          <a:xfrm xmlns:a="http://schemas.openxmlformats.org/drawingml/2006/main">
            <a:off x="7372350" y="2076450"/>
            <a:ext cx="5238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0F5F49"/>
                </a:solidFill>
              </a:defRPr>
            </a:pPr>
            <a:r>
              <a:rPr sz="2850" b="1" i="0">
                <a:solidFill>
                  <a:srgbClr val="0F5F49"/>
                </a:solidFill>
              </a:rPr>
              <a:t>4</a:t>
            </a:r>
          </a:p>
        </p:txBody>
      </p:sp>
      <p:sp>
        <p:nvSpPr>
          <p:cNvPr id="22" name="">
            <a:extLst xmlns:a="http://schemas.openxmlformats.org/drawingml/2006/main">
              <a:ext uri="{FF2B5EF4-FFF2-40B4-BE49-F238E27FC236}">
                <a16:creationId xmlns:a16="http://schemas.microsoft.com/office/drawing/2014/main" id="{1DC5C37A-EAA7-48EC-8853-C0FFB9DDFADA}"/>
              </a:ext>
            </a:extLst>
          </p:cNvPr>
          <p:cNvSpPr>
            <a:spLocks xmlns:a="http://schemas.openxmlformats.org/drawingml/2006/main" noGrp="1"/>
          </p:cNvSpPr>
          <p:nvPr/>
        </p:nvSpPr>
        <p:spPr>
          <a:xfrm xmlns:a="http://schemas.openxmlformats.org/drawingml/2006/main">
            <a:off x="7372350" y="2724150"/>
            <a:ext cx="1733550" cy="38100"/>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23" name="">
            <a:extLst xmlns:a="http://schemas.openxmlformats.org/drawingml/2006/main">
              <a:ext uri="{FF2B5EF4-FFF2-40B4-BE49-F238E27FC236}">
                <a16:creationId xmlns:a16="http://schemas.microsoft.com/office/drawing/2014/main" id="{41C1D8CF-E8BB-4C3D-AC3B-F5EA986F260B}"/>
              </a:ext>
            </a:extLst>
          </p:cNvPr>
          <p:cNvSpPr>
            <a:spLocks xmlns:a="http://schemas.openxmlformats.org/drawingml/2006/main" noGrp="1"/>
          </p:cNvSpPr>
          <p:nvPr/>
        </p:nvSpPr>
        <p:spPr>
          <a:xfrm xmlns:a="http://schemas.openxmlformats.org/drawingml/2006/main">
            <a:off x="7372350" y="2971800"/>
            <a:ext cx="1733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7212B"/>
                </a:solidFill>
              </a:defRPr>
            </a:pPr>
            <a:r>
              <a:rPr sz="1875" b="1" i="0">
                <a:solidFill>
                  <a:srgbClr val="17212B"/>
                </a:solidFill>
              </a:rPr>
              <a:t>Review</a:t>
            </a:r>
          </a:p>
        </p:txBody>
      </p:sp>
      <p:sp>
        <p:nvSpPr>
          <p:cNvPr id="24" name="">
            <a:extLst xmlns:a="http://schemas.openxmlformats.org/drawingml/2006/main">
              <a:ext uri="{FF2B5EF4-FFF2-40B4-BE49-F238E27FC236}">
                <a16:creationId xmlns:a16="http://schemas.microsoft.com/office/drawing/2014/main" id="{5980D2E5-DEA4-4C73-9A8E-850BFC0AECC9}"/>
              </a:ext>
            </a:extLst>
          </p:cNvPr>
          <p:cNvSpPr>
            <a:spLocks xmlns:a="http://schemas.openxmlformats.org/drawingml/2006/main" noGrp="1"/>
          </p:cNvSpPr>
          <p:nvPr/>
        </p:nvSpPr>
        <p:spPr>
          <a:xfrm xmlns:a="http://schemas.openxmlformats.org/drawingml/2006/main">
            <a:off x="7372350" y="3638550"/>
            <a:ext cx="1733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5B6573"/>
                </a:solidFill>
              </a:defRPr>
            </a:pPr>
            <a:r>
              <a:rPr sz="1425" b="0" i="0">
                <a:solidFill>
                  <a:srgbClr val="5B6573"/>
                </a:solidFill>
              </a:rPr>
              <a:t>Dashboard, budgets, analytics, reports and notifications</a:t>
            </a:r>
          </a:p>
        </p:txBody>
      </p:sp>
      <p:sp>
        <p:nvSpPr>
          <p:cNvPr id="25" name="">
            <a:extLst xmlns:a="http://schemas.openxmlformats.org/drawingml/2006/main">
              <a:ext uri="{FF2B5EF4-FFF2-40B4-BE49-F238E27FC236}">
                <a16:creationId xmlns:a16="http://schemas.microsoft.com/office/drawing/2014/main" id="{504FB0B7-E5F2-4DBD-A69D-3ED72380E259}"/>
              </a:ext>
            </a:extLst>
          </p:cNvPr>
          <p:cNvSpPr>
            <a:spLocks xmlns:a="http://schemas.openxmlformats.org/drawingml/2006/main" noGrp="1"/>
          </p:cNvSpPr>
          <p:nvPr/>
        </p:nvSpPr>
        <p:spPr>
          <a:xfrm xmlns:a="http://schemas.openxmlformats.org/drawingml/2006/main">
            <a:off x="9448800" y="1885950"/>
            <a:ext cx="2076450" cy="3105150"/>
          </a:xfrm>
          <a:prstGeom xmlns:a="http://schemas.openxmlformats.org/drawingml/2006/main" prst="rect">
            <a:avLst/>
          </a:prstGeom>
          <a:solidFill xmlns:a="http://schemas.openxmlformats.org/drawingml/2006/main">
            <a:srgbClr val="EAF5F0"/>
          </a:solidFill>
          <a:ln xmlns:a="http://schemas.openxmlformats.org/drawingml/2006/main" w="9525">
            <a:solidFill>
              <a:srgbClr val="B8C2CC"/>
            </a:solidFill>
            <a:prstDash val="solid"/>
          </a:ln>
        </p:spPr>
      </p:sp>
      <p:sp>
        <p:nvSpPr>
          <p:cNvPr id="26" name="">
            <a:extLst xmlns:a="http://schemas.openxmlformats.org/drawingml/2006/main">
              <a:ext uri="{FF2B5EF4-FFF2-40B4-BE49-F238E27FC236}">
                <a16:creationId xmlns:a16="http://schemas.microsoft.com/office/drawing/2014/main" id="{02908474-E238-4E81-8702-6C38E1833404}"/>
              </a:ext>
            </a:extLst>
          </p:cNvPr>
          <p:cNvSpPr>
            <a:spLocks xmlns:a="http://schemas.openxmlformats.org/drawingml/2006/main" noGrp="1"/>
          </p:cNvSpPr>
          <p:nvPr/>
        </p:nvSpPr>
        <p:spPr>
          <a:xfrm xmlns:a="http://schemas.openxmlformats.org/drawingml/2006/main">
            <a:off x="9620250" y="2076450"/>
            <a:ext cx="5238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0F5F49"/>
                </a:solidFill>
              </a:defRPr>
            </a:pPr>
            <a:r>
              <a:rPr sz="2850" b="1" i="0">
                <a:solidFill>
                  <a:srgbClr val="0F5F49"/>
                </a:solidFill>
              </a:rPr>
              <a:t>5</a:t>
            </a:r>
          </a:p>
        </p:txBody>
      </p:sp>
      <p:sp>
        <p:nvSpPr>
          <p:cNvPr id="27" name="">
            <a:extLst xmlns:a="http://schemas.openxmlformats.org/drawingml/2006/main">
              <a:ext uri="{FF2B5EF4-FFF2-40B4-BE49-F238E27FC236}">
                <a16:creationId xmlns:a16="http://schemas.microsoft.com/office/drawing/2014/main" id="{53BAC60B-E0B4-46FA-A88F-F9E1F02138A4}"/>
              </a:ext>
            </a:extLst>
          </p:cNvPr>
          <p:cNvSpPr>
            <a:spLocks xmlns:a="http://schemas.openxmlformats.org/drawingml/2006/main" noGrp="1"/>
          </p:cNvSpPr>
          <p:nvPr/>
        </p:nvSpPr>
        <p:spPr>
          <a:xfrm xmlns:a="http://schemas.openxmlformats.org/drawingml/2006/main">
            <a:off x="9620250" y="2724150"/>
            <a:ext cx="1733550" cy="38100"/>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28" name="">
            <a:extLst xmlns:a="http://schemas.openxmlformats.org/drawingml/2006/main">
              <a:ext uri="{FF2B5EF4-FFF2-40B4-BE49-F238E27FC236}">
                <a16:creationId xmlns:a16="http://schemas.microsoft.com/office/drawing/2014/main" id="{4308C7C2-D5C3-45AA-B4F4-34EAC923AF51}"/>
              </a:ext>
            </a:extLst>
          </p:cNvPr>
          <p:cNvSpPr>
            <a:spLocks xmlns:a="http://schemas.openxmlformats.org/drawingml/2006/main" noGrp="1"/>
          </p:cNvSpPr>
          <p:nvPr/>
        </p:nvSpPr>
        <p:spPr>
          <a:xfrm xmlns:a="http://schemas.openxmlformats.org/drawingml/2006/main">
            <a:off x="9620250" y="2971800"/>
            <a:ext cx="1733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7212B"/>
                </a:solidFill>
              </a:defRPr>
            </a:pPr>
            <a:r>
              <a:rPr sz="1875" b="1" i="0">
                <a:solidFill>
                  <a:srgbClr val="17212B"/>
                </a:solidFill>
              </a:rPr>
              <a:t>Protect data</a:t>
            </a:r>
          </a:p>
        </p:txBody>
      </p:sp>
      <p:sp>
        <p:nvSpPr>
          <p:cNvPr id="29" name="">
            <a:extLst xmlns:a="http://schemas.openxmlformats.org/drawingml/2006/main">
              <a:ext uri="{FF2B5EF4-FFF2-40B4-BE49-F238E27FC236}">
                <a16:creationId xmlns:a16="http://schemas.microsoft.com/office/drawing/2014/main" id="{DDC1603E-3A23-40AB-A642-802B95CAF996}"/>
              </a:ext>
            </a:extLst>
          </p:cNvPr>
          <p:cNvSpPr>
            <a:spLocks xmlns:a="http://schemas.openxmlformats.org/drawingml/2006/main" noGrp="1"/>
          </p:cNvSpPr>
          <p:nvPr/>
        </p:nvSpPr>
        <p:spPr>
          <a:xfrm xmlns:a="http://schemas.openxmlformats.org/drawingml/2006/main">
            <a:off x="9620250" y="3638550"/>
            <a:ext cx="1733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5B6573"/>
                </a:solidFill>
              </a:defRPr>
            </a:pPr>
            <a:r>
              <a:rPr sz="1425" b="0" i="0">
                <a:solidFill>
                  <a:srgbClr val="5B6573"/>
                </a:solidFill>
              </a:rPr>
              <a:t>Backup, import/export, restart persistence and lock</a:t>
            </a:r>
          </a:p>
        </p:txBody>
      </p:sp>
      <p:sp>
        <p:nvSpPr>
          <p:cNvPr id="30" name="">
            <a:extLst xmlns:a="http://schemas.openxmlformats.org/drawingml/2006/main">
              <a:ext uri="{FF2B5EF4-FFF2-40B4-BE49-F238E27FC236}">
                <a16:creationId xmlns:a16="http://schemas.microsoft.com/office/drawing/2014/main" id="{B544709D-31EC-4D62-934A-3F7F83A4990E}"/>
              </a:ext>
            </a:extLst>
          </p:cNvPr>
          <p:cNvSpPr>
            <a:spLocks xmlns:a="http://schemas.openxmlformats.org/drawingml/2006/main" noGrp="1"/>
          </p:cNvSpPr>
          <p:nvPr/>
        </p:nvSpPr>
        <p:spPr>
          <a:xfrm xmlns:a="http://schemas.openxmlformats.org/drawingml/2006/main">
            <a:off x="457200" y="53911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i="0">
                <a:solidFill>
                  <a:srgbClr val="2B6CB0"/>
                </a:solidFill>
              </a:defRPr>
            </a:pPr>
            <a:r>
              <a:rPr sz="1950" b="1" i="0">
                <a:solidFill>
                  <a:srgbClr val="2B6CB0"/>
                </a:solidFill>
              </a:rPr>
              <a:t>Every dashboard number is derived from the same active workspace records.</a:t>
            </a:r>
          </a:p>
        </p:txBody>
      </p:sp>
    </p:spTree>
    <p:extLst>
      <p:ext uri="{BB962C8B-B14F-4D97-AF65-F5344CB8AC3E}">
        <p14:creationId xmlns:p14="http://schemas.microsoft.com/office/powerpoint/2010/main" val="3167265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E325413-B5F6-45DB-957D-5AC90343A521}"/>
              </a:ext>
            </a:extLst>
          </p:cNvPr>
          <p:cNvSpPr>
            <a:spLocks xmlns:a="http://schemas.openxmlformats.org/drawingml/2006/main" noGrp="1"/>
          </p:cNvSpPr>
          <p:nvPr/>
        </p:nvSpPr>
        <p:spPr>
          <a:xfrm xmlns:a="http://schemas.openxmlformats.org/drawingml/2006/main">
            <a:off x="400050" y="247650"/>
            <a:ext cx="11391900" cy="38100"/>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2" name="">
            <a:extLst xmlns:a="http://schemas.openxmlformats.org/drawingml/2006/main">
              <a:ext uri="{FF2B5EF4-FFF2-40B4-BE49-F238E27FC236}">
                <a16:creationId xmlns:a16="http://schemas.microsoft.com/office/drawing/2014/main" id="{9281032F-BB7D-4CB5-B3F2-1E541CF784C0}"/>
              </a:ext>
            </a:extLst>
          </p:cNvPr>
          <p:cNvSpPr>
            <a:spLocks xmlns:a="http://schemas.openxmlformats.org/drawingml/2006/main" noGrp="1"/>
          </p:cNvSpPr>
          <p:nvPr/>
        </p:nvSpPr>
        <p:spPr>
          <a:xfrm xmlns:a="http://schemas.openxmlformats.org/drawingml/2006/main">
            <a:off x="457200" y="371475"/>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ARCHITECTURE</a:t>
            </a:r>
          </a:p>
        </p:txBody>
      </p:sp>
      <p:sp>
        <p:nvSpPr>
          <p:cNvPr id="3" name="">
            <a:extLst xmlns:a="http://schemas.openxmlformats.org/drawingml/2006/main">
              <a:ext uri="{FF2B5EF4-FFF2-40B4-BE49-F238E27FC236}">
                <a16:creationId xmlns:a16="http://schemas.microsoft.com/office/drawing/2014/main" id="{FE5067D6-8E62-46F5-8122-AC0766090DE4}"/>
              </a:ext>
            </a:extLst>
          </p:cNvPr>
          <p:cNvSpPr>
            <a:spLocks xmlns:a="http://schemas.openxmlformats.org/drawingml/2006/main" noGrp="1"/>
          </p:cNvSpPr>
          <p:nvPr/>
        </p:nvSpPr>
        <p:spPr>
          <a:xfrm xmlns:a="http://schemas.openxmlformats.org/drawingml/2006/main">
            <a:off x="457200" y="72390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7212B"/>
                </a:solidFill>
              </a:defRPr>
            </a:pPr>
            <a:r>
              <a:rPr sz="3000" b="1" i="0">
                <a:solidFill>
                  <a:srgbClr val="17212B"/>
                </a:solidFill>
              </a:rPr>
              <a:t>The desktop owns finance; the relay owns only OTP</a:t>
            </a:r>
          </a:p>
        </p:txBody>
      </p:sp>
      <p:sp>
        <p:nvSpPr>
          <p:cNvPr id="4" name="">
            <a:extLst xmlns:a="http://schemas.openxmlformats.org/drawingml/2006/main">
              <a:ext uri="{FF2B5EF4-FFF2-40B4-BE49-F238E27FC236}">
                <a16:creationId xmlns:a16="http://schemas.microsoft.com/office/drawing/2014/main" id="{53C24248-225C-4F67-8FBC-56167DF09BD7}"/>
              </a:ext>
            </a:extLst>
          </p:cNvPr>
          <p:cNvSpPr>
            <a:spLocks xmlns:a="http://schemas.openxmlformats.org/drawingml/2006/main" noGrp="1"/>
          </p:cNvSpPr>
          <p:nvPr/>
        </p:nvSpPr>
        <p:spPr>
          <a:xfrm xmlns:a="http://schemas.openxmlformats.org/drawingml/2006/main">
            <a:off x="1127760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i="0">
                <a:solidFill>
                  <a:srgbClr val="5B6573"/>
                </a:solidFill>
              </a:defRPr>
            </a:pPr>
            <a:r>
              <a:rPr sz="1050" b="0" i="0">
                <a:solidFill>
                  <a:srgbClr val="5B6573"/>
                </a:solidFill>
              </a:rPr>
              <a:t>04</a:t>
            </a:r>
          </a:p>
        </p:txBody>
      </p:sp>
      <p:sp>
        <p:nvSpPr>
          <p:cNvPr id="5" name="">
            <a:extLst xmlns:a="http://schemas.openxmlformats.org/drawingml/2006/main">
              <a:ext uri="{FF2B5EF4-FFF2-40B4-BE49-F238E27FC236}">
                <a16:creationId xmlns:a16="http://schemas.microsoft.com/office/drawing/2014/main" id="{24DEEE9B-B2E3-417C-A457-192818B2EE51}"/>
              </a:ext>
            </a:extLst>
          </p:cNvPr>
          <p:cNvSpPr>
            <a:spLocks xmlns:a="http://schemas.openxmlformats.org/drawingml/2006/main" noGrp="1"/>
          </p:cNvSpPr>
          <p:nvPr/>
        </p:nvSpPr>
        <p:spPr>
          <a:xfrm xmlns:a="http://schemas.openxmlformats.org/drawingml/2006/main">
            <a:off x="514350" y="154305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JAVA SWING DESKTOP</a:t>
            </a:r>
          </a:p>
        </p:txBody>
      </p:sp>
      <p:sp>
        <p:nvSpPr>
          <p:cNvPr id="6" name="">
            <a:extLst xmlns:a="http://schemas.openxmlformats.org/drawingml/2006/main">
              <a:ext uri="{FF2B5EF4-FFF2-40B4-BE49-F238E27FC236}">
                <a16:creationId xmlns:a16="http://schemas.microsoft.com/office/drawing/2014/main" id="{A0247386-3073-4E38-8153-4936D0F1ADBB}"/>
              </a:ext>
            </a:extLst>
          </p:cNvPr>
          <p:cNvSpPr>
            <a:spLocks xmlns:a="http://schemas.openxmlformats.org/drawingml/2006/main" noGrp="1"/>
          </p:cNvSpPr>
          <p:nvPr/>
        </p:nvSpPr>
        <p:spPr>
          <a:xfrm xmlns:a="http://schemas.openxmlformats.org/drawingml/2006/main">
            <a:off x="514350" y="1885950"/>
            <a:ext cx="6286500" cy="571500"/>
          </a:xfrm>
          <a:prstGeom xmlns:a="http://schemas.openxmlformats.org/drawingml/2006/main" prst="rect">
            <a:avLst/>
          </a:prstGeom>
          <a:solidFill xmlns:a="http://schemas.openxmlformats.org/drawingml/2006/main">
            <a:srgbClr val="DCEAF8"/>
          </a:solidFill>
          <a:ln xmlns:a="http://schemas.openxmlformats.org/drawingml/2006/main" w="9525">
            <a:solidFill>
              <a:srgbClr val="B8C2CC"/>
            </a:solidFill>
            <a:prstDash val="solid"/>
          </a:ln>
        </p:spPr>
      </p:sp>
      <p:sp>
        <p:nvSpPr>
          <p:cNvPr id="7" name="">
            <a:extLst xmlns:a="http://schemas.openxmlformats.org/drawingml/2006/main">
              <a:ext uri="{FF2B5EF4-FFF2-40B4-BE49-F238E27FC236}">
                <a16:creationId xmlns:a16="http://schemas.microsoft.com/office/drawing/2014/main" id="{B1654B2D-F7F9-47D7-838B-E11884D422FF}"/>
              </a:ext>
            </a:extLst>
          </p:cNvPr>
          <p:cNvSpPr>
            <a:spLocks xmlns:a="http://schemas.openxmlformats.org/drawingml/2006/main" noGrp="1"/>
          </p:cNvSpPr>
          <p:nvPr/>
        </p:nvSpPr>
        <p:spPr>
          <a:xfrm xmlns:a="http://schemas.openxmlformats.org/drawingml/2006/main">
            <a:off x="704850" y="20193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2B6CB0"/>
                </a:solidFill>
              </a:defRPr>
            </a:pPr>
            <a:r>
              <a:rPr sz="1650" b="1" i="0">
                <a:solidFill>
                  <a:srgbClr val="2B6CB0"/>
                </a:solidFill>
              </a:rPr>
              <a:t>UI</a:t>
            </a:r>
          </a:p>
        </p:txBody>
      </p:sp>
      <p:sp>
        <p:nvSpPr>
          <p:cNvPr id="8" name="">
            <a:extLst xmlns:a="http://schemas.openxmlformats.org/drawingml/2006/main">
              <a:ext uri="{FF2B5EF4-FFF2-40B4-BE49-F238E27FC236}">
                <a16:creationId xmlns:a16="http://schemas.microsoft.com/office/drawing/2014/main" id="{64E7818B-09D3-4514-BEAB-E14514381141}"/>
              </a:ext>
            </a:extLst>
          </p:cNvPr>
          <p:cNvSpPr>
            <a:spLocks xmlns:a="http://schemas.openxmlformats.org/drawingml/2006/main" noGrp="1"/>
          </p:cNvSpPr>
          <p:nvPr/>
        </p:nvSpPr>
        <p:spPr>
          <a:xfrm xmlns:a="http://schemas.openxmlformats.org/drawingml/2006/main">
            <a:off x="2190750" y="2028825"/>
            <a:ext cx="428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17212B"/>
                </a:solidFill>
              </a:defRPr>
            </a:pPr>
            <a:r>
              <a:rPr sz="1425" b="0" i="0">
                <a:solidFill>
                  <a:srgbClr val="17212B"/>
                </a:solidFill>
              </a:rPr>
              <a:t>Windows, panels, dialogs, tables, Java2D charts</a:t>
            </a:r>
          </a:p>
        </p:txBody>
      </p:sp>
      <p:sp>
        <p:nvSpPr>
          <p:cNvPr id="9" name="">
            <a:extLst xmlns:a="http://schemas.openxmlformats.org/drawingml/2006/main">
              <a:ext uri="{FF2B5EF4-FFF2-40B4-BE49-F238E27FC236}">
                <a16:creationId xmlns:a16="http://schemas.microsoft.com/office/drawing/2014/main" id="{C26DB30C-2C64-4296-9E17-6CCDA7EEC455}"/>
              </a:ext>
            </a:extLst>
          </p:cNvPr>
          <p:cNvSpPr>
            <a:spLocks xmlns:a="http://schemas.openxmlformats.org/drawingml/2006/main" noGrp="1"/>
          </p:cNvSpPr>
          <p:nvPr/>
        </p:nvSpPr>
        <p:spPr>
          <a:xfrm xmlns:a="http://schemas.openxmlformats.org/drawingml/2006/main">
            <a:off x="514350" y="2638425"/>
            <a:ext cx="6286500" cy="571500"/>
          </a:xfrm>
          <a:prstGeom xmlns:a="http://schemas.openxmlformats.org/drawingml/2006/main" prst="rect">
            <a:avLst/>
          </a:prstGeom>
          <a:solidFill xmlns:a="http://schemas.openxmlformats.org/drawingml/2006/main">
            <a:srgbClr val="EEF1F3"/>
          </a:solidFill>
          <a:ln xmlns:a="http://schemas.openxmlformats.org/drawingml/2006/main" w="9525">
            <a:solidFill>
              <a:srgbClr val="B8C2CC"/>
            </a:solidFill>
            <a:prstDash val="solid"/>
          </a:ln>
        </p:spPr>
      </p:sp>
      <p:sp>
        <p:nvSpPr>
          <p:cNvPr id="10" name="">
            <a:extLst xmlns:a="http://schemas.openxmlformats.org/drawingml/2006/main">
              <a:ext uri="{FF2B5EF4-FFF2-40B4-BE49-F238E27FC236}">
                <a16:creationId xmlns:a16="http://schemas.microsoft.com/office/drawing/2014/main" id="{C34C6A19-A4CF-4403-9B20-4D15BB37C8B0}"/>
              </a:ext>
            </a:extLst>
          </p:cNvPr>
          <p:cNvSpPr>
            <a:spLocks xmlns:a="http://schemas.openxmlformats.org/drawingml/2006/main" noGrp="1"/>
          </p:cNvSpPr>
          <p:nvPr/>
        </p:nvSpPr>
        <p:spPr>
          <a:xfrm xmlns:a="http://schemas.openxmlformats.org/drawingml/2006/main">
            <a:off x="704850" y="2771775"/>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0F5F49"/>
                </a:solidFill>
              </a:defRPr>
            </a:pPr>
            <a:r>
              <a:rPr sz="1650" b="1" i="0">
                <a:solidFill>
                  <a:srgbClr val="0F5F49"/>
                </a:solidFill>
              </a:rPr>
              <a:t>Services</a:t>
            </a:r>
          </a:p>
        </p:txBody>
      </p:sp>
      <p:sp>
        <p:nvSpPr>
          <p:cNvPr id="11" name="">
            <a:extLst xmlns:a="http://schemas.openxmlformats.org/drawingml/2006/main">
              <a:ext uri="{FF2B5EF4-FFF2-40B4-BE49-F238E27FC236}">
                <a16:creationId xmlns:a16="http://schemas.microsoft.com/office/drawing/2014/main" id="{B23E9E4E-7362-4992-B391-77474EA1564F}"/>
              </a:ext>
            </a:extLst>
          </p:cNvPr>
          <p:cNvSpPr>
            <a:spLocks xmlns:a="http://schemas.openxmlformats.org/drawingml/2006/main" noGrp="1"/>
          </p:cNvSpPr>
          <p:nvPr/>
        </p:nvSpPr>
        <p:spPr>
          <a:xfrm xmlns:a="http://schemas.openxmlformats.org/drawingml/2006/main">
            <a:off x="2190750" y="2781300"/>
            <a:ext cx="428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17212B"/>
                </a:solidFill>
              </a:defRPr>
            </a:pPr>
            <a:r>
              <a:rPr sz="1425" b="0" i="0">
                <a:solidFill>
                  <a:srgbClr val="17212B"/>
                </a:solidFill>
              </a:rPr>
              <a:t>Finance use cases, reporting, planning, portability</a:t>
            </a:r>
          </a:p>
        </p:txBody>
      </p:sp>
      <p:sp>
        <p:nvSpPr>
          <p:cNvPr id="12" name="">
            <a:extLst xmlns:a="http://schemas.openxmlformats.org/drawingml/2006/main">
              <a:ext uri="{FF2B5EF4-FFF2-40B4-BE49-F238E27FC236}">
                <a16:creationId xmlns:a16="http://schemas.microsoft.com/office/drawing/2014/main" id="{B8A57AFC-F5F5-4709-B1AB-EBABE6B63C9D}"/>
              </a:ext>
            </a:extLst>
          </p:cNvPr>
          <p:cNvSpPr>
            <a:spLocks xmlns:a="http://schemas.openxmlformats.org/drawingml/2006/main" noGrp="1"/>
          </p:cNvSpPr>
          <p:nvPr/>
        </p:nvSpPr>
        <p:spPr>
          <a:xfrm xmlns:a="http://schemas.openxmlformats.org/drawingml/2006/main">
            <a:off x="514350" y="3390900"/>
            <a:ext cx="6286500" cy="571500"/>
          </a:xfrm>
          <a:prstGeom xmlns:a="http://schemas.openxmlformats.org/drawingml/2006/main" prst="rect">
            <a:avLst/>
          </a:prstGeom>
          <a:solidFill xmlns:a="http://schemas.openxmlformats.org/drawingml/2006/main">
            <a:srgbClr val="EEF1F3"/>
          </a:solidFill>
          <a:ln xmlns:a="http://schemas.openxmlformats.org/drawingml/2006/main" w="9525">
            <a:solidFill>
              <a:srgbClr val="B8C2CC"/>
            </a:solidFill>
            <a:prstDash val="solid"/>
          </a:ln>
        </p:spPr>
      </p:sp>
      <p:sp>
        <p:nvSpPr>
          <p:cNvPr id="13" name="">
            <a:extLst xmlns:a="http://schemas.openxmlformats.org/drawingml/2006/main">
              <a:ext uri="{FF2B5EF4-FFF2-40B4-BE49-F238E27FC236}">
                <a16:creationId xmlns:a16="http://schemas.microsoft.com/office/drawing/2014/main" id="{9E17C4EB-E8C1-4145-9CFF-14E29FA9CF15}"/>
              </a:ext>
            </a:extLst>
          </p:cNvPr>
          <p:cNvSpPr>
            <a:spLocks xmlns:a="http://schemas.openxmlformats.org/drawingml/2006/main" noGrp="1"/>
          </p:cNvSpPr>
          <p:nvPr/>
        </p:nvSpPr>
        <p:spPr>
          <a:xfrm xmlns:a="http://schemas.openxmlformats.org/drawingml/2006/main">
            <a:off x="704850" y="35242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0F5F49"/>
                </a:solidFill>
              </a:defRPr>
            </a:pPr>
            <a:r>
              <a:rPr sz="1650" b="1" i="0">
                <a:solidFill>
                  <a:srgbClr val="0F5F49"/>
                </a:solidFill>
              </a:rPr>
              <a:t>Domain</a:t>
            </a:r>
          </a:p>
        </p:txBody>
      </p:sp>
      <p:sp>
        <p:nvSpPr>
          <p:cNvPr id="14" name="">
            <a:extLst xmlns:a="http://schemas.openxmlformats.org/drawingml/2006/main">
              <a:ext uri="{FF2B5EF4-FFF2-40B4-BE49-F238E27FC236}">
                <a16:creationId xmlns:a16="http://schemas.microsoft.com/office/drawing/2014/main" id="{4A5A6CA3-53CB-4AB3-9030-312BA821E37A}"/>
              </a:ext>
            </a:extLst>
          </p:cNvPr>
          <p:cNvSpPr>
            <a:spLocks xmlns:a="http://schemas.openxmlformats.org/drawingml/2006/main" noGrp="1"/>
          </p:cNvSpPr>
          <p:nvPr/>
        </p:nvSpPr>
        <p:spPr>
          <a:xfrm xmlns:a="http://schemas.openxmlformats.org/drawingml/2006/main">
            <a:off x="2190750" y="3533775"/>
            <a:ext cx="428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17212B"/>
                </a:solidFill>
              </a:defRPr>
            </a:pPr>
            <a:r>
              <a:rPr sz="1425" b="0" i="0">
                <a:solidFill>
                  <a:srgbClr val="17212B"/>
                </a:solidFill>
              </a:rPr>
              <a:t>Validated models and object-oriented behavior</a:t>
            </a:r>
          </a:p>
        </p:txBody>
      </p:sp>
      <p:sp>
        <p:nvSpPr>
          <p:cNvPr id="15" name="">
            <a:extLst xmlns:a="http://schemas.openxmlformats.org/drawingml/2006/main">
              <a:ext uri="{FF2B5EF4-FFF2-40B4-BE49-F238E27FC236}">
                <a16:creationId xmlns:a16="http://schemas.microsoft.com/office/drawing/2014/main" id="{87E994D6-B86E-4AEF-8E85-7136890BC467}"/>
              </a:ext>
            </a:extLst>
          </p:cNvPr>
          <p:cNvSpPr>
            <a:spLocks xmlns:a="http://schemas.openxmlformats.org/drawingml/2006/main" noGrp="1"/>
          </p:cNvSpPr>
          <p:nvPr/>
        </p:nvSpPr>
        <p:spPr>
          <a:xfrm xmlns:a="http://schemas.openxmlformats.org/drawingml/2006/main">
            <a:off x="514350" y="4143375"/>
            <a:ext cx="6286500" cy="571500"/>
          </a:xfrm>
          <a:prstGeom xmlns:a="http://schemas.openxmlformats.org/drawingml/2006/main" prst="rect">
            <a:avLst/>
          </a:prstGeom>
          <a:solidFill xmlns:a="http://schemas.openxmlformats.org/drawingml/2006/main">
            <a:srgbClr val="EEF1F3"/>
          </a:solidFill>
          <a:ln xmlns:a="http://schemas.openxmlformats.org/drawingml/2006/main" w="9525">
            <a:solidFill>
              <a:srgbClr val="B8C2CC"/>
            </a:solidFill>
            <a:prstDash val="solid"/>
          </a:ln>
        </p:spPr>
      </p:sp>
      <p:sp>
        <p:nvSpPr>
          <p:cNvPr id="16" name="">
            <a:extLst xmlns:a="http://schemas.openxmlformats.org/drawingml/2006/main">
              <a:ext uri="{FF2B5EF4-FFF2-40B4-BE49-F238E27FC236}">
                <a16:creationId xmlns:a16="http://schemas.microsoft.com/office/drawing/2014/main" id="{EEB1CD4A-0874-4B31-B504-EF037F8567BD}"/>
              </a:ext>
            </a:extLst>
          </p:cNvPr>
          <p:cNvSpPr>
            <a:spLocks xmlns:a="http://schemas.openxmlformats.org/drawingml/2006/main" noGrp="1"/>
          </p:cNvSpPr>
          <p:nvPr/>
        </p:nvSpPr>
        <p:spPr>
          <a:xfrm xmlns:a="http://schemas.openxmlformats.org/drawingml/2006/main">
            <a:off x="704850" y="4276725"/>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0F5F49"/>
                </a:solidFill>
              </a:defRPr>
            </a:pPr>
            <a:r>
              <a:rPr sz="1500" b="1" i="0">
                <a:solidFill>
                  <a:srgbClr val="0F5F49"/>
                </a:solidFill>
              </a:rPr>
              <a:t>Repositories</a:t>
            </a:r>
          </a:p>
        </p:txBody>
      </p:sp>
      <p:sp>
        <p:nvSpPr>
          <p:cNvPr id="17" name="">
            <a:extLst xmlns:a="http://schemas.openxmlformats.org/drawingml/2006/main">
              <a:ext uri="{FF2B5EF4-FFF2-40B4-BE49-F238E27FC236}">
                <a16:creationId xmlns:a16="http://schemas.microsoft.com/office/drawing/2014/main" id="{7A6C50C1-EBC5-4DD3-B3E2-F2AC01AF2561}"/>
              </a:ext>
            </a:extLst>
          </p:cNvPr>
          <p:cNvSpPr>
            <a:spLocks xmlns:a="http://schemas.openxmlformats.org/drawingml/2006/main" noGrp="1"/>
          </p:cNvSpPr>
          <p:nvPr/>
        </p:nvSpPr>
        <p:spPr>
          <a:xfrm xmlns:a="http://schemas.openxmlformats.org/drawingml/2006/main">
            <a:off x="2190750" y="4286250"/>
            <a:ext cx="428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17212B"/>
                </a:solidFill>
              </a:defRPr>
            </a:pPr>
            <a:r>
              <a:rPr sz="1425" b="0" i="0">
                <a:solidFill>
                  <a:srgbClr val="17212B"/>
                </a:solidFill>
              </a:rPr>
              <a:t>Interfaces plus UTF-8 CSV implementations</a:t>
            </a:r>
          </a:p>
        </p:txBody>
      </p:sp>
      <p:sp>
        <p:nvSpPr>
          <p:cNvPr id="18" name="">
            <a:extLst xmlns:a="http://schemas.openxmlformats.org/drawingml/2006/main">
              <a:ext uri="{FF2B5EF4-FFF2-40B4-BE49-F238E27FC236}">
                <a16:creationId xmlns:a16="http://schemas.microsoft.com/office/drawing/2014/main" id="{C9EB467C-44F4-4A33-A98A-4B5FDFACB91C}"/>
              </a:ext>
            </a:extLst>
          </p:cNvPr>
          <p:cNvSpPr>
            <a:spLocks xmlns:a="http://schemas.openxmlformats.org/drawingml/2006/main" noGrp="1"/>
          </p:cNvSpPr>
          <p:nvPr/>
        </p:nvSpPr>
        <p:spPr>
          <a:xfrm xmlns:a="http://schemas.openxmlformats.org/drawingml/2006/main">
            <a:off x="514350" y="4895850"/>
            <a:ext cx="6286500" cy="571500"/>
          </a:xfrm>
          <a:prstGeom xmlns:a="http://schemas.openxmlformats.org/drawingml/2006/main" prst="rect">
            <a:avLst/>
          </a:prstGeom>
          <a:solidFill xmlns:a="http://schemas.openxmlformats.org/drawingml/2006/main">
            <a:srgbClr val="EAF5F0"/>
          </a:solidFill>
          <a:ln xmlns:a="http://schemas.openxmlformats.org/drawingml/2006/main" w="9525">
            <a:solidFill>
              <a:srgbClr val="B8C2CC"/>
            </a:solidFill>
            <a:prstDash val="solid"/>
          </a:ln>
        </p:spPr>
      </p:sp>
      <p:sp>
        <p:nvSpPr>
          <p:cNvPr id="19" name="">
            <a:extLst xmlns:a="http://schemas.openxmlformats.org/drawingml/2006/main">
              <a:ext uri="{FF2B5EF4-FFF2-40B4-BE49-F238E27FC236}">
                <a16:creationId xmlns:a16="http://schemas.microsoft.com/office/drawing/2014/main" id="{AE2BEB9E-DF2A-40AB-BEAD-FDF53CA136CC}"/>
              </a:ext>
            </a:extLst>
          </p:cNvPr>
          <p:cNvSpPr>
            <a:spLocks xmlns:a="http://schemas.openxmlformats.org/drawingml/2006/main" noGrp="1"/>
          </p:cNvSpPr>
          <p:nvPr/>
        </p:nvSpPr>
        <p:spPr>
          <a:xfrm xmlns:a="http://schemas.openxmlformats.org/drawingml/2006/main">
            <a:off x="704850" y="50292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0F5F49"/>
                </a:solidFill>
              </a:defRPr>
            </a:pPr>
            <a:r>
              <a:rPr sz="1650" b="1" i="0">
                <a:solidFill>
                  <a:srgbClr val="0F5F49"/>
                </a:solidFill>
              </a:rPr>
              <a:t>Workspace</a:t>
            </a:r>
          </a:p>
        </p:txBody>
      </p:sp>
      <p:sp>
        <p:nvSpPr>
          <p:cNvPr id="20" name="">
            <a:extLst xmlns:a="http://schemas.openxmlformats.org/drawingml/2006/main">
              <a:ext uri="{FF2B5EF4-FFF2-40B4-BE49-F238E27FC236}">
                <a16:creationId xmlns:a16="http://schemas.microsoft.com/office/drawing/2014/main" id="{4A1DF934-4429-46BA-B385-0DBB8B0BD93C}"/>
              </a:ext>
            </a:extLst>
          </p:cNvPr>
          <p:cNvSpPr>
            <a:spLocks xmlns:a="http://schemas.openxmlformats.org/drawingml/2006/main" noGrp="1"/>
          </p:cNvSpPr>
          <p:nvPr/>
        </p:nvSpPr>
        <p:spPr>
          <a:xfrm xmlns:a="http://schemas.openxmlformats.org/drawingml/2006/main">
            <a:off x="2190750" y="5038725"/>
            <a:ext cx="428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17212B"/>
                </a:solidFill>
              </a:defRPr>
            </a:pPr>
            <a:r>
              <a:rPr sz="1425" b="0" i="0">
                <a:solidFill>
                  <a:srgbClr val="17212B"/>
                </a:solidFill>
              </a:rPr>
              <a:t>Project-local data/users/&lt;id&gt;</a:t>
            </a:r>
          </a:p>
        </p:txBody>
      </p:sp>
      <p:sp>
        <p:nvSpPr>
          <p:cNvPr id="21" name="">
            <a:extLst xmlns:a="http://schemas.openxmlformats.org/drawingml/2006/main">
              <a:ext uri="{FF2B5EF4-FFF2-40B4-BE49-F238E27FC236}">
                <a16:creationId xmlns:a16="http://schemas.microsoft.com/office/drawing/2014/main" id="{577851E1-F7C2-4236-B09F-2A86BDFD143C}"/>
              </a:ext>
            </a:extLst>
          </p:cNvPr>
          <p:cNvSpPr>
            <a:spLocks xmlns:a="http://schemas.openxmlformats.org/drawingml/2006/main" noGrp="1"/>
          </p:cNvSpPr>
          <p:nvPr/>
        </p:nvSpPr>
        <p:spPr>
          <a:xfrm xmlns:a="http://schemas.openxmlformats.org/drawingml/2006/main">
            <a:off x="7353300" y="1543050"/>
            <a:ext cx="19050" cy="4095750"/>
          </a:xfrm>
          <a:prstGeom xmlns:a="http://schemas.openxmlformats.org/drawingml/2006/main" prst="rect">
            <a:avLst/>
          </a:prstGeom>
          <a:solidFill xmlns:a="http://schemas.openxmlformats.org/drawingml/2006/main">
            <a:srgbClr val="B8C2CC"/>
          </a:solidFill>
          <a:ln xmlns:a="http://schemas.openxmlformats.org/drawingml/2006/main" w="0">
            <a:solidFill>
              <a:srgbClr val="B8C2CC"/>
            </a:solidFill>
            <a:prstDash val="solid"/>
          </a:ln>
        </p:spPr>
      </p:sp>
      <p:sp>
        <p:nvSpPr>
          <p:cNvPr id="22" name="">
            <a:extLst xmlns:a="http://schemas.openxmlformats.org/drawingml/2006/main">
              <a:ext uri="{FF2B5EF4-FFF2-40B4-BE49-F238E27FC236}">
                <a16:creationId xmlns:a16="http://schemas.microsoft.com/office/drawing/2014/main" id="{6FFC3C63-0D52-4DD0-84FF-3D9E56FD1900}"/>
              </a:ext>
            </a:extLst>
          </p:cNvPr>
          <p:cNvSpPr>
            <a:spLocks xmlns:a="http://schemas.openxmlformats.org/drawingml/2006/main" noGrp="1"/>
          </p:cNvSpPr>
          <p:nvPr/>
        </p:nvSpPr>
        <p:spPr>
          <a:xfrm xmlns:a="http://schemas.openxmlformats.org/drawingml/2006/main">
            <a:off x="7848600" y="15430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2B6CB0"/>
                </a:solidFill>
              </a:defRPr>
            </a:pPr>
            <a:r>
              <a:rPr sz="1125" b="1" i="0">
                <a:solidFill>
                  <a:srgbClr val="2B6CB0"/>
                </a:solidFill>
              </a:rPr>
              <a:t>EXPLICIT OTP ACTIONS</a:t>
            </a:r>
          </a:p>
        </p:txBody>
      </p:sp>
      <p:sp>
        <p:nvSpPr>
          <p:cNvPr id="23" name="">
            <a:extLst xmlns:a="http://schemas.openxmlformats.org/drawingml/2006/main">
              <a:ext uri="{FF2B5EF4-FFF2-40B4-BE49-F238E27FC236}">
                <a16:creationId xmlns:a16="http://schemas.microsoft.com/office/drawing/2014/main" id="{09A56D89-3453-413A-90B8-1480C49C7B55}"/>
              </a:ext>
            </a:extLst>
          </p:cNvPr>
          <p:cNvSpPr>
            <a:spLocks xmlns:a="http://schemas.openxmlformats.org/drawingml/2006/main" noGrp="1"/>
          </p:cNvSpPr>
          <p:nvPr/>
        </p:nvSpPr>
        <p:spPr>
          <a:xfrm xmlns:a="http://schemas.openxmlformats.org/drawingml/2006/main">
            <a:off x="7848600" y="1943100"/>
            <a:ext cx="3390900" cy="1066800"/>
          </a:xfrm>
          <a:prstGeom xmlns:a="http://schemas.openxmlformats.org/drawingml/2006/main" prst="rect">
            <a:avLst/>
          </a:prstGeom>
          <a:solidFill xmlns:a="http://schemas.openxmlformats.org/drawingml/2006/main">
            <a:srgbClr val="DCEAF8"/>
          </a:solidFill>
          <a:ln xmlns:a="http://schemas.openxmlformats.org/drawingml/2006/main" w="9525">
            <a:solidFill>
              <a:srgbClr val="2B6CB0"/>
            </a:solidFill>
            <a:prstDash val="solid"/>
          </a:ln>
        </p:spPr>
      </p:sp>
      <p:sp>
        <p:nvSpPr>
          <p:cNvPr id="24" name="">
            <a:extLst xmlns:a="http://schemas.openxmlformats.org/drawingml/2006/main">
              <a:ext uri="{FF2B5EF4-FFF2-40B4-BE49-F238E27FC236}">
                <a16:creationId xmlns:a16="http://schemas.microsoft.com/office/drawing/2014/main" id="{3CBEA258-C112-49C8-86EA-3FB2118CE844}"/>
              </a:ext>
            </a:extLst>
          </p:cNvPr>
          <p:cNvSpPr>
            <a:spLocks xmlns:a="http://schemas.openxmlformats.org/drawingml/2006/main" noGrp="1"/>
          </p:cNvSpPr>
          <p:nvPr/>
        </p:nvSpPr>
        <p:spPr>
          <a:xfrm xmlns:a="http://schemas.openxmlformats.org/drawingml/2006/main">
            <a:off x="8058150" y="2171700"/>
            <a:ext cx="2971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2B6CB0"/>
                </a:solidFill>
              </a:defRPr>
            </a:pPr>
            <a:r>
              <a:rPr sz="1725" b="1" i="0">
                <a:solidFill>
                  <a:srgbClr val="2B6CB0"/>
                </a:solidFill>
              </a:rPr>
              <a:t>EmailVerificationGateway</a:t>
            </a:r>
          </a:p>
        </p:txBody>
      </p:sp>
      <p:sp>
        <p:nvSpPr>
          <p:cNvPr id="25" name="">
            <a:extLst xmlns:a="http://schemas.openxmlformats.org/drawingml/2006/main">
              <a:ext uri="{FF2B5EF4-FFF2-40B4-BE49-F238E27FC236}">
                <a16:creationId xmlns:a16="http://schemas.microsoft.com/office/drawing/2014/main" id="{6745A32A-9C72-4D47-90D4-5E8B6182535F}"/>
              </a:ext>
            </a:extLst>
          </p:cNvPr>
          <p:cNvSpPr>
            <a:spLocks xmlns:a="http://schemas.openxmlformats.org/drawingml/2006/main" noGrp="1"/>
          </p:cNvSpPr>
          <p:nvPr/>
        </p:nvSpPr>
        <p:spPr>
          <a:xfrm xmlns:a="http://schemas.openxmlformats.org/drawingml/2006/main">
            <a:off x="8058150" y="2571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573"/>
                </a:solidFill>
              </a:defRPr>
            </a:pPr>
            <a:r>
              <a:rPr sz="1350" b="0" i="0">
                <a:solidFill>
                  <a:srgbClr val="5B6573"/>
                </a:solidFill>
              </a:rPr>
              <a:t>send · resend · verify</a:t>
            </a:r>
          </a:p>
        </p:txBody>
      </p:sp>
      <p:sp>
        <p:nvSpPr>
          <p:cNvPr id="26" name="">
            <a:extLst xmlns:a="http://schemas.openxmlformats.org/drawingml/2006/main">
              <a:ext uri="{FF2B5EF4-FFF2-40B4-BE49-F238E27FC236}">
                <a16:creationId xmlns:a16="http://schemas.microsoft.com/office/drawing/2014/main" id="{6FB1A1D8-6290-42E5-82AF-09D11870230C}"/>
              </a:ext>
            </a:extLst>
          </p:cNvPr>
          <p:cNvSpPr>
            <a:spLocks xmlns:a="http://schemas.openxmlformats.org/drawingml/2006/main" noGrp="1"/>
          </p:cNvSpPr>
          <p:nvPr/>
        </p:nvSpPr>
        <p:spPr>
          <a:xfrm xmlns:a="http://schemas.openxmlformats.org/drawingml/2006/main">
            <a:off x="9182100" y="314325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i="0">
                <a:solidFill>
                  <a:srgbClr val="2B6CB0"/>
                </a:solidFill>
              </a:defRPr>
            </a:pPr>
            <a:r>
              <a:rPr sz="2550" b="1" i="0">
                <a:solidFill>
                  <a:srgbClr val="2B6CB0"/>
                </a:solidFill>
              </a:rPr>
              <a:t>&gt;</a:t>
            </a:r>
          </a:p>
        </p:txBody>
      </p:sp>
      <p:sp>
        <p:nvSpPr>
          <p:cNvPr id="27" name="">
            <a:extLst xmlns:a="http://schemas.openxmlformats.org/drawingml/2006/main">
              <a:ext uri="{FF2B5EF4-FFF2-40B4-BE49-F238E27FC236}">
                <a16:creationId xmlns:a16="http://schemas.microsoft.com/office/drawing/2014/main" id="{A509BC83-1763-4F20-8D44-64A56500D0E2}"/>
              </a:ext>
            </a:extLst>
          </p:cNvPr>
          <p:cNvSpPr>
            <a:spLocks xmlns:a="http://schemas.openxmlformats.org/drawingml/2006/main" noGrp="1"/>
          </p:cNvSpPr>
          <p:nvPr/>
        </p:nvSpPr>
        <p:spPr>
          <a:xfrm xmlns:a="http://schemas.openxmlformats.org/drawingml/2006/main">
            <a:off x="7848600" y="3695700"/>
            <a:ext cx="3390900" cy="1428750"/>
          </a:xfrm>
          <a:prstGeom xmlns:a="http://schemas.openxmlformats.org/drawingml/2006/main" prst="rect">
            <a:avLst/>
          </a:prstGeom>
          <a:solidFill xmlns:a="http://schemas.openxmlformats.org/drawingml/2006/main">
            <a:srgbClr val="EAF5F0"/>
          </a:solidFill>
          <a:ln xmlns:a="http://schemas.openxmlformats.org/drawingml/2006/main" w="9525">
            <a:solidFill>
              <a:srgbClr val="16785B"/>
            </a:solidFill>
            <a:prstDash val="solid"/>
          </a:ln>
        </p:spPr>
      </p:sp>
      <p:sp>
        <p:nvSpPr>
          <p:cNvPr id="28" name="">
            <a:extLst xmlns:a="http://schemas.openxmlformats.org/drawingml/2006/main">
              <a:ext uri="{FF2B5EF4-FFF2-40B4-BE49-F238E27FC236}">
                <a16:creationId xmlns:a16="http://schemas.microsoft.com/office/drawing/2014/main" id="{D0D70C92-570D-4733-8767-F9AEAB17B46A}"/>
              </a:ext>
            </a:extLst>
          </p:cNvPr>
          <p:cNvSpPr>
            <a:spLocks xmlns:a="http://schemas.openxmlformats.org/drawingml/2006/main" noGrp="1"/>
          </p:cNvSpPr>
          <p:nvPr/>
        </p:nvSpPr>
        <p:spPr>
          <a:xfrm xmlns:a="http://schemas.openxmlformats.org/drawingml/2006/main">
            <a:off x="8058150" y="3924300"/>
            <a:ext cx="2971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F5F49"/>
                </a:solidFill>
              </a:defRPr>
            </a:pPr>
            <a:r>
              <a:rPr sz="1800" b="1" i="0">
                <a:solidFill>
                  <a:srgbClr val="0F5F49"/>
                </a:solidFill>
              </a:rPr>
              <a:t>Standalone OTP relay</a:t>
            </a:r>
          </a:p>
        </p:txBody>
      </p:sp>
      <p:sp>
        <p:nvSpPr>
          <p:cNvPr id="29" name="">
            <a:extLst xmlns:a="http://schemas.openxmlformats.org/drawingml/2006/main">
              <a:ext uri="{FF2B5EF4-FFF2-40B4-BE49-F238E27FC236}">
                <a16:creationId xmlns:a16="http://schemas.microsoft.com/office/drawing/2014/main" id="{B66E0210-657A-4FE4-A5AA-6A97B47EEE72}"/>
              </a:ext>
            </a:extLst>
          </p:cNvPr>
          <p:cNvSpPr>
            <a:spLocks xmlns:a="http://schemas.openxmlformats.org/drawingml/2006/main" noGrp="1"/>
          </p:cNvSpPr>
          <p:nvPr/>
        </p:nvSpPr>
        <p:spPr>
          <a:xfrm xmlns:a="http://schemas.openxmlformats.org/drawingml/2006/main">
            <a:off x="8058150" y="4343400"/>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17212B"/>
                </a:solidFill>
              </a:defRPr>
            </a:pPr>
            <a:r>
              <a:rPr sz="1425" b="0" i="0">
                <a:solidFill>
                  <a:srgbClr val="17212B"/>
                </a:solidFill>
              </a:rPr>
              <a:t>Challenge policy</a:t>
            </a:r>
          </a:p>
          <a:p xmlns:a="http://schemas.openxmlformats.org/drawingml/2006/main">
            <a:pPr algn="l">
              <a:buNone/>
              <a:defRPr sz="1425" b="0" i="0">
                <a:solidFill>
                  <a:srgbClr val="17212B"/>
                </a:solidFill>
              </a:defRPr>
            </a:pPr>
            <a:r>
              <a:rPr sz="1425" b="0" i="0">
                <a:solidFill>
                  <a:srgbClr val="17212B"/>
                </a:solidFill>
              </a:rPr>
              <a:t>HMAC code digests</a:t>
            </a:r>
          </a:p>
          <a:p xmlns:a="http://schemas.openxmlformats.org/drawingml/2006/main">
            <a:pPr algn="l">
              <a:buNone/>
              <a:defRPr sz="1425" b="0" i="0">
                <a:solidFill>
                  <a:srgbClr val="17212B"/>
                </a:solidFill>
              </a:defRPr>
            </a:pPr>
            <a:r>
              <a:rPr sz="1425" b="0" i="0">
                <a:solidFill>
                  <a:srgbClr val="17212B"/>
                </a:solidFill>
              </a:rPr>
              <a:t>HTTPS + STARTTLS SMTP</a:t>
            </a:r>
          </a:p>
        </p:txBody>
      </p:sp>
      <p:sp>
        <p:nvSpPr>
          <p:cNvPr id="30" name="">
            <a:extLst xmlns:a="http://schemas.openxmlformats.org/drawingml/2006/main">
              <a:ext uri="{FF2B5EF4-FFF2-40B4-BE49-F238E27FC236}">
                <a16:creationId xmlns:a16="http://schemas.microsoft.com/office/drawing/2014/main" id="{E4686874-ED6C-4C27-BA82-72BDC3436CB3}"/>
              </a:ext>
            </a:extLst>
          </p:cNvPr>
          <p:cNvSpPr>
            <a:spLocks xmlns:a="http://schemas.openxmlformats.org/drawingml/2006/main" noGrp="1"/>
          </p:cNvSpPr>
          <p:nvPr/>
        </p:nvSpPr>
        <p:spPr>
          <a:xfrm xmlns:a="http://schemas.openxmlformats.org/drawingml/2006/main">
            <a:off x="7848600" y="5429250"/>
            <a:ext cx="3390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i="0">
                <a:solidFill>
                  <a:srgbClr val="B42318"/>
                </a:solidFill>
              </a:defRPr>
            </a:pPr>
            <a:r>
              <a:rPr sz="1425" b="1" i="0">
                <a:solidFill>
                  <a:srgbClr val="B42318"/>
                </a:solidFill>
              </a:rPr>
              <a:t>No finance, login, role, session, or recovery-answer API crosses this boundary.</a:t>
            </a:r>
          </a:p>
        </p:txBody>
      </p:sp>
    </p:spTree>
    <p:extLst>
      <p:ext uri="{BB962C8B-B14F-4D97-AF65-F5344CB8AC3E}">
        <p14:creationId xmlns:p14="http://schemas.microsoft.com/office/powerpoint/2010/main" val="11940543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5EE53C6-FC50-482F-9F90-3DC333A64FDB}"/>
              </a:ext>
            </a:extLst>
          </p:cNvPr>
          <p:cNvSpPr>
            <a:spLocks xmlns:a="http://schemas.openxmlformats.org/drawingml/2006/main" noGrp="1"/>
          </p:cNvSpPr>
          <p:nvPr/>
        </p:nvSpPr>
        <p:spPr>
          <a:xfrm xmlns:a="http://schemas.openxmlformats.org/drawingml/2006/main">
            <a:off x="400050" y="247650"/>
            <a:ext cx="11391900" cy="38100"/>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2" name="">
            <a:extLst xmlns:a="http://schemas.openxmlformats.org/drawingml/2006/main">
              <a:ext uri="{FF2B5EF4-FFF2-40B4-BE49-F238E27FC236}">
                <a16:creationId xmlns:a16="http://schemas.microsoft.com/office/drawing/2014/main" id="{7286EE04-FBE9-4626-B96E-3D836EAD0096}"/>
              </a:ext>
            </a:extLst>
          </p:cNvPr>
          <p:cNvSpPr>
            <a:spLocks xmlns:a="http://schemas.openxmlformats.org/drawingml/2006/main" noGrp="1"/>
          </p:cNvSpPr>
          <p:nvPr/>
        </p:nvSpPr>
        <p:spPr>
          <a:xfrm xmlns:a="http://schemas.openxmlformats.org/drawingml/2006/main">
            <a:off x="457200" y="371475"/>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OOP DESIGN</a:t>
            </a:r>
          </a:p>
        </p:txBody>
      </p:sp>
      <p:sp>
        <p:nvSpPr>
          <p:cNvPr id="3" name="">
            <a:extLst xmlns:a="http://schemas.openxmlformats.org/drawingml/2006/main">
              <a:ext uri="{FF2B5EF4-FFF2-40B4-BE49-F238E27FC236}">
                <a16:creationId xmlns:a16="http://schemas.microsoft.com/office/drawing/2014/main" id="{6B33D297-7359-4A1B-9E5C-920727B638E8}"/>
              </a:ext>
            </a:extLst>
          </p:cNvPr>
          <p:cNvSpPr>
            <a:spLocks xmlns:a="http://schemas.openxmlformats.org/drawingml/2006/main" noGrp="1"/>
          </p:cNvSpPr>
          <p:nvPr/>
        </p:nvSpPr>
        <p:spPr>
          <a:xfrm xmlns:a="http://schemas.openxmlformats.org/drawingml/2006/main">
            <a:off x="457200" y="72390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7212B"/>
                </a:solidFill>
              </a:defRPr>
            </a:pPr>
            <a:r>
              <a:rPr sz="3000" b="1" i="0">
                <a:solidFill>
                  <a:srgbClr val="17212B"/>
                </a:solidFill>
              </a:rPr>
              <a:t>Polymorphism keeps financial impact consistent</a:t>
            </a:r>
          </a:p>
        </p:txBody>
      </p:sp>
      <p:sp>
        <p:nvSpPr>
          <p:cNvPr id="4" name="">
            <a:extLst xmlns:a="http://schemas.openxmlformats.org/drawingml/2006/main">
              <a:ext uri="{FF2B5EF4-FFF2-40B4-BE49-F238E27FC236}">
                <a16:creationId xmlns:a16="http://schemas.microsoft.com/office/drawing/2014/main" id="{03F13E8F-033B-486C-8F63-614B3CC19904}"/>
              </a:ext>
            </a:extLst>
          </p:cNvPr>
          <p:cNvSpPr>
            <a:spLocks xmlns:a="http://schemas.openxmlformats.org/drawingml/2006/main" noGrp="1"/>
          </p:cNvSpPr>
          <p:nvPr/>
        </p:nvSpPr>
        <p:spPr>
          <a:xfrm xmlns:a="http://schemas.openxmlformats.org/drawingml/2006/main">
            <a:off x="1127760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i="0">
                <a:solidFill>
                  <a:srgbClr val="5B6573"/>
                </a:solidFill>
              </a:defRPr>
            </a:pPr>
            <a:r>
              <a:rPr sz="1050" b="0" i="0">
                <a:solidFill>
                  <a:srgbClr val="5B6573"/>
                </a:solidFill>
              </a:rPr>
              <a:t>05</a:t>
            </a:r>
          </a:p>
        </p:txBody>
      </p:sp>
      <p:sp>
        <p:nvSpPr>
          <p:cNvPr id="5" name="">
            <a:extLst xmlns:a="http://schemas.openxmlformats.org/drawingml/2006/main">
              <a:ext uri="{FF2B5EF4-FFF2-40B4-BE49-F238E27FC236}">
                <a16:creationId xmlns:a16="http://schemas.microsoft.com/office/drawing/2014/main" id="{5EAE9173-C90B-428C-B42B-3D1C7FE70C42}"/>
              </a:ext>
            </a:extLst>
          </p:cNvPr>
          <p:cNvSpPr>
            <a:spLocks xmlns:a="http://schemas.openxmlformats.org/drawingml/2006/main" noGrp="1"/>
          </p:cNvSpPr>
          <p:nvPr/>
        </p:nvSpPr>
        <p:spPr>
          <a:xfrm xmlns:a="http://schemas.openxmlformats.org/drawingml/2006/main">
            <a:off x="666750" y="1733550"/>
            <a:ext cx="10858500" cy="876300"/>
          </a:xfrm>
          <a:prstGeom xmlns:a="http://schemas.openxmlformats.org/drawingml/2006/main" prst="rect">
            <a:avLst/>
          </a:prstGeom>
          <a:solidFill xmlns:a="http://schemas.openxmlformats.org/drawingml/2006/main">
            <a:srgbClr val="EAF5F0"/>
          </a:solidFill>
          <a:ln xmlns:a="http://schemas.openxmlformats.org/drawingml/2006/main" w="9525">
            <a:solidFill>
              <a:srgbClr val="16785B"/>
            </a:solidFill>
            <a:prstDash val="solid"/>
          </a:ln>
        </p:spPr>
      </p:sp>
      <p:sp>
        <p:nvSpPr>
          <p:cNvPr id="6" name="">
            <a:extLst xmlns:a="http://schemas.openxmlformats.org/drawingml/2006/main">
              <a:ext uri="{FF2B5EF4-FFF2-40B4-BE49-F238E27FC236}">
                <a16:creationId xmlns:a16="http://schemas.microsoft.com/office/drawing/2014/main" id="{23821044-BA4B-47C9-9795-2A110E4B0D80}"/>
              </a:ext>
            </a:extLst>
          </p:cNvPr>
          <p:cNvSpPr>
            <a:spLocks xmlns:a="http://schemas.openxmlformats.org/drawingml/2006/main" noGrp="1"/>
          </p:cNvSpPr>
          <p:nvPr/>
        </p:nvSpPr>
        <p:spPr>
          <a:xfrm xmlns:a="http://schemas.openxmlformats.org/drawingml/2006/main">
            <a:off x="876300" y="1924050"/>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i="0">
                <a:solidFill>
                  <a:srgbClr val="0F5F49"/>
                </a:solidFill>
              </a:defRPr>
            </a:pPr>
            <a:r>
              <a:rPr sz="2250" b="1" i="0">
                <a:solidFill>
                  <a:srgbClr val="0F5F49"/>
                </a:solidFill>
              </a:rPr>
              <a:t>abstract Transaction</a:t>
            </a:r>
          </a:p>
        </p:txBody>
      </p:sp>
      <p:sp>
        <p:nvSpPr>
          <p:cNvPr id="7" name="">
            <a:extLst xmlns:a="http://schemas.openxmlformats.org/drawingml/2006/main">
              <a:ext uri="{FF2B5EF4-FFF2-40B4-BE49-F238E27FC236}">
                <a16:creationId xmlns:a16="http://schemas.microsoft.com/office/drawing/2014/main" id="{0C4F08A0-65AF-4B6A-B68F-1497DC286937}"/>
              </a:ext>
            </a:extLst>
          </p:cNvPr>
          <p:cNvSpPr>
            <a:spLocks xmlns:a="http://schemas.openxmlformats.org/drawingml/2006/main" noGrp="1"/>
          </p:cNvSpPr>
          <p:nvPr/>
        </p:nvSpPr>
        <p:spPr>
          <a:xfrm xmlns:a="http://schemas.openxmlformats.org/drawingml/2006/main">
            <a:off x="4333875" y="1971675"/>
            <a:ext cx="666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0" i="0">
                <a:solidFill>
                  <a:srgbClr val="17212B"/>
                </a:solidFill>
              </a:defRPr>
            </a:pPr>
            <a:r>
              <a:rPr sz="1725" b="0" i="0">
                <a:solidFill>
                  <a:srgbClr val="17212B"/>
                </a:solidFill>
              </a:rPr>
              <a:t>private common state  |  abstract calculateImpact()</a:t>
            </a:r>
          </a:p>
        </p:txBody>
      </p:sp>
      <p:sp>
        <p:nvSpPr>
          <p:cNvPr id="8" name="">
            <a:extLst xmlns:a="http://schemas.openxmlformats.org/drawingml/2006/main">
              <a:ext uri="{FF2B5EF4-FFF2-40B4-BE49-F238E27FC236}">
                <a16:creationId xmlns:a16="http://schemas.microsoft.com/office/drawing/2014/main" id="{BF5CB138-2023-4B2C-8F86-971E0B7DFAC1}"/>
              </a:ext>
            </a:extLst>
          </p:cNvPr>
          <p:cNvSpPr>
            <a:spLocks xmlns:a="http://schemas.openxmlformats.org/drawingml/2006/main" noGrp="1"/>
          </p:cNvSpPr>
          <p:nvPr/>
        </p:nvSpPr>
        <p:spPr>
          <a:xfrm xmlns:a="http://schemas.openxmlformats.org/drawingml/2006/main">
            <a:off x="3657600" y="2609850"/>
            <a:ext cx="19050" cy="685800"/>
          </a:xfrm>
          <a:prstGeom xmlns:a="http://schemas.openxmlformats.org/drawingml/2006/main" prst="rect">
            <a:avLst/>
          </a:prstGeom>
          <a:solidFill xmlns:a="http://schemas.openxmlformats.org/drawingml/2006/main">
            <a:srgbClr val="B8C2CC"/>
          </a:solidFill>
          <a:ln xmlns:a="http://schemas.openxmlformats.org/drawingml/2006/main" w="0">
            <a:solidFill>
              <a:srgbClr val="B8C2CC"/>
            </a:solidFill>
            <a:prstDash val="solid"/>
          </a:ln>
        </p:spPr>
      </p:sp>
      <p:sp>
        <p:nvSpPr>
          <p:cNvPr id="9" name="">
            <a:extLst xmlns:a="http://schemas.openxmlformats.org/drawingml/2006/main">
              <a:ext uri="{FF2B5EF4-FFF2-40B4-BE49-F238E27FC236}">
                <a16:creationId xmlns:a16="http://schemas.microsoft.com/office/drawing/2014/main" id="{150E40F7-3DF9-4051-BE61-25ED5076B2FB}"/>
              </a:ext>
            </a:extLst>
          </p:cNvPr>
          <p:cNvSpPr>
            <a:spLocks xmlns:a="http://schemas.openxmlformats.org/drawingml/2006/main" noGrp="1"/>
          </p:cNvSpPr>
          <p:nvPr/>
        </p:nvSpPr>
        <p:spPr>
          <a:xfrm xmlns:a="http://schemas.openxmlformats.org/drawingml/2006/main">
            <a:off x="8534400" y="2609850"/>
            <a:ext cx="19050" cy="685800"/>
          </a:xfrm>
          <a:prstGeom xmlns:a="http://schemas.openxmlformats.org/drawingml/2006/main" prst="rect">
            <a:avLst/>
          </a:prstGeom>
          <a:solidFill xmlns:a="http://schemas.openxmlformats.org/drawingml/2006/main">
            <a:srgbClr val="B8C2CC"/>
          </a:solidFill>
          <a:ln xmlns:a="http://schemas.openxmlformats.org/drawingml/2006/main" w="0">
            <a:solidFill>
              <a:srgbClr val="B8C2CC"/>
            </a:solidFill>
            <a:prstDash val="solid"/>
          </a:ln>
        </p:spPr>
      </p:sp>
      <p:sp>
        <p:nvSpPr>
          <p:cNvPr id="10" name="">
            <a:extLst xmlns:a="http://schemas.openxmlformats.org/drawingml/2006/main">
              <a:ext uri="{FF2B5EF4-FFF2-40B4-BE49-F238E27FC236}">
                <a16:creationId xmlns:a16="http://schemas.microsoft.com/office/drawing/2014/main" id="{3CD8BA0A-029E-478A-A10C-6B40616E8058}"/>
              </a:ext>
            </a:extLst>
          </p:cNvPr>
          <p:cNvSpPr>
            <a:spLocks xmlns:a="http://schemas.openxmlformats.org/drawingml/2006/main" noGrp="1"/>
          </p:cNvSpPr>
          <p:nvPr/>
        </p:nvSpPr>
        <p:spPr>
          <a:xfrm xmlns:a="http://schemas.openxmlformats.org/drawingml/2006/main">
            <a:off x="1219200" y="3314700"/>
            <a:ext cx="3905250" cy="1200150"/>
          </a:xfrm>
          <a:prstGeom xmlns:a="http://schemas.openxmlformats.org/drawingml/2006/main" prst="rect">
            <a:avLst/>
          </a:prstGeom>
          <a:solidFill xmlns:a="http://schemas.openxmlformats.org/drawingml/2006/main">
            <a:srgbClr val="DCEAF8"/>
          </a:solidFill>
          <a:ln xmlns:a="http://schemas.openxmlformats.org/drawingml/2006/main" w="9525">
            <a:solidFill>
              <a:srgbClr val="2B6CB0"/>
            </a:solidFill>
            <a:prstDash val="solid"/>
          </a:ln>
        </p:spPr>
      </p:sp>
      <p:sp>
        <p:nvSpPr>
          <p:cNvPr id="11" name="">
            <a:extLst xmlns:a="http://schemas.openxmlformats.org/drawingml/2006/main">
              <a:ext uri="{FF2B5EF4-FFF2-40B4-BE49-F238E27FC236}">
                <a16:creationId xmlns:a16="http://schemas.microsoft.com/office/drawing/2014/main" id="{E0C6E895-4DEB-465F-8ADE-36DBF66E8114}"/>
              </a:ext>
            </a:extLst>
          </p:cNvPr>
          <p:cNvSpPr>
            <a:spLocks xmlns:a="http://schemas.openxmlformats.org/drawingml/2006/main" noGrp="1"/>
          </p:cNvSpPr>
          <p:nvPr/>
        </p:nvSpPr>
        <p:spPr>
          <a:xfrm xmlns:a="http://schemas.openxmlformats.org/drawingml/2006/main">
            <a:off x="1428750" y="35433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2B6CB0"/>
                </a:solidFill>
              </a:defRPr>
            </a:pPr>
            <a:r>
              <a:rPr sz="1875" b="1" i="0">
                <a:solidFill>
                  <a:srgbClr val="2B6CB0"/>
                </a:solidFill>
              </a:rPr>
              <a:t>Income extends Transaction</a:t>
            </a:r>
          </a:p>
        </p:txBody>
      </p:sp>
      <p:sp>
        <p:nvSpPr>
          <p:cNvPr id="12" name="">
            <a:extLst xmlns:a="http://schemas.openxmlformats.org/drawingml/2006/main">
              <a:ext uri="{FF2B5EF4-FFF2-40B4-BE49-F238E27FC236}">
                <a16:creationId xmlns:a16="http://schemas.microsoft.com/office/drawing/2014/main" id="{1EE0699E-3CBC-4A03-B05D-5E184C46940D}"/>
              </a:ext>
            </a:extLst>
          </p:cNvPr>
          <p:cNvSpPr>
            <a:spLocks xmlns:a="http://schemas.openxmlformats.org/drawingml/2006/main" noGrp="1"/>
          </p:cNvSpPr>
          <p:nvPr/>
        </p:nvSpPr>
        <p:spPr>
          <a:xfrm xmlns:a="http://schemas.openxmlformats.org/drawingml/2006/main">
            <a:off x="1428750" y="40386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17212B"/>
                </a:solidFill>
              </a:defRPr>
            </a:pPr>
            <a:r>
              <a:rPr sz="1575" b="0" i="0">
                <a:solidFill>
                  <a:srgbClr val="17212B"/>
                </a:solidFill>
              </a:rPr>
              <a:t>calculateImpact() = +amount</a:t>
            </a:r>
          </a:p>
        </p:txBody>
      </p:sp>
      <p:sp>
        <p:nvSpPr>
          <p:cNvPr id="13" name="">
            <a:extLst xmlns:a="http://schemas.openxmlformats.org/drawingml/2006/main">
              <a:ext uri="{FF2B5EF4-FFF2-40B4-BE49-F238E27FC236}">
                <a16:creationId xmlns:a16="http://schemas.microsoft.com/office/drawing/2014/main" id="{C932B467-EF49-4424-92CC-414414B10E81}"/>
              </a:ext>
            </a:extLst>
          </p:cNvPr>
          <p:cNvSpPr>
            <a:spLocks xmlns:a="http://schemas.openxmlformats.org/drawingml/2006/main" noGrp="1"/>
          </p:cNvSpPr>
          <p:nvPr/>
        </p:nvSpPr>
        <p:spPr>
          <a:xfrm xmlns:a="http://schemas.openxmlformats.org/drawingml/2006/main">
            <a:off x="7048500" y="3314700"/>
            <a:ext cx="3905250" cy="1200150"/>
          </a:xfrm>
          <a:prstGeom xmlns:a="http://schemas.openxmlformats.org/drawingml/2006/main" prst="rect">
            <a:avLst/>
          </a:prstGeom>
          <a:solidFill xmlns:a="http://schemas.openxmlformats.org/drawingml/2006/main">
            <a:srgbClr val="EEF1F3"/>
          </a:solidFill>
          <a:ln xmlns:a="http://schemas.openxmlformats.org/drawingml/2006/main" w="9525">
            <a:solidFill>
              <a:srgbClr val="B8C2CC"/>
            </a:solidFill>
            <a:prstDash val="solid"/>
          </a:ln>
        </p:spPr>
      </p:sp>
      <p:sp>
        <p:nvSpPr>
          <p:cNvPr id="14" name="">
            <a:extLst xmlns:a="http://schemas.openxmlformats.org/drawingml/2006/main">
              <a:ext uri="{FF2B5EF4-FFF2-40B4-BE49-F238E27FC236}">
                <a16:creationId xmlns:a16="http://schemas.microsoft.com/office/drawing/2014/main" id="{7AD5BC33-69FB-433D-88DB-4999FD9A5443}"/>
              </a:ext>
            </a:extLst>
          </p:cNvPr>
          <p:cNvSpPr>
            <a:spLocks xmlns:a="http://schemas.openxmlformats.org/drawingml/2006/main" noGrp="1"/>
          </p:cNvSpPr>
          <p:nvPr/>
        </p:nvSpPr>
        <p:spPr>
          <a:xfrm xmlns:a="http://schemas.openxmlformats.org/drawingml/2006/main">
            <a:off x="7258050" y="35433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B42318"/>
                </a:solidFill>
              </a:defRPr>
            </a:pPr>
            <a:r>
              <a:rPr sz="1875" b="1" i="0">
                <a:solidFill>
                  <a:srgbClr val="B42318"/>
                </a:solidFill>
              </a:rPr>
              <a:t>Expense extends Transaction</a:t>
            </a:r>
          </a:p>
        </p:txBody>
      </p:sp>
      <p:sp>
        <p:nvSpPr>
          <p:cNvPr id="15" name="">
            <a:extLst xmlns:a="http://schemas.openxmlformats.org/drawingml/2006/main">
              <a:ext uri="{FF2B5EF4-FFF2-40B4-BE49-F238E27FC236}">
                <a16:creationId xmlns:a16="http://schemas.microsoft.com/office/drawing/2014/main" id="{88F8BE45-6E22-4F70-894C-8F52C5B258D0}"/>
              </a:ext>
            </a:extLst>
          </p:cNvPr>
          <p:cNvSpPr>
            <a:spLocks xmlns:a="http://schemas.openxmlformats.org/drawingml/2006/main" noGrp="1"/>
          </p:cNvSpPr>
          <p:nvPr/>
        </p:nvSpPr>
        <p:spPr>
          <a:xfrm xmlns:a="http://schemas.openxmlformats.org/drawingml/2006/main">
            <a:off x="7258050" y="40386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17212B"/>
                </a:solidFill>
              </a:defRPr>
            </a:pPr>
            <a:r>
              <a:rPr sz="1575" b="0" i="0">
                <a:solidFill>
                  <a:srgbClr val="17212B"/>
                </a:solidFill>
              </a:rPr>
              <a:t>calculateImpact() = -amount</a:t>
            </a:r>
          </a:p>
        </p:txBody>
      </p:sp>
      <p:sp>
        <p:nvSpPr>
          <p:cNvPr id="16" name="">
            <a:extLst xmlns:a="http://schemas.openxmlformats.org/drawingml/2006/main">
              <a:ext uri="{FF2B5EF4-FFF2-40B4-BE49-F238E27FC236}">
                <a16:creationId xmlns:a16="http://schemas.microsoft.com/office/drawing/2014/main" id="{41B90DB1-C81D-436E-813C-5A6A5626E098}"/>
              </a:ext>
            </a:extLst>
          </p:cNvPr>
          <p:cNvSpPr>
            <a:spLocks xmlns:a="http://schemas.openxmlformats.org/drawingml/2006/main" noGrp="1"/>
          </p:cNvSpPr>
          <p:nvPr/>
        </p:nvSpPr>
        <p:spPr>
          <a:xfrm xmlns:a="http://schemas.openxmlformats.org/drawingml/2006/main">
            <a:off x="1219200" y="4857750"/>
            <a:ext cx="973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7212B"/>
                </a:solidFill>
              </a:defRPr>
            </a:pPr>
            <a:r>
              <a:rPr sz="1875" b="1" i="0">
                <a:solidFill>
                  <a:srgbClr val="17212B"/>
                </a:solidFill>
              </a:rPr>
              <a:t>FinanceService sums Transaction references — no subtype decision chain required.</a:t>
            </a:r>
          </a:p>
        </p:txBody>
      </p:sp>
      <p:sp>
        <p:nvSpPr>
          <p:cNvPr id="17" name="">
            <a:extLst xmlns:a="http://schemas.openxmlformats.org/drawingml/2006/main">
              <a:ext uri="{FF2B5EF4-FFF2-40B4-BE49-F238E27FC236}">
                <a16:creationId xmlns:a16="http://schemas.microsoft.com/office/drawing/2014/main" id="{8CF66D67-03CF-4E94-94AF-19B6704D53BD}"/>
              </a:ext>
            </a:extLst>
          </p:cNvPr>
          <p:cNvSpPr>
            <a:spLocks xmlns:a="http://schemas.openxmlformats.org/drawingml/2006/main" noGrp="1"/>
          </p:cNvSpPr>
          <p:nvPr/>
        </p:nvSpPr>
        <p:spPr>
          <a:xfrm xmlns:a="http://schemas.openxmlformats.org/drawingml/2006/main">
            <a:off x="819150" y="5619750"/>
            <a:ext cx="152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6785B"/>
                </a:solidFill>
              </a:defRPr>
            </a:pPr>
            <a:r>
              <a:rPr sz="1275" b="1" i="0">
                <a:solidFill>
                  <a:srgbClr val="16785B"/>
                </a:solidFill>
              </a:rPr>
              <a:t>Abstraction</a:t>
            </a:r>
          </a:p>
        </p:txBody>
      </p:sp>
      <p:sp>
        <p:nvSpPr>
          <p:cNvPr id="18" name="">
            <a:extLst xmlns:a="http://schemas.openxmlformats.org/drawingml/2006/main">
              <a:ext uri="{FF2B5EF4-FFF2-40B4-BE49-F238E27FC236}">
                <a16:creationId xmlns:a16="http://schemas.microsoft.com/office/drawing/2014/main" id="{63F53B29-C5F2-4641-A7F2-FAFBC6BA0906}"/>
              </a:ext>
            </a:extLst>
          </p:cNvPr>
          <p:cNvSpPr>
            <a:spLocks xmlns:a="http://schemas.openxmlformats.org/drawingml/2006/main" noGrp="1"/>
          </p:cNvSpPr>
          <p:nvPr/>
        </p:nvSpPr>
        <p:spPr>
          <a:xfrm xmlns:a="http://schemas.openxmlformats.org/drawingml/2006/main">
            <a:off x="2571750" y="5619750"/>
            <a:ext cx="152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6785B"/>
                </a:solidFill>
              </a:defRPr>
            </a:pPr>
            <a:r>
              <a:rPr sz="1275" b="1" i="0">
                <a:solidFill>
                  <a:srgbClr val="16785B"/>
                </a:solidFill>
              </a:rPr>
              <a:t>Inheritance</a:t>
            </a:r>
          </a:p>
        </p:txBody>
      </p:sp>
      <p:sp>
        <p:nvSpPr>
          <p:cNvPr id="19" name="">
            <a:extLst xmlns:a="http://schemas.openxmlformats.org/drawingml/2006/main">
              <a:ext uri="{FF2B5EF4-FFF2-40B4-BE49-F238E27FC236}">
                <a16:creationId xmlns:a16="http://schemas.microsoft.com/office/drawing/2014/main" id="{266CED3B-9F36-4BE6-B9D9-5ADA2CD4B6BA}"/>
              </a:ext>
            </a:extLst>
          </p:cNvPr>
          <p:cNvSpPr>
            <a:spLocks xmlns:a="http://schemas.openxmlformats.org/drawingml/2006/main" noGrp="1"/>
          </p:cNvSpPr>
          <p:nvPr/>
        </p:nvSpPr>
        <p:spPr>
          <a:xfrm xmlns:a="http://schemas.openxmlformats.org/drawingml/2006/main">
            <a:off x="4324350" y="5619750"/>
            <a:ext cx="1666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6785B"/>
                </a:solidFill>
              </a:defRPr>
            </a:pPr>
            <a:r>
              <a:rPr sz="1275" b="1" i="0">
                <a:solidFill>
                  <a:srgbClr val="16785B"/>
                </a:solidFill>
              </a:rPr>
              <a:t>Polymorphism</a:t>
            </a:r>
          </a:p>
        </p:txBody>
      </p:sp>
      <p:sp>
        <p:nvSpPr>
          <p:cNvPr id="20" name="">
            <a:extLst xmlns:a="http://schemas.openxmlformats.org/drawingml/2006/main">
              <a:ext uri="{FF2B5EF4-FFF2-40B4-BE49-F238E27FC236}">
                <a16:creationId xmlns:a16="http://schemas.microsoft.com/office/drawing/2014/main" id="{91B4DF47-4F0B-4EF2-8F19-DCDD58B74889}"/>
              </a:ext>
            </a:extLst>
          </p:cNvPr>
          <p:cNvSpPr>
            <a:spLocks xmlns:a="http://schemas.openxmlformats.org/drawingml/2006/main" noGrp="1"/>
          </p:cNvSpPr>
          <p:nvPr/>
        </p:nvSpPr>
        <p:spPr>
          <a:xfrm xmlns:a="http://schemas.openxmlformats.org/drawingml/2006/main">
            <a:off x="6219825" y="5619750"/>
            <a:ext cx="1666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6785B"/>
                </a:solidFill>
              </a:defRPr>
            </a:pPr>
            <a:r>
              <a:rPr sz="1275" b="1" i="0">
                <a:solidFill>
                  <a:srgbClr val="16785B"/>
                </a:solidFill>
              </a:rPr>
              <a:t>Encapsulation</a:t>
            </a:r>
          </a:p>
        </p:txBody>
      </p:sp>
      <p:sp>
        <p:nvSpPr>
          <p:cNvPr id="21" name="">
            <a:extLst xmlns:a="http://schemas.openxmlformats.org/drawingml/2006/main">
              <a:ext uri="{FF2B5EF4-FFF2-40B4-BE49-F238E27FC236}">
                <a16:creationId xmlns:a16="http://schemas.microsoft.com/office/drawing/2014/main" id="{E4254E3A-30FF-4AB7-90FD-0B7BDBB18C12}"/>
              </a:ext>
            </a:extLst>
          </p:cNvPr>
          <p:cNvSpPr>
            <a:spLocks xmlns:a="http://schemas.openxmlformats.org/drawingml/2006/main" noGrp="1"/>
          </p:cNvSpPr>
          <p:nvPr/>
        </p:nvSpPr>
        <p:spPr>
          <a:xfrm xmlns:a="http://schemas.openxmlformats.org/drawingml/2006/main">
            <a:off x="8115300" y="5619750"/>
            <a:ext cx="1381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6785B"/>
                </a:solidFill>
              </a:defRPr>
            </a:pPr>
            <a:r>
              <a:rPr sz="1275" b="1" i="0">
                <a:solidFill>
                  <a:srgbClr val="16785B"/>
                </a:solidFill>
              </a:rPr>
              <a:t>Interfaces</a:t>
            </a:r>
          </a:p>
        </p:txBody>
      </p:sp>
      <p:sp>
        <p:nvSpPr>
          <p:cNvPr id="22" name="">
            <a:extLst xmlns:a="http://schemas.openxmlformats.org/drawingml/2006/main">
              <a:ext uri="{FF2B5EF4-FFF2-40B4-BE49-F238E27FC236}">
                <a16:creationId xmlns:a16="http://schemas.microsoft.com/office/drawing/2014/main" id="{FC90BC61-DE76-422A-A529-C89D55657AEC}"/>
              </a:ext>
            </a:extLst>
          </p:cNvPr>
          <p:cNvSpPr>
            <a:spLocks xmlns:a="http://schemas.openxmlformats.org/drawingml/2006/main" noGrp="1"/>
          </p:cNvSpPr>
          <p:nvPr/>
        </p:nvSpPr>
        <p:spPr>
          <a:xfrm xmlns:a="http://schemas.openxmlformats.org/drawingml/2006/main">
            <a:off x="9715500" y="5619750"/>
            <a:ext cx="161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6785B"/>
                </a:solidFill>
              </a:defRPr>
            </a:pPr>
            <a:r>
              <a:rPr sz="1275" b="1" i="0">
                <a:solidFill>
                  <a:srgbClr val="16785B"/>
                </a:solidFill>
              </a:rPr>
              <a:t>Composition</a:t>
            </a:r>
          </a:p>
        </p:txBody>
      </p:sp>
    </p:spTree>
    <p:extLst>
      <p:ext uri="{BB962C8B-B14F-4D97-AF65-F5344CB8AC3E}">
        <p14:creationId xmlns:p14="http://schemas.microsoft.com/office/powerpoint/2010/main" val="82748231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E6AAF12-4ACD-4D8F-A54A-6C05672D4E7E}"/>
              </a:ext>
            </a:extLst>
          </p:cNvPr>
          <p:cNvSpPr>
            <a:spLocks xmlns:a="http://schemas.openxmlformats.org/drawingml/2006/main" noGrp="1"/>
          </p:cNvSpPr>
          <p:nvPr/>
        </p:nvSpPr>
        <p:spPr>
          <a:xfrm xmlns:a="http://schemas.openxmlformats.org/drawingml/2006/main">
            <a:off x="400050" y="247650"/>
            <a:ext cx="11391900" cy="38100"/>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2" name="">
            <a:extLst xmlns:a="http://schemas.openxmlformats.org/drawingml/2006/main">
              <a:ext uri="{FF2B5EF4-FFF2-40B4-BE49-F238E27FC236}">
                <a16:creationId xmlns:a16="http://schemas.microsoft.com/office/drawing/2014/main" id="{013B24FD-DBB1-4A9E-B4F2-EFC5A31F71C2}"/>
              </a:ext>
            </a:extLst>
          </p:cNvPr>
          <p:cNvSpPr>
            <a:spLocks xmlns:a="http://schemas.openxmlformats.org/drawingml/2006/main" noGrp="1"/>
          </p:cNvSpPr>
          <p:nvPr/>
        </p:nvSpPr>
        <p:spPr>
          <a:xfrm xmlns:a="http://schemas.openxmlformats.org/drawingml/2006/main">
            <a:off x="457200" y="371475"/>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FINANCE ENGINE</a:t>
            </a:r>
          </a:p>
        </p:txBody>
      </p:sp>
      <p:sp>
        <p:nvSpPr>
          <p:cNvPr id="3" name="">
            <a:extLst xmlns:a="http://schemas.openxmlformats.org/drawingml/2006/main">
              <a:ext uri="{FF2B5EF4-FFF2-40B4-BE49-F238E27FC236}">
                <a16:creationId xmlns:a16="http://schemas.microsoft.com/office/drawing/2014/main" id="{DF4EB273-C40C-478B-A879-412A2592F3E2}"/>
              </a:ext>
            </a:extLst>
          </p:cNvPr>
          <p:cNvSpPr>
            <a:spLocks xmlns:a="http://schemas.openxmlformats.org/drawingml/2006/main" noGrp="1"/>
          </p:cNvSpPr>
          <p:nvPr/>
        </p:nvSpPr>
        <p:spPr>
          <a:xfrm xmlns:a="http://schemas.openxmlformats.org/drawingml/2006/main">
            <a:off x="457200" y="72390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7212B"/>
                </a:solidFill>
              </a:defRPr>
            </a:pPr>
            <a:r>
              <a:rPr sz="3000" b="1" i="0">
                <a:solidFill>
                  <a:srgbClr val="17212B"/>
                </a:solidFill>
              </a:rPr>
              <a:t>One ledger rule keeps every account total consistent</a:t>
            </a:r>
          </a:p>
        </p:txBody>
      </p:sp>
      <p:sp>
        <p:nvSpPr>
          <p:cNvPr id="4" name="">
            <a:extLst xmlns:a="http://schemas.openxmlformats.org/drawingml/2006/main">
              <a:ext uri="{FF2B5EF4-FFF2-40B4-BE49-F238E27FC236}">
                <a16:creationId xmlns:a16="http://schemas.microsoft.com/office/drawing/2014/main" id="{1AA73951-08A5-49EA-AC32-A22C1203688D}"/>
              </a:ext>
            </a:extLst>
          </p:cNvPr>
          <p:cNvSpPr>
            <a:spLocks xmlns:a="http://schemas.openxmlformats.org/drawingml/2006/main" noGrp="1"/>
          </p:cNvSpPr>
          <p:nvPr/>
        </p:nvSpPr>
        <p:spPr>
          <a:xfrm xmlns:a="http://schemas.openxmlformats.org/drawingml/2006/main">
            <a:off x="1127760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i="0">
                <a:solidFill>
                  <a:srgbClr val="5B6573"/>
                </a:solidFill>
              </a:defRPr>
            </a:pPr>
            <a:r>
              <a:rPr sz="1050" b="0" i="0">
                <a:solidFill>
                  <a:srgbClr val="5B6573"/>
                </a:solidFill>
              </a:rPr>
              <a:t>06</a:t>
            </a:r>
          </a:p>
        </p:txBody>
      </p:sp>
      <p:sp>
        <p:nvSpPr>
          <p:cNvPr id="5" name="">
            <a:extLst xmlns:a="http://schemas.openxmlformats.org/drawingml/2006/main">
              <a:ext uri="{FF2B5EF4-FFF2-40B4-BE49-F238E27FC236}">
                <a16:creationId xmlns:a16="http://schemas.microsoft.com/office/drawing/2014/main" id="{91F811A4-F04E-4D05-A125-FA94E941ED14}"/>
              </a:ext>
            </a:extLst>
          </p:cNvPr>
          <p:cNvSpPr>
            <a:spLocks xmlns:a="http://schemas.openxmlformats.org/drawingml/2006/main" noGrp="1"/>
          </p:cNvSpPr>
          <p:nvPr/>
        </p:nvSpPr>
        <p:spPr>
          <a:xfrm xmlns:a="http://schemas.openxmlformats.org/drawingml/2006/main">
            <a:off x="514350" y="1619250"/>
            <a:ext cx="11163300" cy="876300"/>
          </a:xfrm>
          <a:prstGeom xmlns:a="http://schemas.openxmlformats.org/drawingml/2006/main" prst="rect">
            <a:avLst/>
          </a:prstGeom>
          <a:solidFill xmlns:a="http://schemas.openxmlformats.org/drawingml/2006/main">
            <a:srgbClr val="EAF5F0"/>
          </a:solidFill>
          <a:ln xmlns:a="http://schemas.openxmlformats.org/drawingml/2006/main" w="9525">
            <a:solidFill>
              <a:srgbClr val="16785B"/>
            </a:solidFill>
            <a:prstDash val="solid"/>
          </a:ln>
        </p:spPr>
      </p:sp>
      <p:sp>
        <p:nvSpPr>
          <p:cNvPr id="6" name="">
            <a:extLst xmlns:a="http://schemas.openxmlformats.org/drawingml/2006/main">
              <a:ext uri="{FF2B5EF4-FFF2-40B4-BE49-F238E27FC236}">
                <a16:creationId xmlns:a16="http://schemas.microsoft.com/office/drawing/2014/main" id="{5F588AA0-B5AE-4D8F-B4A2-975CAEC77D43}"/>
              </a:ext>
            </a:extLst>
          </p:cNvPr>
          <p:cNvSpPr>
            <a:spLocks xmlns:a="http://schemas.openxmlformats.org/drawingml/2006/main" noGrp="1"/>
          </p:cNvSpPr>
          <p:nvPr/>
        </p:nvSpPr>
        <p:spPr>
          <a:xfrm xmlns:a="http://schemas.openxmlformats.org/drawingml/2006/main">
            <a:off x="742950" y="18383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F5F49"/>
                </a:solidFill>
              </a:defRPr>
            </a:pPr>
            <a:r>
              <a:rPr sz="1350" b="1" i="0">
                <a:solidFill>
                  <a:srgbClr val="0F5F49"/>
                </a:solidFill>
              </a:rPr>
              <a:t>BALANCE</a:t>
            </a:r>
          </a:p>
        </p:txBody>
      </p:sp>
      <p:sp>
        <p:nvSpPr>
          <p:cNvPr id="7" name="">
            <a:extLst xmlns:a="http://schemas.openxmlformats.org/drawingml/2006/main">
              <a:ext uri="{FF2B5EF4-FFF2-40B4-BE49-F238E27FC236}">
                <a16:creationId xmlns:a16="http://schemas.microsoft.com/office/drawing/2014/main" id="{3A71CF50-318C-42E3-8D5B-AA0A3177C7B1}"/>
              </a:ext>
            </a:extLst>
          </p:cNvPr>
          <p:cNvSpPr>
            <a:spLocks xmlns:a="http://schemas.openxmlformats.org/drawingml/2006/main" noGrp="1"/>
          </p:cNvSpPr>
          <p:nvPr/>
        </p:nvSpPr>
        <p:spPr>
          <a:xfrm xmlns:a="http://schemas.openxmlformats.org/drawingml/2006/main">
            <a:off x="2209800" y="1781175"/>
            <a:ext cx="885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17212B"/>
                </a:solidFill>
              </a:defRPr>
            </a:pPr>
            <a:r>
              <a:rPr sz="1800" b="1" i="0">
                <a:solidFill>
                  <a:srgbClr val="17212B"/>
                </a:solidFill>
              </a:rPr>
              <a:t>opening + income - expense + incoming transfers - outgoing transfers</a:t>
            </a:r>
          </a:p>
        </p:txBody>
      </p:sp>
      <p:sp>
        <p:nvSpPr>
          <p:cNvPr id="8" name="">
            <a:extLst xmlns:a="http://schemas.openxmlformats.org/drawingml/2006/main">
              <a:ext uri="{FF2B5EF4-FFF2-40B4-BE49-F238E27FC236}">
                <a16:creationId xmlns:a16="http://schemas.microsoft.com/office/drawing/2014/main" id="{DB117BBC-4D44-4E50-BD96-67FAC23E6B82}"/>
              </a:ext>
            </a:extLst>
          </p:cNvPr>
          <p:cNvSpPr>
            <a:spLocks xmlns:a="http://schemas.openxmlformats.org/drawingml/2006/main" noGrp="1"/>
          </p:cNvSpPr>
          <p:nvPr/>
        </p:nvSpPr>
        <p:spPr>
          <a:xfrm xmlns:a="http://schemas.openxmlformats.org/drawingml/2006/main">
            <a:off x="742950" y="219075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B6573"/>
                </a:solidFill>
              </a:defRPr>
            </a:pPr>
            <a:r>
              <a:rPr sz="1275" b="0" i="0">
                <a:solidFill>
                  <a:srgbClr val="5B6573"/>
                </a:solidFill>
              </a:rPr>
              <a:t>Transfers move value between accounts but do not change total income, expense, cash flow, or portfolio balance.</a:t>
            </a:r>
          </a:p>
        </p:txBody>
      </p:sp>
      <p:sp>
        <p:nvSpPr>
          <p:cNvPr id="9" name="">
            <a:extLst xmlns:a="http://schemas.openxmlformats.org/drawingml/2006/main">
              <a:ext uri="{FF2B5EF4-FFF2-40B4-BE49-F238E27FC236}">
                <a16:creationId xmlns:a16="http://schemas.microsoft.com/office/drawing/2014/main" id="{743EB0E9-9A66-414B-ABA7-FB2AE82A7B1F}"/>
              </a:ext>
            </a:extLst>
          </p:cNvPr>
          <p:cNvSpPr>
            <a:spLocks xmlns:a="http://schemas.openxmlformats.org/drawingml/2006/main" noGrp="1"/>
          </p:cNvSpPr>
          <p:nvPr/>
        </p:nvSpPr>
        <p:spPr>
          <a:xfrm xmlns:a="http://schemas.openxmlformats.org/drawingml/2006/main">
            <a:off x="514350" y="29146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RECORD</a:t>
            </a:r>
          </a:p>
        </p:txBody>
      </p:sp>
      <p:sp>
        <p:nvSpPr>
          <p:cNvPr id="10" name="">
            <a:extLst xmlns:a="http://schemas.openxmlformats.org/drawingml/2006/main">
              <a:ext uri="{FF2B5EF4-FFF2-40B4-BE49-F238E27FC236}">
                <a16:creationId xmlns:a16="http://schemas.microsoft.com/office/drawing/2014/main" id="{2D1CC58C-8CD8-4A28-A5D2-F1EED05EB6F2}"/>
              </a:ext>
            </a:extLst>
          </p:cNvPr>
          <p:cNvSpPr>
            <a:spLocks xmlns:a="http://schemas.openxmlformats.org/drawingml/2006/main" noGrp="1"/>
          </p:cNvSpPr>
          <p:nvPr/>
        </p:nvSpPr>
        <p:spPr>
          <a:xfrm xmlns:a="http://schemas.openxmlformats.org/drawingml/2006/main">
            <a:off x="514350" y="3314700"/>
            <a:ext cx="24003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17212B"/>
                </a:solidFill>
              </a:defRPr>
            </a:pPr>
            <a:r>
              <a:rPr sz="1575" b="0" i="0">
                <a:solidFill>
                  <a:srgbClr val="17212B"/>
                </a:solidFill>
              </a:rPr>
              <a:t>• Income</a:t>
            </a:r>
          </a:p>
          <a:p xmlns:a="http://schemas.openxmlformats.org/drawingml/2006/main">
            <a:pPr algn="l">
              <a:buNone/>
              <a:defRPr sz="1575" b="0" i="0">
                <a:solidFill>
                  <a:srgbClr val="17212B"/>
                </a:solidFill>
              </a:defRPr>
            </a:pPr>
            <a:r>
              <a:rPr sz="1575" b="0" i="0">
                <a:solidFill>
                  <a:srgbClr val="17212B"/>
                </a:solidFill>
              </a:rPr>
              <a:t>• Expense</a:t>
            </a:r>
          </a:p>
          <a:p xmlns:a="http://schemas.openxmlformats.org/drawingml/2006/main">
            <a:pPr algn="l">
              <a:buNone/>
              <a:defRPr sz="1575" b="0" i="0">
                <a:solidFill>
                  <a:srgbClr val="17212B"/>
                </a:solidFill>
              </a:defRPr>
            </a:pPr>
            <a:r>
              <a:rPr sz="1575" b="0" i="0">
                <a:solidFill>
                  <a:srgbClr val="17212B"/>
                </a:solidFill>
              </a:rPr>
              <a:t>• Transfer</a:t>
            </a:r>
          </a:p>
          <a:p xmlns:a="http://schemas.openxmlformats.org/drawingml/2006/main">
            <a:pPr algn="l">
              <a:buNone/>
              <a:defRPr sz="1575" b="0" i="0">
                <a:solidFill>
                  <a:srgbClr val="17212B"/>
                </a:solidFill>
              </a:defRPr>
            </a:pPr>
            <a:r>
              <a:rPr sz="1575" b="0" i="0">
                <a:solidFill>
                  <a:srgbClr val="17212B"/>
                </a:solidFill>
              </a:rPr>
              <a:t>• Recurring</a:t>
            </a:r>
          </a:p>
          <a:p xmlns:a="http://schemas.openxmlformats.org/drawingml/2006/main">
            <a:pPr algn="l">
              <a:buNone/>
              <a:defRPr sz="1575" b="0" i="0">
                <a:solidFill>
                  <a:srgbClr val="17212B"/>
                </a:solidFill>
              </a:defRPr>
            </a:pPr>
            <a:r>
              <a:rPr sz="1575" b="0" i="0">
                <a:solidFill>
                  <a:srgbClr val="17212B"/>
                </a:solidFill>
              </a:rPr>
              <a:t>• Quick Entry</a:t>
            </a:r>
          </a:p>
        </p:txBody>
      </p:sp>
      <p:sp>
        <p:nvSpPr>
          <p:cNvPr id="11" name="">
            <a:extLst xmlns:a="http://schemas.openxmlformats.org/drawingml/2006/main">
              <a:ext uri="{FF2B5EF4-FFF2-40B4-BE49-F238E27FC236}">
                <a16:creationId xmlns:a16="http://schemas.microsoft.com/office/drawing/2014/main" id="{4571F09D-CD1D-4ADF-A670-2047671331C9}"/>
              </a:ext>
            </a:extLst>
          </p:cNvPr>
          <p:cNvSpPr>
            <a:spLocks xmlns:a="http://schemas.openxmlformats.org/drawingml/2006/main" noGrp="1"/>
          </p:cNvSpPr>
          <p:nvPr/>
        </p:nvSpPr>
        <p:spPr>
          <a:xfrm xmlns:a="http://schemas.openxmlformats.org/drawingml/2006/main">
            <a:off x="3305175" y="29146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ORGANIZE</a:t>
            </a:r>
          </a:p>
        </p:txBody>
      </p:sp>
      <p:sp>
        <p:nvSpPr>
          <p:cNvPr id="12" name="">
            <a:extLst xmlns:a="http://schemas.openxmlformats.org/drawingml/2006/main">
              <a:ext uri="{FF2B5EF4-FFF2-40B4-BE49-F238E27FC236}">
                <a16:creationId xmlns:a16="http://schemas.microsoft.com/office/drawing/2014/main" id="{B4315A74-7D4D-47A1-9EAE-C3E62EB6C8CA}"/>
              </a:ext>
            </a:extLst>
          </p:cNvPr>
          <p:cNvSpPr>
            <a:spLocks xmlns:a="http://schemas.openxmlformats.org/drawingml/2006/main" noGrp="1"/>
          </p:cNvSpPr>
          <p:nvPr/>
        </p:nvSpPr>
        <p:spPr>
          <a:xfrm xmlns:a="http://schemas.openxmlformats.org/drawingml/2006/main">
            <a:off x="3305175" y="3314700"/>
            <a:ext cx="24003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17212B"/>
                </a:solidFill>
              </a:defRPr>
            </a:pPr>
            <a:r>
              <a:rPr sz="1575" b="0" i="0">
                <a:solidFill>
                  <a:srgbClr val="17212B"/>
                </a:solidFill>
              </a:rPr>
              <a:t>• Accounts</a:t>
            </a:r>
          </a:p>
          <a:p xmlns:a="http://schemas.openxmlformats.org/drawingml/2006/main">
            <a:pPr algn="l">
              <a:buNone/>
              <a:defRPr sz="1575" b="0" i="0">
                <a:solidFill>
                  <a:srgbClr val="17212B"/>
                </a:solidFill>
              </a:defRPr>
            </a:pPr>
            <a:r>
              <a:rPr sz="1575" b="0" i="0">
                <a:solidFill>
                  <a:srgbClr val="17212B"/>
                </a:solidFill>
              </a:rPr>
              <a:t>• Categories</a:t>
            </a:r>
          </a:p>
          <a:p xmlns:a="http://schemas.openxmlformats.org/drawingml/2006/main">
            <a:pPr algn="l">
              <a:buNone/>
              <a:defRPr sz="1575" b="0" i="0">
                <a:solidFill>
                  <a:srgbClr val="17212B"/>
                </a:solidFill>
              </a:defRPr>
            </a:pPr>
            <a:r>
              <a:rPr sz="1575" b="0" i="0">
                <a:solidFill>
                  <a:srgbClr val="17212B"/>
                </a:solidFill>
              </a:rPr>
              <a:t>• Tags</a:t>
            </a:r>
          </a:p>
          <a:p xmlns:a="http://schemas.openxmlformats.org/drawingml/2006/main">
            <a:pPr algn="l">
              <a:buNone/>
              <a:defRPr sz="1575" b="0" i="0">
                <a:solidFill>
                  <a:srgbClr val="17212B"/>
                </a:solidFill>
              </a:defRPr>
            </a:pPr>
            <a:r>
              <a:rPr sz="1575" b="0" i="0">
                <a:solidFill>
                  <a:srgbClr val="17212B"/>
                </a:solidFill>
              </a:rPr>
              <a:t>• Cards</a:t>
            </a:r>
          </a:p>
          <a:p xmlns:a="http://schemas.openxmlformats.org/drawingml/2006/main">
            <a:pPr algn="l">
              <a:buNone/>
              <a:defRPr sz="1575" b="0" i="0">
                <a:solidFill>
                  <a:srgbClr val="17212B"/>
                </a:solidFill>
              </a:defRPr>
            </a:pPr>
            <a:r>
              <a:rPr sz="1575" b="0" i="0">
                <a:solidFill>
                  <a:srgbClr val="17212B"/>
                </a:solidFill>
              </a:rPr>
              <a:t>• Currency</a:t>
            </a:r>
          </a:p>
        </p:txBody>
      </p:sp>
      <p:sp>
        <p:nvSpPr>
          <p:cNvPr id="13" name="">
            <a:extLst xmlns:a="http://schemas.openxmlformats.org/drawingml/2006/main">
              <a:ext uri="{FF2B5EF4-FFF2-40B4-BE49-F238E27FC236}">
                <a16:creationId xmlns:a16="http://schemas.microsoft.com/office/drawing/2014/main" id="{DFE1E2DE-8239-4CF0-A6A4-A02E95319983}"/>
              </a:ext>
            </a:extLst>
          </p:cNvPr>
          <p:cNvSpPr>
            <a:spLocks xmlns:a="http://schemas.openxmlformats.org/drawingml/2006/main" noGrp="1"/>
          </p:cNvSpPr>
          <p:nvPr/>
        </p:nvSpPr>
        <p:spPr>
          <a:xfrm xmlns:a="http://schemas.openxmlformats.org/drawingml/2006/main">
            <a:off x="6096000" y="29146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PLAN</a:t>
            </a:r>
          </a:p>
        </p:txBody>
      </p:sp>
      <p:sp>
        <p:nvSpPr>
          <p:cNvPr id="14" name="">
            <a:extLst xmlns:a="http://schemas.openxmlformats.org/drawingml/2006/main">
              <a:ext uri="{FF2B5EF4-FFF2-40B4-BE49-F238E27FC236}">
                <a16:creationId xmlns:a16="http://schemas.microsoft.com/office/drawing/2014/main" id="{9B3EF5E1-10B1-4752-96CC-8D2E3DBCD364}"/>
              </a:ext>
            </a:extLst>
          </p:cNvPr>
          <p:cNvSpPr>
            <a:spLocks xmlns:a="http://schemas.openxmlformats.org/drawingml/2006/main" noGrp="1"/>
          </p:cNvSpPr>
          <p:nvPr/>
        </p:nvSpPr>
        <p:spPr>
          <a:xfrm xmlns:a="http://schemas.openxmlformats.org/drawingml/2006/main">
            <a:off x="6096000" y="3314700"/>
            <a:ext cx="24003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17212B"/>
                </a:solidFill>
              </a:defRPr>
            </a:pPr>
            <a:r>
              <a:rPr sz="1575" b="0" i="0">
                <a:solidFill>
                  <a:srgbClr val="17212B"/>
                </a:solidFill>
              </a:rPr>
              <a:t>• Budgets</a:t>
            </a:r>
          </a:p>
          <a:p xmlns:a="http://schemas.openxmlformats.org/drawingml/2006/main">
            <a:pPr algn="l">
              <a:buNone/>
              <a:defRPr sz="1575" b="0" i="0">
                <a:solidFill>
                  <a:srgbClr val="17212B"/>
                </a:solidFill>
              </a:defRPr>
            </a:pPr>
            <a:r>
              <a:rPr sz="1575" b="0" i="0">
                <a:solidFill>
                  <a:srgbClr val="17212B"/>
                </a:solidFill>
              </a:rPr>
              <a:t>• Savings goals</a:t>
            </a:r>
          </a:p>
          <a:p xmlns:a="http://schemas.openxmlformats.org/drawingml/2006/main">
            <a:pPr algn="l">
              <a:buNone/>
              <a:defRPr sz="1575" b="0" i="0">
                <a:solidFill>
                  <a:srgbClr val="17212B"/>
                </a:solidFill>
              </a:defRPr>
            </a:pPr>
            <a:r>
              <a:rPr sz="1575" b="0" i="0">
                <a:solidFill>
                  <a:srgbClr val="17212B"/>
                </a:solidFill>
              </a:rPr>
              <a:t>• Loans and debts</a:t>
            </a:r>
          </a:p>
          <a:p xmlns:a="http://schemas.openxmlformats.org/drawingml/2006/main">
            <a:pPr algn="l">
              <a:buNone/>
              <a:defRPr sz="1575" b="0" i="0">
                <a:solidFill>
                  <a:srgbClr val="17212B"/>
                </a:solidFill>
              </a:defRPr>
            </a:pPr>
            <a:r>
              <a:rPr sz="1575" b="0" i="0">
                <a:solidFill>
                  <a:srgbClr val="17212B"/>
                </a:solidFill>
              </a:rPr>
              <a:t>• Calendar</a:t>
            </a:r>
          </a:p>
          <a:p xmlns:a="http://schemas.openxmlformats.org/drawingml/2006/main">
            <a:pPr algn="l">
              <a:buNone/>
              <a:defRPr sz="1575" b="0" i="0">
                <a:solidFill>
                  <a:srgbClr val="17212B"/>
                </a:solidFill>
              </a:defRPr>
            </a:pPr>
            <a:r>
              <a:rPr sz="1575" b="0" i="0">
                <a:solidFill>
                  <a:srgbClr val="17212B"/>
                </a:solidFill>
              </a:rPr>
              <a:t>• Notifications</a:t>
            </a:r>
          </a:p>
        </p:txBody>
      </p:sp>
      <p:sp>
        <p:nvSpPr>
          <p:cNvPr id="15" name="">
            <a:extLst xmlns:a="http://schemas.openxmlformats.org/drawingml/2006/main">
              <a:ext uri="{FF2B5EF4-FFF2-40B4-BE49-F238E27FC236}">
                <a16:creationId xmlns:a16="http://schemas.microsoft.com/office/drawing/2014/main" id="{A114582D-95E7-4556-9CD4-496E4F05C05C}"/>
              </a:ext>
            </a:extLst>
          </p:cNvPr>
          <p:cNvSpPr>
            <a:spLocks xmlns:a="http://schemas.openxmlformats.org/drawingml/2006/main" noGrp="1"/>
          </p:cNvSpPr>
          <p:nvPr/>
        </p:nvSpPr>
        <p:spPr>
          <a:xfrm xmlns:a="http://schemas.openxmlformats.org/drawingml/2006/main">
            <a:off x="8886825" y="29146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2B6CB0"/>
                </a:solidFill>
              </a:defRPr>
            </a:pPr>
            <a:r>
              <a:rPr sz="1125" b="1" i="0">
                <a:solidFill>
                  <a:srgbClr val="2B6CB0"/>
                </a:solidFill>
              </a:rPr>
              <a:t>UNDERSTAND</a:t>
            </a:r>
          </a:p>
        </p:txBody>
      </p:sp>
      <p:sp>
        <p:nvSpPr>
          <p:cNvPr id="16" name="">
            <a:extLst xmlns:a="http://schemas.openxmlformats.org/drawingml/2006/main">
              <a:ext uri="{FF2B5EF4-FFF2-40B4-BE49-F238E27FC236}">
                <a16:creationId xmlns:a16="http://schemas.microsoft.com/office/drawing/2014/main" id="{6773F1A5-6516-4CE3-9B2F-0A3971DD61A0}"/>
              </a:ext>
            </a:extLst>
          </p:cNvPr>
          <p:cNvSpPr>
            <a:spLocks xmlns:a="http://schemas.openxmlformats.org/drawingml/2006/main" noGrp="1"/>
          </p:cNvSpPr>
          <p:nvPr/>
        </p:nvSpPr>
        <p:spPr>
          <a:xfrm xmlns:a="http://schemas.openxmlformats.org/drawingml/2006/main">
            <a:off x="8886825" y="3314700"/>
            <a:ext cx="24003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17212B"/>
                </a:solidFill>
              </a:defRPr>
            </a:pPr>
            <a:r>
              <a:rPr sz="1575" b="0" i="0">
                <a:solidFill>
                  <a:srgbClr val="17212B"/>
                </a:solidFill>
              </a:rPr>
              <a:t>• Dashboard</a:t>
            </a:r>
          </a:p>
          <a:p xmlns:a="http://schemas.openxmlformats.org/drawingml/2006/main">
            <a:pPr algn="l">
              <a:buNone/>
              <a:defRPr sz="1575" b="0" i="0">
                <a:solidFill>
                  <a:srgbClr val="17212B"/>
                </a:solidFill>
              </a:defRPr>
            </a:pPr>
            <a:r>
              <a:rPr sz="1575" b="0" i="0">
                <a:solidFill>
                  <a:srgbClr val="17212B"/>
                </a:solidFill>
              </a:rPr>
              <a:t>• Search + filters</a:t>
            </a:r>
          </a:p>
          <a:p xmlns:a="http://schemas.openxmlformats.org/drawingml/2006/main">
            <a:pPr algn="l">
              <a:buNone/>
              <a:defRPr sz="1575" b="0" i="0">
                <a:solidFill>
                  <a:srgbClr val="17212B"/>
                </a:solidFill>
              </a:defRPr>
            </a:pPr>
            <a:r>
              <a:rPr sz="1575" b="0" i="0">
                <a:solidFill>
                  <a:srgbClr val="17212B"/>
                </a:solidFill>
              </a:rPr>
              <a:t>• Expense analytics</a:t>
            </a:r>
          </a:p>
          <a:p xmlns:a="http://schemas.openxmlformats.org/drawingml/2006/main">
            <a:pPr algn="l">
              <a:buNone/>
              <a:defRPr sz="1575" b="0" i="0">
                <a:solidFill>
                  <a:srgbClr val="17212B"/>
                </a:solidFill>
              </a:defRPr>
            </a:pPr>
            <a:r>
              <a:rPr sz="1575" b="0" i="0">
                <a:solidFill>
                  <a:srgbClr val="17212B"/>
                </a:solidFill>
              </a:rPr>
              <a:t>• Reports</a:t>
            </a:r>
          </a:p>
          <a:p xmlns:a="http://schemas.openxmlformats.org/drawingml/2006/main">
            <a:pPr algn="l">
              <a:buNone/>
              <a:defRPr sz="1575" b="0" i="0">
                <a:solidFill>
                  <a:srgbClr val="17212B"/>
                </a:solidFill>
              </a:defRPr>
            </a:pPr>
            <a:r>
              <a:rPr sz="1575" b="0" i="0">
                <a:solidFill>
                  <a:srgbClr val="17212B"/>
                </a:solidFill>
              </a:rPr>
              <a:t>• Net worth</a:t>
            </a:r>
          </a:p>
        </p:txBody>
      </p:sp>
      <p:sp>
        <p:nvSpPr>
          <p:cNvPr id="17" name="">
            <a:extLst xmlns:a="http://schemas.openxmlformats.org/drawingml/2006/main">
              <a:ext uri="{FF2B5EF4-FFF2-40B4-BE49-F238E27FC236}">
                <a16:creationId xmlns:a16="http://schemas.microsoft.com/office/drawing/2014/main" id="{D2E122AE-1275-4D6D-BE85-245DB331FD24}"/>
              </a:ext>
            </a:extLst>
          </p:cNvPr>
          <p:cNvSpPr>
            <a:spLocks xmlns:a="http://schemas.openxmlformats.org/drawingml/2006/main" noGrp="1"/>
          </p:cNvSpPr>
          <p:nvPr/>
        </p:nvSpPr>
        <p:spPr>
          <a:xfrm xmlns:a="http://schemas.openxmlformats.org/drawingml/2006/main">
            <a:off x="514350" y="5753100"/>
            <a:ext cx="11163300" cy="19050"/>
          </a:xfrm>
          <a:prstGeom xmlns:a="http://schemas.openxmlformats.org/drawingml/2006/main" prst="rect">
            <a:avLst/>
          </a:prstGeom>
          <a:solidFill xmlns:a="http://schemas.openxmlformats.org/drawingml/2006/main">
            <a:srgbClr val="B8C2CC"/>
          </a:solidFill>
          <a:ln xmlns:a="http://schemas.openxmlformats.org/drawingml/2006/main" w="0">
            <a:solidFill>
              <a:srgbClr val="B8C2CC"/>
            </a:solidFill>
            <a:prstDash val="solid"/>
          </a:ln>
        </p:spPr>
      </p:sp>
      <p:sp>
        <p:nvSpPr>
          <p:cNvPr id="18" name="">
            <a:extLst xmlns:a="http://schemas.openxmlformats.org/drawingml/2006/main">
              <a:ext uri="{FF2B5EF4-FFF2-40B4-BE49-F238E27FC236}">
                <a16:creationId xmlns:a16="http://schemas.microsoft.com/office/drawing/2014/main" id="{4BB93361-983F-4D16-B9E2-81B391D3DD38}"/>
              </a:ext>
            </a:extLst>
          </p:cNvPr>
          <p:cNvSpPr>
            <a:spLocks xmlns:a="http://schemas.openxmlformats.org/drawingml/2006/main" noGrp="1"/>
          </p:cNvSpPr>
          <p:nvPr/>
        </p:nvSpPr>
        <p:spPr>
          <a:xfrm xmlns:a="http://schemas.openxmlformats.org/drawingml/2006/main">
            <a:off x="514350" y="59055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i="0">
                <a:solidFill>
                  <a:srgbClr val="0F5F49"/>
                </a:solidFill>
              </a:defRPr>
            </a:pPr>
            <a:r>
              <a:rPr sz="1425" b="1" i="0">
                <a:solidFill>
                  <a:srgbClr val="0F5F49"/>
                </a:solidFill>
              </a:rPr>
              <a:t>BigDecimal money values · positive-amount validation · dashboard/reports refresh from services</a:t>
            </a:r>
          </a:p>
        </p:txBody>
      </p:sp>
    </p:spTree>
    <p:extLst>
      <p:ext uri="{BB962C8B-B14F-4D97-AF65-F5344CB8AC3E}">
        <p14:creationId xmlns:p14="http://schemas.microsoft.com/office/powerpoint/2010/main" val="124001113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A3BEDAD7-4CE0-4A43-9F46-3BEC9049024F}"/>
              </a:ext>
            </a:extLst>
          </p:cNvPr>
          <p:cNvSpPr>
            <a:spLocks xmlns:a="http://schemas.openxmlformats.org/drawingml/2006/main" noGrp="1"/>
          </p:cNvSpPr>
          <p:nvPr/>
        </p:nvSpPr>
        <p:spPr>
          <a:xfrm xmlns:a="http://schemas.openxmlformats.org/drawingml/2006/main">
            <a:off x="400050" y="247650"/>
            <a:ext cx="11391900" cy="38100"/>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2" name="">
            <a:extLst xmlns:a="http://schemas.openxmlformats.org/drawingml/2006/main">
              <a:ext uri="{FF2B5EF4-FFF2-40B4-BE49-F238E27FC236}">
                <a16:creationId xmlns:a16="http://schemas.microsoft.com/office/drawing/2014/main" id="{3B19D93A-F707-453B-97F5-5F00C4008459}"/>
              </a:ext>
            </a:extLst>
          </p:cNvPr>
          <p:cNvSpPr>
            <a:spLocks xmlns:a="http://schemas.openxmlformats.org/drawingml/2006/main" noGrp="1"/>
          </p:cNvSpPr>
          <p:nvPr/>
        </p:nvSpPr>
        <p:spPr>
          <a:xfrm xmlns:a="http://schemas.openxmlformats.org/drawingml/2006/main">
            <a:off x="457200" y="371475"/>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AUTHENTICATION</a:t>
            </a:r>
          </a:p>
        </p:txBody>
      </p:sp>
      <p:sp>
        <p:nvSpPr>
          <p:cNvPr id="3" name="">
            <a:extLst xmlns:a="http://schemas.openxmlformats.org/drawingml/2006/main">
              <a:ext uri="{FF2B5EF4-FFF2-40B4-BE49-F238E27FC236}">
                <a16:creationId xmlns:a16="http://schemas.microsoft.com/office/drawing/2014/main" id="{0AD6BC99-184C-469A-AD36-0121B7E7632C}"/>
              </a:ext>
            </a:extLst>
          </p:cNvPr>
          <p:cNvSpPr>
            <a:spLocks xmlns:a="http://schemas.openxmlformats.org/drawingml/2006/main" noGrp="1"/>
          </p:cNvSpPr>
          <p:nvPr/>
        </p:nvSpPr>
        <p:spPr>
          <a:xfrm xmlns:a="http://schemas.openxmlformats.org/drawingml/2006/main">
            <a:off x="457200" y="72390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7212B"/>
                </a:solidFill>
              </a:defRPr>
            </a:pPr>
            <a:r>
              <a:rPr sz="3000" b="1" i="0">
                <a:solidFill>
                  <a:srgbClr val="17212B"/>
                </a:solidFill>
              </a:rPr>
              <a:t>Security stays local and explicit</a:t>
            </a:r>
          </a:p>
        </p:txBody>
      </p:sp>
      <p:sp>
        <p:nvSpPr>
          <p:cNvPr id="4" name="">
            <a:extLst xmlns:a="http://schemas.openxmlformats.org/drawingml/2006/main">
              <a:ext uri="{FF2B5EF4-FFF2-40B4-BE49-F238E27FC236}">
                <a16:creationId xmlns:a16="http://schemas.microsoft.com/office/drawing/2014/main" id="{6B6AF16E-C2F3-477B-BAF0-E08A44DE794D}"/>
              </a:ext>
            </a:extLst>
          </p:cNvPr>
          <p:cNvSpPr>
            <a:spLocks xmlns:a="http://schemas.openxmlformats.org/drawingml/2006/main" noGrp="1"/>
          </p:cNvSpPr>
          <p:nvPr/>
        </p:nvSpPr>
        <p:spPr>
          <a:xfrm xmlns:a="http://schemas.openxmlformats.org/drawingml/2006/main">
            <a:off x="1127760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i="0">
                <a:solidFill>
                  <a:srgbClr val="5B6573"/>
                </a:solidFill>
              </a:defRPr>
            </a:pPr>
            <a:r>
              <a:rPr sz="1050" b="0" i="0">
                <a:solidFill>
                  <a:srgbClr val="5B6573"/>
                </a:solidFill>
              </a:rPr>
              <a:t>07</a:t>
            </a:r>
          </a:p>
        </p:txBody>
      </p:sp>
      <p:sp>
        <p:nvSpPr>
          <p:cNvPr id="5" name="">
            <a:extLst xmlns:a="http://schemas.openxmlformats.org/drawingml/2006/main">
              <a:ext uri="{FF2B5EF4-FFF2-40B4-BE49-F238E27FC236}">
                <a16:creationId xmlns:a16="http://schemas.microsoft.com/office/drawing/2014/main" id="{0A6FA641-D641-4D58-81E0-478A35F39B47}"/>
              </a:ext>
            </a:extLst>
          </p:cNvPr>
          <p:cNvSpPr>
            <a:spLocks xmlns:a="http://schemas.openxmlformats.org/drawingml/2006/main" noGrp="1"/>
          </p:cNvSpPr>
          <p:nvPr/>
        </p:nvSpPr>
        <p:spPr>
          <a:xfrm xmlns:a="http://schemas.openxmlformats.org/drawingml/2006/main">
            <a:off x="514350" y="15811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CREDENTIAL CONTROLS</a:t>
            </a:r>
          </a:p>
        </p:txBody>
      </p:sp>
      <p:sp>
        <p:nvSpPr>
          <p:cNvPr id="6" name="">
            <a:extLst xmlns:a="http://schemas.openxmlformats.org/drawingml/2006/main">
              <a:ext uri="{FF2B5EF4-FFF2-40B4-BE49-F238E27FC236}">
                <a16:creationId xmlns:a16="http://schemas.microsoft.com/office/drawing/2014/main" id="{C7715DE0-33CE-41FD-9A27-BCD48347F9B9}"/>
              </a:ext>
            </a:extLst>
          </p:cNvPr>
          <p:cNvSpPr>
            <a:spLocks xmlns:a="http://schemas.openxmlformats.org/drawingml/2006/main" noGrp="1"/>
          </p:cNvSpPr>
          <p:nvPr/>
        </p:nvSpPr>
        <p:spPr>
          <a:xfrm xmlns:a="http://schemas.openxmlformats.org/drawingml/2006/main">
            <a:off x="514350" y="1981200"/>
            <a:ext cx="4953000" cy="19050"/>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7" name="">
            <a:extLst xmlns:a="http://schemas.openxmlformats.org/drawingml/2006/main">
              <a:ext uri="{FF2B5EF4-FFF2-40B4-BE49-F238E27FC236}">
                <a16:creationId xmlns:a16="http://schemas.microsoft.com/office/drawing/2014/main" id="{F9B2EE1F-C395-41CC-A18C-5EB523D562E4}"/>
              </a:ext>
            </a:extLst>
          </p:cNvPr>
          <p:cNvSpPr>
            <a:spLocks xmlns:a="http://schemas.openxmlformats.org/drawingml/2006/main" noGrp="1"/>
          </p:cNvSpPr>
          <p:nvPr/>
        </p:nvSpPr>
        <p:spPr>
          <a:xfrm xmlns:a="http://schemas.openxmlformats.org/drawingml/2006/main">
            <a:off x="514350" y="2114550"/>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i="0">
                <a:solidFill>
                  <a:srgbClr val="0F5F49"/>
                </a:solidFill>
              </a:defRPr>
            </a:pPr>
            <a:r>
              <a:rPr sz="1575" b="1" i="0">
                <a:solidFill>
                  <a:srgbClr val="0F5F49"/>
                </a:solidFill>
              </a:rPr>
              <a:t>Institutional email</a:t>
            </a:r>
          </a:p>
        </p:txBody>
      </p:sp>
      <p:sp>
        <p:nvSpPr>
          <p:cNvPr id="8" name="">
            <a:extLst xmlns:a="http://schemas.openxmlformats.org/drawingml/2006/main">
              <a:ext uri="{FF2B5EF4-FFF2-40B4-BE49-F238E27FC236}">
                <a16:creationId xmlns:a16="http://schemas.microsoft.com/office/drawing/2014/main" id="{5BF0FDD9-6DFE-4239-AF9F-1DD431869FEB}"/>
              </a:ext>
            </a:extLst>
          </p:cNvPr>
          <p:cNvSpPr>
            <a:spLocks xmlns:a="http://schemas.openxmlformats.org/drawingml/2006/main" noGrp="1"/>
          </p:cNvSpPr>
          <p:nvPr/>
        </p:nvSpPr>
        <p:spPr>
          <a:xfrm xmlns:a="http://schemas.openxmlformats.org/drawingml/2006/main">
            <a:off x="2552700" y="21145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17212B"/>
                </a:solidFill>
              </a:defRPr>
            </a:pPr>
            <a:r>
              <a:rPr sz="1425" b="0" i="0">
                <a:solidFill>
                  <a:srgbClr val="17212B"/>
                </a:solidFill>
              </a:rPr>
              <a:t>Exact @northsouth.edu policy</a:t>
            </a:r>
          </a:p>
        </p:txBody>
      </p:sp>
      <p:sp>
        <p:nvSpPr>
          <p:cNvPr id="9" name="">
            <a:extLst xmlns:a="http://schemas.openxmlformats.org/drawingml/2006/main">
              <a:ext uri="{FF2B5EF4-FFF2-40B4-BE49-F238E27FC236}">
                <a16:creationId xmlns:a16="http://schemas.microsoft.com/office/drawing/2014/main" id="{99CE20EB-E2C0-4C94-AA93-F7EBF15158BA}"/>
              </a:ext>
            </a:extLst>
          </p:cNvPr>
          <p:cNvSpPr>
            <a:spLocks xmlns:a="http://schemas.openxmlformats.org/drawingml/2006/main" noGrp="1"/>
          </p:cNvSpPr>
          <p:nvPr/>
        </p:nvSpPr>
        <p:spPr>
          <a:xfrm xmlns:a="http://schemas.openxmlformats.org/drawingml/2006/main">
            <a:off x="514350" y="2895600"/>
            <a:ext cx="4953000" cy="19050"/>
          </a:xfrm>
          <a:prstGeom xmlns:a="http://schemas.openxmlformats.org/drawingml/2006/main" prst="rect">
            <a:avLst/>
          </a:prstGeom>
          <a:solidFill xmlns:a="http://schemas.openxmlformats.org/drawingml/2006/main">
            <a:srgbClr val="B8C2CC"/>
          </a:solidFill>
          <a:ln xmlns:a="http://schemas.openxmlformats.org/drawingml/2006/main" w="0">
            <a:solidFill>
              <a:srgbClr val="B8C2CC"/>
            </a:solidFill>
            <a:prstDash val="solid"/>
          </a:ln>
        </p:spPr>
      </p:sp>
      <p:sp>
        <p:nvSpPr>
          <p:cNvPr id="10" name="">
            <a:extLst xmlns:a="http://schemas.openxmlformats.org/drawingml/2006/main">
              <a:ext uri="{FF2B5EF4-FFF2-40B4-BE49-F238E27FC236}">
                <a16:creationId xmlns:a16="http://schemas.microsoft.com/office/drawing/2014/main" id="{73AA5E70-FB03-42D9-B6F2-5EDC856490E5}"/>
              </a:ext>
            </a:extLst>
          </p:cNvPr>
          <p:cNvSpPr>
            <a:spLocks xmlns:a="http://schemas.openxmlformats.org/drawingml/2006/main" noGrp="1"/>
          </p:cNvSpPr>
          <p:nvPr/>
        </p:nvSpPr>
        <p:spPr>
          <a:xfrm xmlns:a="http://schemas.openxmlformats.org/drawingml/2006/main">
            <a:off x="514350" y="3028950"/>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i="0">
                <a:solidFill>
                  <a:srgbClr val="0F5F49"/>
                </a:solidFill>
              </a:defRPr>
            </a:pPr>
            <a:r>
              <a:rPr sz="1575" b="1" i="0">
                <a:solidFill>
                  <a:srgbClr val="0F5F49"/>
                </a:solidFill>
              </a:rPr>
              <a:t>Password</a:t>
            </a:r>
          </a:p>
        </p:txBody>
      </p:sp>
      <p:sp>
        <p:nvSpPr>
          <p:cNvPr id="11" name="">
            <a:extLst xmlns:a="http://schemas.openxmlformats.org/drawingml/2006/main">
              <a:ext uri="{FF2B5EF4-FFF2-40B4-BE49-F238E27FC236}">
                <a16:creationId xmlns:a16="http://schemas.microsoft.com/office/drawing/2014/main" id="{661665B7-A727-4C28-954B-4550C5360BB0}"/>
              </a:ext>
            </a:extLst>
          </p:cNvPr>
          <p:cNvSpPr>
            <a:spLocks xmlns:a="http://schemas.openxmlformats.org/drawingml/2006/main" noGrp="1"/>
          </p:cNvSpPr>
          <p:nvPr/>
        </p:nvSpPr>
        <p:spPr>
          <a:xfrm xmlns:a="http://schemas.openxmlformats.org/drawingml/2006/main">
            <a:off x="2552700" y="30289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17212B"/>
                </a:solidFill>
              </a:defRPr>
            </a:pPr>
            <a:r>
              <a:rPr sz="1425" b="0" i="0">
                <a:solidFill>
                  <a:srgbClr val="17212B"/>
                </a:solidFill>
              </a:rPr>
              <a:t>6-128 characters; letter + number; no outer spaces</a:t>
            </a:r>
          </a:p>
        </p:txBody>
      </p:sp>
      <p:sp>
        <p:nvSpPr>
          <p:cNvPr id="12" name="">
            <a:extLst xmlns:a="http://schemas.openxmlformats.org/drawingml/2006/main">
              <a:ext uri="{FF2B5EF4-FFF2-40B4-BE49-F238E27FC236}">
                <a16:creationId xmlns:a16="http://schemas.microsoft.com/office/drawing/2014/main" id="{4A60E9DE-1D88-493C-84CB-5B0D2540367F}"/>
              </a:ext>
            </a:extLst>
          </p:cNvPr>
          <p:cNvSpPr>
            <a:spLocks xmlns:a="http://schemas.openxmlformats.org/drawingml/2006/main" noGrp="1"/>
          </p:cNvSpPr>
          <p:nvPr/>
        </p:nvSpPr>
        <p:spPr>
          <a:xfrm xmlns:a="http://schemas.openxmlformats.org/drawingml/2006/main">
            <a:off x="514350" y="3810000"/>
            <a:ext cx="4953000" cy="19050"/>
          </a:xfrm>
          <a:prstGeom xmlns:a="http://schemas.openxmlformats.org/drawingml/2006/main" prst="rect">
            <a:avLst/>
          </a:prstGeom>
          <a:solidFill xmlns:a="http://schemas.openxmlformats.org/drawingml/2006/main">
            <a:srgbClr val="B8C2CC"/>
          </a:solidFill>
          <a:ln xmlns:a="http://schemas.openxmlformats.org/drawingml/2006/main" w="0">
            <a:solidFill>
              <a:srgbClr val="B8C2CC"/>
            </a:solidFill>
            <a:prstDash val="solid"/>
          </a:ln>
        </p:spPr>
      </p:sp>
      <p:sp>
        <p:nvSpPr>
          <p:cNvPr id="13" name="">
            <a:extLst xmlns:a="http://schemas.openxmlformats.org/drawingml/2006/main">
              <a:ext uri="{FF2B5EF4-FFF2-40B4-BE49-F238E27FC236}">
                <a16:creationId xmlns:a16="http://schemas.microsoft.com/office/drawing/2014/main" id="{AF939AC2-D381-4FB9-84CB-04D11AFE51EF}"/>
              </a:ext>
            </a:extLst>
          </p:cNvPr>
          <p:cNvSpPr>
            <a:spLocks xmlns:a="http://schemas.openxmlformats.org/drawingml/2006/main" noGrp="1"/>
          </p:cNvSpPr>
          <p:nvPr/>
        </p:nvSpPr>
        <p:spPr>
          <a:xfrm xmlns:a="http://schemas.openxmlformats.org/drawingml/2006/main">
            <a:off x="514350" y="3943350"/>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i="0">
                <a:solidFill>
                  <a:srgbClr val="0F5F49"/>
                </a:solidFill>
              </a:defRPr>
            </a:pPr>
            <a:r>
              <a:rPr sz="1575" b="1" i="0">
                <a:solidFill>
                  <a:srgbClr val="0F5F49"/>
                </a:solidFill>
              </a:rPr>
              <a:t>Credential hash</a:t>
            </a:r>
          </a:p>
        </p:txBody>
      </p:sp>
      <p:sp>
        <p:nvSpPr>
          <p:cNvPr id="14" name="">
            <a:extLst xmlns:a="http://schemas.openxmlformats.org/drawingml/2006/main">
              <a:ext uri="{FF2B5EF4-FFF2-40B4-BE49-F238E27FC236}">
                <a16:creationId xmlns:a16="http://schemas.microsoft.com/office/drawing/2014/main" id="{B3C790E3-5F93-4B12-8E59-72C27AE07036}"/>
              </a:ext>
            </a:extLst>
          </p:cNvPr>
          <p:cNvSpPr>
            <a:spLocks xmlns:a="http://schemas.openxmlformats.org/drawingml/2006/main" noGrp="1"/>
          </p:cNvSpPr>
          <p:nvPr/>
        </p:nvSpPr>
        <p:spPr>
          <a:xfrm xmlns:a="http://schemas.openxmlformats.org/drawingml/2006/main">
            <a:off x="2552700" y="39433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17212B"/>
                </a:solidFill>
              </a:defRPr>
            </a:pPr>
            <a:r>
              <a:rPr sz="1425" b="0" i="0">
                <a:solidFill>
                  <a:srgbClr val="17212B"/>
                </a:solidFill>
              </a:rPr>
              <a:t>SHA-256 pre-hash + BCrypt cost 12</a:t>
            </a:r>
          </a:p>
        </p:txBody>
      </p:sp>
      <p:sp>
        <p:nvSpPr>
          <p:cNvPr id="15" name="">
            <a:extLst xmlns:a="http://schemas.openxmlformats.org/drawingml/2006/main">
              <a:ext uri="{FF2B5EF4-FFF2-40B4-BE49-F238E27FC236}">
                <a16:creationId xmlns:a16="http://schemas.microsoft.com/office/drawing/2014/main" id="{4A8E4C47-0DA9-4571-95E7-94840F9967DA}"/>
              </a:ext>
            </a:extLst>
          </p:cNvPr>
          <p:cNvSpPr>
            <a:spLocks xmlns:a="http://schemas.openxmlformats.org/drawingml/2006/main" noGrp="1"/>
          </p:cNvSpPr>
          <p:nvPr/>
        </p:nvSpPr>
        <p:spPr>
          <a:xfrm xmlns:a="http://schemas.openxmlformats.org/drawingml/2006/main">
            <a:off x="514350" y="4724400"/>
            <a:ext cx="4953000" cy="19050"/>
          </a:xfrm>
          <a:prstGeom xmlns:a="http://schemas.openxmlformats.org/drawingml/2006/main" prst="rect">
            <a:avLst/>
          </a:prstGeom>
          <a:solidFill xmlns:a="http://schemas.openxmlformats.org/drawingml/2006/main">
            <a:srgbClr val="B8C2CC"/>
          </a:solidFill>
          <a:ln xmlns:a="http://schemas.openxmlformats.org/drawingml/2006/main" w="0">
            <a:solidFill>
              <a:srgbClr val="B8C2CC"/>
            </a:solidFill>
            <a:prstDash val="solid"/>
          </a:ln>
        </p:spPr>
      </p:sp>
      <p:sp>
        <p:nvSpPr>
          <p:cNvPr id="16" name="">
            <a:extLst xmlns:a="http://schemas.openxmlformats.org/drawingml/2006/main">
              <a:ext uri="{FF2B5EF4-FFF2-40B4-BE49-F238E27FC236}">
                <a16:creationId xmlns:a16="http://schemas.microsoft.com/office/drawing/2014/main" id="{AEB0DCD2-42CB-49B1-8F3D-FC4712B15759}"/>
              </a:ext>
            </a:extLst>
          </p:cNvPr>
          <p:cNvSpPr>
            <a:spLocks xmlns:a="http://schemas.openxmlformats.org/drawingml/2006/main" noGrp="1"/>
          </p:cNvSpPr>
          <p:nvPr/>
        </p:nvSpPr>
        <p:spPr>
          <a:xfrm xmlns:a="http://schemas.openxmlformats.org/drawingml/2006/main">
            <a:off x="514350" y="4857750"/>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i="0">
                <a:solidFill>
                  <a:srgbClr val="0F5F49"/>
                </a:solidFill>
              </a:defRPr>
            </a:pPr>
            <a:r>
              <a:rPr sz="1575" b="1" i="0">
                <a:solidFill>
                  <a:srgbClr val="0F5F49"/>
                </a:solidFill>
              </a:rPr>
              <a:t>Attempt control</a:t>
            </a:r>
          </a:p>
        </p:txBody>
      </p:sp>
      <p:sp>
        <p:nvSpPr>
          <p:cNvPr id="17" name="">
            <a:extLst xmlns:a="http://schemas.openxmlformats.org/drawingml/2006/main">
              <a:ext uri="{FF2B5EF4-FFF2-40B4-BE49-F238E27FC236}">
                <a16:creationId xmlns:a16="http://schemas.microsoft.com/office/drawing/2014/main" id="{DF059EC5-AFBB-4709-92AD-ECEAFFAF5C3D}"/>
              </a:ext>
            </a:extLst>
          </p:cNvPr>
          <p:cNvSpPr>
            <a:spLocks xmlns:a="http://schemas.openxmlformats.org/drawingml/2006/main" noGrp="1"/>
          </p:cNvSpPr>
          <p:nvPr/>
        </p:nvSpPr>
        <p:spPr>
          <a:xfrm xmlns:a="http://schemas.openxmlformats.org/drawingml/2006/main">
            <a:off x="2552700" y="48577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17212B"/>
                </a:solidFill>
              </a:defRPr>
            </a:pPr>
            <a:r>
              <a:rPr sz="1425" b="0" i="0">
                <a:solidFill>
                  <a:srgbClr val="17212B"/>
                </a:solidFill>
              </a:rPr>
              <a:t>5 failures -&gt; 15-minute lockout</a:t>
            </a:r>
          </a:p>
        </p:txBody>
      </p:sp>
      <p:sp>
        <p:nvSpPr>
          <p:cNvPr id="18" name="">
            <a:extLst xmlns:a="http://schemas.openxmlformats.org/drawingml/2006/main">
              <a:ext uri="{FF2B5EF4-FFF2-40B4-BE49-F238E27FC236}">
                <a16:creationId xmlns:a16="http://schemas.microsoft.com/office/drawing/2014/main" id="{99F3FBBA-44CC-4B30-B542-92486D453185}"/>
              </a:ext>
            </a:extLst>
          </p:cNvPr>
          <p:cNvSpPr>
            <a:spLocks xmlns:a="http://schemas.openxmlformats.org/drawingml/2006/main" noGrp="1"/>
          </p:cNvSpPr>
          <p:nvPr/>
        </p:nvSpPr>
        <p:spPr>
          <a:xfrm xmlns:a="http://schemas.openxmlformats.org/drawingml/2006/main">
            <a:off x="6305550" y="15811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2B6CB0"/>
                </a:solidFill>
              </a:defRPr>
            </a:pPr>
            <a:r>
              <a:rPr sz="1125" b="1" i="0">
                <a:solidFill>
                  <a:srgbClr val="2B6CB0"/>
                </a:solidFill>
              </a:rPr>
              <a:t>ACCESS CONTROLS</a:t>
            </a:r>
          </a:p>
        </p:txBody>
      </p:sp>
      <p:sp>
        <p:nvSpPr>
          <p:cNvPr id="19" name="">
            <a:extLst xmlns:a="http://schemas.openxmlformats.org/drawingml/2006/main">
              <a:ext uri="{FF2B5EF4-FFF2-40B4-BE49-F238E27FC236}">
                <a16:creationId xmlns:a16="http://schemas.microsoft.com/office/drawing/2014/main" id="{FFDCB127-53D6-4DDF-8815-47807B31EA1D}"/>
              </a:ext>
            </a:extLst>
          </p:cNvPr>
          <p:cNvSpPr>
            <a:spLocks xmlns:a="http://schemas.openxmlformats.org/drawingml/2006/main" noGrp="1"/>
          </p:cNvSpPr>
          <p:nvPr/>
        </p:nvSpPr>
        <p:spPr>
          <a:xfrm xmlns:a="http://schemas.openxmlformats.org/drawingml/2006/main">
            <a:off x="6305550" y="1981200"/>
            <a:ext cx="4953000" cy="19050"/>
          </a:xfrm>
          <a:prstGeom xmlns:a="http://schemas.openxmlformats.org/drawingml/2006/main" prst="rect">
            <a:avLst/>
          </a:prstGeom>
          <a:solidFill xmlns:a="http://schemas.openxmlformats.org/drawingml/2006/main">
            <a:srgbClr val="2B6CB0"/>
          </a:solidFill>
          <a:ln xmlns:a="http://schemas.openxmlformats.org/drawingml/2006/main" w="0">
            <a:solidFill>
              <a:srgbClr val="2B6CB0"/>
            </a:solidFill>
            <a:prstDash val="solid"/>
          </a:ln>
        </p:spPr>
      </p:sp>
      <p:sp>
        <p:nvSpPr>
          <p:cNvPr id="20" name="">
            <a:extLst xmlns:a="http://schemas.openxmlformats.org/drawingml/2006/main">
              <a:ext uri="{FF2B5EF4-FFF2-40B4-BE49-F238E27FC236}">
                <a16:creationId xmlns:a16="http://schemas.microsoft.com/office/drawing/2014/main" id="{C28ECE8C-041B-4F96-A0D2-3F6B712CC483}"/>
              </a:ext>
            </a:extLst>
          </p:cNvPr>
          <p:cNvSpPr>
            <a:spLocks xmlns:a="http://schemas.openxmlformats.org/drawingml/2006/main" noGrp="1"/>
          </p:cNvSpPr>
          <p:nvPr/>
        </p:nvSpPr>
        <p:spPr>
          <a:xfrm xmlns:a="http://schemas.openxmlformats.org/drawingml/2006/main">
            <a:off x="6305550" y="2114550"/>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i="0">
                <a:solidFill>
                  <a:srgbClr val="2B6CB0"/>
                </a:solidFill>
              </a:defRPr>
            </a:pPr>
            <a:r>
              <a:rPr sz="1575" b="1" i="0">
                <a:solidFill>
                  <a:srgbClr val="2B6CB0"/>
                </a:solidFill>
              </a:rPr>
              <a:t>Roles</a:t>
            </a:r>
          </a:p>
        </p:txBody>
      </p:sp>
      <p:sp>
        <p:nvSpPr>
          <p:cNvPr id="21" name="">
            <a:extLst xmlns:a="http://schemas.openxmlformats.org/drawingml/2006/main">
              <a:ext uri="{FF2B5EF4-FFF2-40B4-BE49-F238E27FC236}">
                <a16:creationId xmlns:a16="http://schemas.microsoft.com/office/drawing/2014/main" id="{A32EEAA2-3E92-4416-9EF8-7F0F35683755}"/>
              </a:ext>
            </a:extLst>
          </p:cNvPr>
          <p:cNvSpPr>
            <a:spLocks xmlns:a="http://schemas.openxmlformats.org/drawingml/2006/main" noGrp="1"/>
          </p:cNvSpPr>
          <p:nvPr/>
        </p:nvSpPr>
        <p:spPr>
          <a:xfrm xmlns:a="http://schemas.openxmlformats.org/drawingml/2006/main">
            <a:off x="8343900" y="21145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17212B"/>
                </a:solidFill>
              </a:defRPr>
            </a:pPr>
            <a:r>
              <a:rPr sz="1425" b="0" i="0">
                <a:solidFill>
                  <a:srgbClr val="17212B"/>
                </a:solidFill>
              </a:rPr>
              <a:t>USER · ADMIN · OWNER</a:t>
            </a:r>
          </a:p>
        </p:txBody>
      </p:sp>
      <p:sp>
        <p:nvSpPr>
          <p:cNvPr id="22" name="">
            <a:extLst xmlns:a="http://schemas.openxmlformats.org/drawingml/2006/main">
              <a:ext uri="{FF2B5EF4-FFF2-40B4-BE49-F238E27FC236}">
                <a16:creationId xmlns:a16="http://schemas.microsoft.com/office/drawing/2014/main" id="{62EF6F9A-BEB2-4AB7-9742-19B20C62C8A5}"/>
              </a:ext>
            </a:extLst>
          </p:cNvPr>
          <p:cNvSpPr>
            <a:spLocks xmlns:a="http://schemas.openxmlformats.org/drawingml/2006/main" noGrp="1"/>
          </p:cNvSpPr>
          <p:nvPr/>
        </p:nvSpPr>
        <p:spPr>
          <a:xfrm xmlns:a="http://schemas.openxmlformats.org/drawingml/2006/main">
            <a:off x="6305550" y="2895600"/>
            <a:ext cx="4953000" cy="19050"/>
          </a:xfrm>
          <a:prstGeom xmlns:a="http://schemas.openxmlformats.org/drawingml/2006/main" prst="rect">
            <a:avLst/>
          </a:prstGeom>
          <a:solidFill xmlns:a="http://schemas.openxmlformats.org/drawingml/2006/main">
            <a:srgbClr val="B8C2CC"/>
          </a:solidFill>
          <a:ln xmlns:a="http://schemas.openxmlformats.org/drawingml/2006/main" w="0">
            <a:solidFill>
              <a:srgbClr val="B8C2CC"/>
            </a:solidFill>
            <a:prstDash val="solid"/>
          </a:ln>
        </p:spPr>
      </p:sp>
      <p:sp>
        <p:nvSpPr>
          <p:cNvPr id="23" name="">
            <a:extLst xmlns:a="http://schemas.openxmlformats.org/drawingml/2006/main">
              <a:ext uri="{FF2B5EF4-FFF2-40B4-BE49-F238E27FC236}">
                <a16:creationId xmlns:a16="http://schemas.microsoft.com/office/drawing/2014/main" id="{E2F8B37A-F736-459B-BE9A-AD4E196224CB}"/>
              </a:ext>
            </a:extLst>
          </p:cNvPr>
          <p:cNvSpPr>
            <a:spLocks xmlns:a="http://schemas.openxmlformats.org/drawingml/2006/main" noGrp="1"/>
          </p:cNvSpPr>
          <p:nvPr/>
        </p:nvSpPr>
        <p:spPr>
          <a:xfrm xmlns:a="http://schemas.openxmlformats.org/drawingml/2006/main">
            <a:off x="6305550" y="3028950"/>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i="0">
                <a:solidFill>
                  <a:srgbClr val="2B6CB0"/>
                </a:solidFill>
              </a:defRPr>
            </a:pPr>
            <a:r>
              <a:rPr sz="1575" b="1" i="0">
                <a:solidFill>
                  <a:srgbClr val="2B6CB0"/>
                </a:solidFill>
              </a:rPr>
              <a:t>Authorization</a:t>
            </a:r>
          </a:p>
        </p:txBody>
      </p:sp>
      <p:sp>
        <p:nvSpPr>
          <p:cNvPr id="24" name="">
            <a:extLst xmlns:a="http://schemas.openxmlformats.org/drawingml/2006/main">
              <a:ext uri="{FF2B5EF4-FFF2-40B4-BE49-F238E27FC236}">
                <a16:creationId xmlns:a16="http://schemas.microsoft.com/office/drawing/2014/main" id="{E137211E-F615-44D9-B52F-54F384F0720D}"/>
              </a:ext>
            </a:extLst>
          </p:cNvPr>
          <p:cNvSpPr>
            <a:spLocks xmlns:a="http://schemas.openxmlformats.org/drawingml/2006/main" noGrp="1"/>
          </p:cNvSpPr>
          <p:nvPr/>
        </p:nvSpPr>
        <p:spPr>
          <a:xfrm xmlns:a="http://schemas.openxmlformats.org/drawingml/2006/main">
            <a:off x="8343900" y="30289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17212B"/>
                </a:solidFill>
              </a:defRPr>
            </a:pPr>
            <a:r>
              <a:rPr sz="1425" b="0" i="0">
                <a:solidFill>
                  <a:srgbClr val="17212B"/>
                </a:solidFill>
              </a:rPr>
              <a:t>Admin, owner, and own-workspace guards</a:t>
            </a:r>
          </a:p>
        </p:txBody>
      </p:sp>
      <p:sp>
        <p:nvSpPr>
          <p:cNvPr id="25" name="">
            <a:extLst xmlns:a="http://schemas.openxmlformats.org/drawingml/2006/main">
              <a:ext uri="{FF2B5EF4-FFF2-40B4-BE49-F238E27FC236}">
                <a16:creationId xmlns:a16="http://schemas.microsoft.com/office/drawing/2014/main" id="{0719DE59-AF94-4C10-BF47-9BECE491AC49}"/>
              </a:ext>
            </a:extLst>
          </p:cNvPr>
          <p:cNvSpPr>
            <a:spLocks xmlns:a="http://schemas.openxmlformats.org/drawingml/2006/main" noGrp="1"/>
          </p:cNvSpPr>
          <p:nvPr/>
        </p:nvSpPr>
        <p:spPr>
          <a:xfrm xmlns:a="http://schemas.openxmlformats.org/drawingml/2006/main">
            <a:off x="6305550" y="3810000"/>
            <a:ext cx="4953000" cy="19050"/>
          </a:xfrm>
          <a:prstGeom xmlns:a="http://schemas.openxmlformats.org/drawingml/2006/main" prst="rect">
            <a:avLst/>
          </a:prstGeom>
          <a:solidFill xmlns:a="http://schemas.openxmlformats.org/drawingml/2006/main">
            <a:srgbClr val="B8C2CC"/>
          </a:solidFill>
          <a:ln xmlns:a="http://schemas.openxmlformats.org/drawingml/2006/main" w="0">
            <a:solidFill>
              <a:srgbClr val="B8C2CC"/>
            </a:solidFill>
            <a:prstDash val="solid"/>
          </a:ln>
        </p:spPr>
      </p:sp>
      <p:sp>
        <p:nvSpPr>
          <p:cNvPr id="26" name="">
            <a:extLst xmlns:a="http://schemas.openxmlformats.org/drawingml/2006/main">
              <a:ext uri="{FF2B5EF4-FFF2-40B4-BE49-F238E27FC236}">
                <a16:creationId xmlns:a16="http://schemas.microsoft.com/office/drawing/2014/main" id="{DCB9C2F8-DBBA-4B7F-925C-B65DAFE5F37E}"/>
              </a:ext>
            </a:extLst>
          </p:cNvPr>
          <p:cNvSpPr>
            <a:spLocks xmlns:a="http://schemas.openxmlformats.org/drawingml/2006/main" noGrp="1"/>
          </p:cNvSpPr>
          <p:nvPr/>
        </p:nvSpPr>
        <p:spPr>
          <a:xfrm xmlns:a="http://schemas.openxmlformats.org/drawingml/2006/main">
            <a:off x="6305550" y="3943350"/>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i="0">
                <a:solidFill>
                  <a:srgbClr val="2B6CB0"/>
                </a:solidFill>
              </a:defRPr>
            </a:pPr>
            <a:r>
              <a:rPr sz="1575" b="1" i="0">
                <a:solidFill>
                  <a:srgbClr val="2B6CB0"/>
                </a:solidFill>
              </a:rPr>
              <a:t>Recovery answer</a:t>
            </a:r>
          </a:p>
        </p:txBody>
      </p:sp>
      <p:sp>
        <p:nvSpPr>
          <p:cNvPr id="27" name="">
            <a:extLst xmlns:a="http://schemas.openxmlformats.org/drawingml/2006/main">
              <a:ext uri="{FF2B5EF4-FFF2-40B4-BE49-F238E27FC236}">
                <a16:creationId xmlns:a16="http://schemas.microsoft.com/office/drawing/2014/main" id="{F0E5ABBE-E91D-4EA6-839B-E65497D24671}"/>
              </a:ext>
            </a:extLst>
          </p:cNvPr>
          <p:cNvSpPr>
            <a:spLocks xmlns:a="http://schemas.openxmlformats.org/drawingml/2006/main" noGrp="1"/>
          </p:cNvSpPr>
          <p:nvPr/>
        </p:nvSpPr>
        <p:spPr>
          <a:xfrm xmlns:a="http://schemas.openxmlformats.org/drawingml/2006/main">
            <a:off x="8343900" y="39433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17212B"/>
                </a:solidFill>
              </a:defRPr>
            </a:pPr>
            <a:r>
              <a:rPr sz="1425" b="0" i="0">
                <a:solidFill>
                  <a:srgbClr val="17212B"/>
                </a:solidFill>
              </a:rPr>
              <a:t>Normalized, domain-separated, BCrypt protected</a:t>
            </a:r>
          </a:p>
        </p:txBody>
      </p:sp>
      <p:sp>
        <p:nvSpPr>
          <p:cNvPr id="28" name="">
            <a:extLst xmlns:a="http://schemas.openxmlformats.org/drawingml/2006/main">
              <a:ext uri="{FF2B5EF4-FFF2-40B4-BE49-F238E27FC236}">
                <a16:creationId xmlns:a16="http://schemas.microsoft.com/office/drawing/2014/main" id="{E644B2F6-311E-4128-AC10-9F173DC9D01C}"/>
              </a:ext>
            </a:extLst>
          </p:cNvPr>
          <p:cNvSpPr>
            <a:spLocks xmlns:a="http://schemas.openxmlformats.org/drawingml/2006/main" noGrp="1"/>
          </p:cNvSpPr>
          <p:nvPr/>
        </p:nvSpPr>
        <p:spPr>
          <a:xfrm xmlns:a="http://schemas.openxmlformats.org/drawingml/2006/main">
            <a:off x="6305550" y="4724400"/>
            <a:ext cx="4953000" cy="19050"/>
          </a:xfrm>
          <a:prstGeom xmlns:a="http://schemas.openxmlformats.org/drawingml/2006/main" prst="rect">
            <a:avLst/>
          </a:prstGeom>
          <a:solidFill xmlns:a="http://schemas.openxmlformats.org/drawingml/2006/main">
            <a:srgbClr val="B8C2CC"/>
          </a:solidFill>
          <a:ln xmlns:a="http://schemas.openxmlformats.org/drawingml/2006/main" w="0">
            <a:solidFill>
              <a:srgbClr val="B8C2CC"/>
            </a:solidFill>
            <a:prstDash val="solid"/>
          </a:ln>
        </p:spPr>
      </p:sp>
      <p:sp>
        <p:nvSpPr>
          <p:cNvPr id="29" name="">
            <a:extLst xmlns:a="http://schemas.openxmlformats.org/drawingml/2006/main">
              <a:ext uri="{FF2B5EF4-FFF2-40B4-BE49-F238E27FC236}">
                <a16:creationId xmlns:a16="http://schemas.microsoft.com/office/drawing/2014/main" id="{0F04DB16-68F2-489D-A1EA-DA26692EF1FB}"/>
              </a:ext>
            </a:extLst>
          </p:cNvPr>
          <p:cNvSpPr>
            <a:spLocks xmlns:a="http://schemas.openxmlformats.org/drawingml/2006/main" noGrp="1"/>
          </p:cNvSpPr>
          <p:nvPr/>
        </p:nvSpPr>
        <p:spPr>
          <a:xfrm xmlns:a="http://schemas.openxmlformats.org/drawingml/2006/main">
            <a:off x="6305550" y="4857750"/>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i="0">
                <a:solidFill>
                  <a:srgbClr val="2B6CB0"/>
                </a:solidFill>
              </a:defRPr>
            </a:pPr>
            <a:r>
              <a:rPr sz="1575" b="1" i="0">
                <a:solidFill>
                  <a:srgbClr val="2B6CB0"/>
                </a:solidFill>
              </a:rPr>
              <a:t>Audit</a:t>
            </a:r>
          </a:p>
        </p:txBody>
      </p:sp>
      <p:sp>
        <p:nvSpPr>
          <p:cNvPr id="30" name="">
            <a:extLst xmlns:a="http://schemas.openxmlformats.org/drawingml/2006/main">
              <a:ext uri="{FF2B5EF4-FFF2-40B4-BE49-F238E27FC236}">
                <a16:creationId xmlns:a16="http://schemas.microsoft.com/office/drawing/2014/main" id="{4A5A7CD9-96B8-412A-BA4C-6F75DECF1F8F}"/>
              </a:ext>
            </a:extLst>
          </p:cNvPr>
          <p:cNvSpPr>
            <a:spLocks xmlns:a="http://schemas.openxmlformats.org/drawingml/2006/main" noGrp="1"/>
          </p:cNvSpPr>
          <p:nvPr/>
        </p:nvSpPr>
        <p:spPr>
          <a:xfrm xmlns:a="http://schemas.openxmlformats.org/drawingml/2006/main">
            <a:off x="8343900" y="48577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17212B"/>
                </a:solidFill>
              </a:defRPr>
            </a:pPr>
            <a:r>
              <a:rPr sz="1425" b="0" i="0">
                <a:solidFill>
                  <a:srgbClr val="17212B"/>
                </a:solidFill>
              </a:rPr>
              <a:t>Authentication and admin outcomes appended locally</a:t>
            </a:r>
          </a:p>
        </p:txBody>
      </p:sp>
      <p:sp>
        <p:nvSpPr>
          <p:cNvPr id="31" name="">
            <a:extLst xmlns:a="http://schemas.openxmlformats.org/drawingml/2006/main">
              <a:ext uri="{FF2B5EF4-FFF2-40B4-BE49-F238E27FC236}">
                <a16:creationId xmlns:a16="http://schemas.microsoft.com/office/drawing/2014/main" id="{A85D6836-DE03-49D4-899E-57E3B0641B4C}"/>
              </a:ext>
            </a:extLst>
          </p:cNvPr>
          <p:cNvSpPr>
            <a:spLocks xmlns:a="http://schemas.openxmlformats.org/drawingml/2006/main" noGrp="1"/>
          </p:cNvSpPr>
          <p:nvPr/>
        </p:nvSpPr>
        <p:spPr>
          <a:xfrm xmlns:a="http://schemas.openxmlformats.org/drawingml/2006/main">
            <a:off x="514350" y="5810250"/>
            <a:ext cx="10744200" cy="419100"/>
          </a:xfrm>
          <a:prstGeom xmlns:a="http://schemas.openxmlformats.org/drawingml/2006/main" prst="rect">
            <a:avLst/>
          </a:prstGeom>
          <a:solidFill xmlns:a="http://schemas.openxmlformats.org/drawingml/2006/main">
            <a:srgbClr val="EAF5F0"/>
          </a:solidFill>
          <a:ln xmlns:a="http://schemas.openxmlformats.org/drawingml/2006/main" w="9525">
            <a:solidFill>
              <a:srgbClr val="16785B"/>
            </a:solidFill>
            <a:prstDash val="solid"/>
          </a:ln>
        </p:spPr>
      </p:sp>
      <p:sp>
        <p:nvSpPr>
          <p:cNvPr id="32" name="">
            <a:extLst xmlns:a="http://schemas.openxmlformats.org/drawingml/2006/main">
              <a:ext uri="{FF2B5EF4-FFF2-40B4-BE49-F238E27FC236}">
                <a16:creationId xmlns:a16="http://schemas.microsoft.com/office/drawing/2014/main" id="{9EC24636-102C-4560-BC1B-3D290745AF38}"/>
              </a:ext>
            </a:extLst>
          </p:cNvPr>
          <p:cNvSpPr>
            <a:spLocks xmlns:a="http://schemas.openxmlformats.org/drawingml/2006/main" noGrp="1"/>
          </p:cNvSpPr>
          <p:nvPr/>
        </p:nvSpPr>
        <p:spPr>
          <a:xfrm xmlns:a="http://schemas.openxmlformats.org/drawingml/2006/main">
            <a:off x="685800" y="5905500"/>
            <a:ext cx="1038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i="0">
                <a:solidFill>
                  <a:srgbClr val="0F5F49"/>
                </a:solidFill>
              </a:defRPr>
            </a:pPr>
            <a:r>
              <a:rPr sz="1575" b="1" i="0">
                <a:solidFill>
                  <a:srgbClr val="0F5F49"/>
                </a:solidFill>
              </a:rPr>
              <a:t>A successful local session activates only that user's finance workspace.</a:t>
            </a:r>
          </a:p>
        </p:txBody>
      </p:sp>
    </p:spTree>
    <p:extLst>
      <p:ext uri="{BB962C8B-B14F-4D97-AF65-F5344CB8AC3E}">
        <p14:creationId xmlns:p14="http://schemas.microsoft.com/office/powerpoint/2010/main" val="147197449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F94BCF06-C60E-4428-8CCA-7C83294A992C}"/>
              </a:ext>
            </a:extLst>
          </p:cNvPr>
          <p:cNvSpPr>
            <a:spLocks xmlns:a="http://schemas.openxmlformats.org/drawingml/2006/main" noGrp="1"/>
          </p:cNvSpPr>
          <p:nvPr/>
        </p:nvSpPr>
        <p:spPr>
          <a:xfrm xmlns:a="http://schemas.openxmlformats.org/drawingml/2006/main">
            <a:off x="400050" y="247650"/>
            <a:ext cx="11391900" cy="38100"/>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2" name="">
            <a:extLst xmlns:a="http://schemas.openxmlformats.org/drawingml/2006/main">
              <a:ext uri="{FF2B5EF4-FFF2-40B4-BE49-F238E27FC236}">
                <a16:creationId xmlns:a16="http://schemas.microsoft.com/office/drawing/2014/main" id="{D727468A-7ECA-4F5A-975C-5FCFA21251CB}"/>
              </a:ext>
            </a:extLst>
          </p:cNvPr>
          <p:cNvSpPr>
            <a:spLocks xmlns:a="http://schemas.openxmlformats.org/drawingml/2006/main" noGrp="1"/>
          </p:cNvSpPr>
          <p:nvPr/>
        </p:nvSpPr>
        <p:spPr>
          <a:xfrm xmlns:a="http://schemas.openxmlformats.org/drawingml/2006/main">
            <a:off x="457200" y="371475"/>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EMAIL OTP</a:t>
            </a:r>
          </a:p>
        </p:txBody>
      </p:sp>
      <p:sp>
        <p:nvSpPr>
          <p:cNvPr id="3" name="">
            <a:extLst xmlns:a="http://schemas.openxmlformats.org/drawingml/2006/main">
              <a:ext uri="{FF2B5EF4-FFF2-40B4-BE49-F238E27FC236}">
                <a16:creationId xmlns:a16="http://schemas.microsoft.com/office/drawing/2014/main" id="{C9592797-703B-4B2E-BEF5-44C38A35A3FC}"/>
              </a:ext>
            </a:extLst>
          </p:cNvPr>
          <p:cNvSpPr>
            <a:spLocks xmlns:a="http://schemas.openxmlformats.org/drawingml/2006/main" noGrp="1"/>
          </p:cNvSpPr>
          <p:nvPr/>
        </p:nvSpPr>
        <p:spPr>
          <a:xfrm xmlns:a="http://schemas.openxmlformats.org/drawingml/2006/main">
            <a:off x="457200" y="72390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7212B"/>
                </a:solidFill>
              </a:defRPr>
            </a:pPr>
            <a:r>
              <a:rPr sz="3000" b="1" i="0">
                <a:solidFill>
                  <a:srgbClr val="17212B"/>
                </a:solidFill>
              </a:rPr>
              <a:t>OTP is short-lived, not a remote account system</a:t>
            </a:r>
          </a:p>
        </p:txBody>
      </p:sp>
      <p:sp>
        <p:nvSpPr>
          <p:cNvPr id="4" name="">
            <a:extLst xmlns:a="http://schemas.openxmlformats.org/drawingml/2006/main">
              <a:ext uri="{FF2B5EF4-FFF2-40B4-BE49-F238E27FC236}">
                <a16:creationId xmlns:a16="http://schemas.microsoft.com/office/drawing/2014/main" id="{DE8C4CD1-6B2A-4E39-B98E-6E3172C3C9C2}"/>
              </a:ext>
            </a:extLst>
          </p:cNvPr>
          <p:cNvSpPr>
            <a:spLocks xmlns:a="http://schemas.openxmlformats.org/drawingml/2006/main" noGrp="1"/>
          </p:cNvSpPr>
          <p:nvPr/>
        </p:nvSpPr>
        <p:spPr>
          <a:xfrm xmlns:a="http://schemas.openxmlformats.org/drawingml/2006/main">
            <a:off x="1127760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i="0">
                <a:solidFill>
                  <a:srgbClr val="5B6573"/>
                </a:solidFill>
              </a:defRPr>
            </a:pPr>
            <a:r>
              <a:rPr sz="1050" b="0" i="0">
                <a:solidFill>
                  <a:srgbClr val="5B6573"/>
                </a:solidFill>
              </a:rPr>
              <a:t>08</a:t>
            </a:r>
          </a:p>
        </p:txBody>
      </p:sp>
      <p:sp>
        <p:nvSpPr>
          <p:cNvPr id="5" name="">
            <a:extLst xmlns:a="http://schemas.openxmlformats.org/drawingml/2006/main">
              <a:ext uri="{FF2B5EF4-FFF2-40B4-BE49-F238E27FC236}">
                <a16:creationId xmlns:a16="http://schemas.microsoft.com/office/drawing/2014/main" id="{DBE414B8-B96B-4181-A998-B53E12B263A9}"/>
              </a:ext>
            </a:extLst>
          </p:cNvPr>
          <p:cNvSpPr>
            <a:spLocks xmlns:a="http://schemas.openxmlformats.org/drawingml/2006/main" noGrp="1"/>
          </p:cNvSpPr>
          <p:nvPr/>
        </p:nvSpPr>
        <p:spPr>
          <a:xfrm xmlns:a="http://schemas.openxmlformats.org/drawingml/2006/main">
            <a:off x="438150" y="184785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i="0">
                <a:solidFill>
                  <a:srgbClr val="0F5F49"/>
                </a:solidFill>
              </a:defRPr>
            </a:pPr>
            <a:r>
              <a:rPr sz="2550" b="1" i="0">
                <a:solidFill>
                  <a:srgbClr val="0F5F49"/>
                </a:solidFill>
              </a:rPr>
              <a:t>1</a:t>
            </a:r>
          </a:p>
        </p:txBody>
      </p:sp>
      <p:sp>
        <p:nvSpPr>
          <p:cNvPr id="6" name="">
            <a:extLst xmlns:a="http://schemas.openxmlformats.org/drawingml/2006/main">
              <a:ext uri="{FF2B5EF4-FFF2-40B4-BE49-F238E27FC236}">
                <a16:creationId xmlns:a16="http://schemas.microsoft.com/office/drawing/2014/main" id="{CEC5A0EF-CD5B-4B9D-B4D2-C83E1A445C8F}"/>
              </a:ext>
            </a:extLst>
          </p:cNvPr>
          <p:cNvSpPr>
            <a:spLocks xmlns:a="http://schemas.openxmlformats.org/drawingml/2006/main" noGrp="1"/>
          </p:cNvSpPr>
          <p:nvPr/>
        </p:nvSpPr>
        <p:spPr>
          <a:xfrm xmlns:a="http://schemas.openxmlformats.org/drawingml/2006/main">
            <a:off x="952500" y="2076450"/>
            <a:ext cx="1285875" cy="38100"/>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7" name="">
            <a:extLst xmlns:a="http://schemas.openxmlformats.org/drawingml/2006/main">
              <a:ext uri="{FF2B5EF4-FFF2-40B4-BE49-F238E27FC236}">
                <a16:creationId xmlns:a16="http://schemas.microsoft.com/office/drawing/2014/main" id="{70261A32-C0B5-46E5-997B-A824E4FFBEF4}"/>
              </a:ext>
            </a:extLst>
          </p:cNvPr>
          <p:cNvSpPr>
            <a:spLocks xmlns:a="http://schemas.openxmlformats.org/drawingml/2006/main" noGrp="1"/>
          </p:cNvSpPr>
          <p:nvPr/>
        </p:nvSpPr>
        <p:spPr>
          <a:xfrm xmlns:a="http://schemas.openxmlformats.org/drawingml/2006/main">
            <a:off x="438150" y="2533650"/>
            <a:ext cx="160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0F5F49"/>
                </a:solidFill>
              </a:defRPr>
            </a:pPr>
            <a:r>
              <a:rPr sz="1725" b="1" i="0">
                <a:solidFill>
                  <a:srgbClr val="0F5F49"/>
                </a:solidFill>
              </a:rPr>
              <a:t>Validate</a:t>
            </a:r>
          </a:p>
        </p:txBody>
      </p:sp>
      <p:sp>
        <p:nvSpPr>
          <p:cNvPr id="8" name="">
            <a:extLst xmlns:a="http://schemas.openxmlformats.org/drawingml/2006/main">
              <a:ext uri="{FF2B5EF4-FFF2-40B4-BE49-F238E27FC236}">
                <a16:creationId xmlns:a16="http://schemas.microsoft.com/office/drawing/2014/main" id="{1CADEB22-AEE9-4DF8-AAEE-461BD2E3E5EF}"/>
              </a:ext>
            </a:extLst>
          </p:cNvPr>
          <p:cNvSpPr>
            <a:spLocks xmlns:a="http://schemas.openxmlformats.org/drawingml/2006/main" noGrp="1"/>
          </p:cNvSpPr>
          <p:nvPr/>
        </p:nvSpPr>
        <p:spPr>
          <a:xfrm xmlns:a="http://schemas.openxmlformats.org/drawingml/2006/main">
            <a:off x="438150" y="2952750"/>
            <a:ext cx="1600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573"/>
                </a:solidFill>
              </a:defRPr>
            </a:pPr>
            <a:r>
              <a:rPr sz="1350" b="0" i="0">
                <a:solidFill>
                  <a:srgbClr val="5B6573"/>
                </a:solidFill>
              </a:rPr>
              <a:t>Local fields</a:t>
            </a:r>
          </a:p>
        </p:txBody>
      </p:sp>
      <p:sp>
        <p:nvSpPr>
          <p:cNvPr id="9" name="">
            <a:extLst xmlns:a="http://schemas.openxmlformats.org/drawingml/2006/main">
              <a:ext uri="{FF2B5EF4-FFF2-40B4-BE49-F238E27FC236}">
                <a16:creationId xmlns:a16="http://schemas.microsoft.com/office/drawing/2014/main" id="{83B7A375-EAD7-44F3-AE35-0B4E5F91E8D9}"/>
              </a:ext>
            </a:extLst>
          </p:cNvPr>
          <p:cNvSpPr>
            <a:spLocks xmlns:a="http://schemas.openxmlformats.org/drawingml/2006/main" noGrp="1"/>
          </p:cNvSpPr>
          <p:nvPr/>
        </p:nvSpPr>
        <p:spPr>
          <a:xfrm xmlns:a="http://schemas.openxmlformats.org/drawingml/2006/main">
            <a:off x="2352675" y="184785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i="0">
                <a:solidFill>
                  <a:srgbClr val="0F5F49"/>
                </a:solidFill>
              </a:defRPr>
            </a:pPr>
            <a:r>
              <a:rPr sz="2550" b="1" i="0">
                <a:solidFill>
                  <a:srgbClr val="0F5F49"/>
                </a:solidFill>
              </a:rPr>
              <a:t>2</a:t>
            </a:r>
          </a:p>
        </p:txBody>
      </p:sp>
      <p:sp>
        <p:nvSpPr>
          <p:cNvPr id="10" name="">
            <a:extLst xmlns:a="http://schemas.openxmlformats.org/drawingml/2006/main">
              <a:ext uri="{FF2B5EF4-FFF2-40B4-BE49-F238E27FC236}">
                <a16:creationId xmlns:a16="http://schemas.microsoft.com/office/drawing/2014/main" id="{61129E80-E49B-45F1-A85D-607F1FCF9164}"/>
              </a:ext>
            </a:extLst>
          </p:cNvPr>
          <p:cNvSpPr>
            <a:spLocks xmlns:a="http://schemas.openxmlformats.org/drawingml/2006/main" noGrp="1"/>
          </p:cNvSpPr>
          <p:nvPr/>
        </p:nvSpPr>
        <p:spPr>
          <a:xfrm xmlns:a="http://schemas.openxmlformats.org/drawingml/2006/main">
            <a:off x="2867025" y="2076450"/>
            <a:ext cx="1285875" cy="38100"/>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11" name="">
            <a:extLst xmlns:a="http://schemas.openxmlformats.org/drawingml/2006/main">
              <a:ext uri="{FF2B5EF4-FFF2-40B4-BE49-F238E27FC236}">
                <a16:creationId xmlns:a16="http://schemas.microsoft.com/office/drawing/2014/main" id="{11E63B9D-9E9A-49A7-8847-B8D09CECD6DF}"/>
              </a:ext>
            </a:extLst>
          </p:cNvPr>
          <p:cNvSpPr>
            <a:spLocks xmlns:a="http://schemas.openxmlformats.org/drawingml/2006/main" noGrp="1"/>
          </p:cNvSpPr>
          <p:nvPr/>
        </p:nvSpPr>
        <p:spPr>
          <a:xfrm xmlns:a="http://schemas.openxmlformats.org/drawingml/2006/main">
            <a:off x="2352675" y="2533650"/>
            <a:ext cx="160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0F5F49"/>
                </a:solidFill>
              </a:defRPr>
            </a:pPr>
            <a:r>
              <a:rPr sz="1725" b="1" i="0">
                <a:solidFill>
                  <a:srgbClr val="0F5F49"/>
                </a:solidFill>
              </a:rPr>
              <a:t>Request</a:t>
            </a:r>
          </a:p>
        </p:txBody>
      </p:sp>
      <p:sp>
        <p:nvSpPr>
          <p:cNvPr id="12" name="">
            <a:extLst xmlns:a="http://schemas.openxmlformats.org/drawingml/2006/main">
              <a:ext uri="{FF2B5EF4-FFF2-40B4-BE49-F238E27FC236}">
                <a16:creationId xmlns:a16="http://schemas.microsoft.com/office/drawing/2014/main" id="{0441D7D8-5847-4422-AE2A-588A6390DCD2}"/>
              </a:ext>
            </a:extLst>
          </p:cNvPr>
          <p:cNvSpPr>
            <a:spLocks xmlns:a="http://schemas.openxmlformats.org/drawingml/2006/main" noGrp="1"/>
          </p:cNvSpPr>
          <p:nvPr/>
        </p:nvSpPr>
        <p:spPr>
          <a:xfrm xmlns:a="http://schemas.openxmlformats.org/drawingml/2006/main">
            <a:off x="2352675" y="2952750"/>
            <a:ext cx="1600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573"/>
                </a:solidFill>
              </a:defRPr>
            </a:pPr>
            <a:r>
              <a:rPr sz="1350" b="0" i="0">
                <a:solidFill>
                  <a:srgbClr val="5B6573"/>
                </a:solidFill>
              </a:rPr>
              <a:t>Purpose + email</a:t>
            </a:r>
          </a:p>
        </p:txBody>
      </p:sp>
      <p:sp>
        <p:nvSpPr>
          <p:cNvPr id="13" name="">
            <a:extLst xmlns:a="http://schemas.openxmlformats.org/drawingml/2006/main">
              <a:ext uri="{FF2B5EF4-FFF2-40B4-BE49-F238E27FC236}">
                <a16:creationId xmlns:a16="http://schemas.microsoft.com/office/drawing/2014/main" id="{7705C6FE-18A5-44F9-9A41-E34D9F3A6249}"/>
              </a:ext>
            </a:extLst>
          </p:cNvPr>
          <p:cNvSpPr>
            <a:spLocks xmlns:a="http://schemas.openxmlformats.org/drawingml/2006/main" noGrp="1"/>
          </p:cNvSpPr>
          <p:nvPr/>
        </p:nvSpPr>
        <p:spPr>
          <a:xfrm xmlns:a="http://schemas.openxmlformats.org/drawingml/2006/main">
            <a:off x="4267200" y="184785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i="0">
                <a:solidFill>
                  <a:srgbClr val="0F5F49"/>
                </a:solidFill>
              </a:defRPr>
            </a:pPr>
            <a:r>
              <a:rPr sz="2550" b="1" i="0">
                <a:solidFill>
                  <a:srgbClr val="0F5F49"/>
                </a:solidFill>
              </a:rPr>
              <a:t>3</a:t>
            </a:r>
          </a:p>
        </p:txBody>
      </p:sp>
      <p:sp>
        <p:nvSpPr>
          <p:cNvPr id="14" name="">
            <a:extLst xmlns:a="http://schemas.openxmlformats.org/drawingml/2006/main">
              <a:ext uri="{FF2B5EF4-FFF2-40B4-BE49-F238E27FC236}">
                <a16:creationId xmlns:a16="http://schemas.microsoft.com/office/drawing/2014/main" id="{FBD0EABD-B46F-4C8F-8941-C691FC5E852C}"/>
              </a:ext>
            </a:extLst>
          </p:cNvPr>
          <p:cNvSpPr>
            <a:spLocks xmlns:a="http://schemas.openxmlformats.org/drawingml/2006/main" noGrp="1"/>
          </p:cNvSpPr>
          <p:nvPr/>
        </p:nvSpPr>
        <p:spPr>
          <a:xfrm xmlns:a="http://schemas.openxmlformats.org/drawingml/2006/main">
            <a:off x="4781550" y="2076450"/>
            <a:ext cx="1285875" cy="38100"/>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15" name="">
            <a:extLst xmlns:a="http://schemas.openxmlformats.org/drawingml/2006/main">
              <a:ext uri="{FF2B5EF4-FFF2-40B4-BE49-F238E27FC236}">
                <a16:creationId xmlns:a16="http://schemas.microsoft.com/office/drawing/2014/main" id="{53E81436-926E-4208-AE45-02F88C0F1392}"/>
              </a:ext>
            </a:extLst>
          </p:cNvPr>
          <p:cNvSpPr>
            <a:spLocks xmlns:a="http://schemas.openxmlformats.org/drawingml/2006/main" noGrp="1"/>
          </p:cNvSpPr>
          <p:nvPr/>
        </p:nvSpPr>
        <p:spPr>
          <a:xfrm xmlns:a="http://schemas.openxmlformats.org/drawingml/2006/main">
            <a:off x="4267200" y="2533650"/>
            <a:ext cx="160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0F5F49"/>
                </a:solidFill>
              </a:defRPr>
            </a:pPr>
            <a:r>
              <a:rPr sz="1725" b="1" i="0">
                <a:solidFill>
                  <a:srgbClr val="0F5F49"/>
                </a:solidFill>
              </a:rPr>
              <a:t>Generate</a:t>
            </a:r>
          </a:p>
        </p:txBody>
      </p:sp>
      <p:sp>
        <p:nvSpPr>
          <p:cNvPr id="16" name="">
            <a:extLst xmlns:a="http://schemas.openxmlformats.org/drawingml/2006/main">
              <a:ext uri="{FF2B5EF4-FFF2-40B4-BE49-F238E27FC236}">
                <a16:creationId xmlns:a16="http://schemas.microsoft.com/office/drawing/2014/main" id="{0E8E0A00-2641-42BB-BB4F-56B1A46E5051}"/>
              </a:ext>
            </a:extLst>
          </p:cNvPr>
          <p:cNvSpPr>
            <a:spLocks xmlns:a="http://schemas.openxmlformats.org/drawingml/2006/main" noGrp="1"/>
          </p:cNvSpPr>
          <p:nvPr/>
        </p:nvSpPr>
        <p:spPr>
          <a:xfrm xmlns:a="http://schemas.openxmlformats.org/drawingml/2006/main">
            <a:off x="4267200" y="2952750"/>
            <a:ext cx="1600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573"/>
                </a:solidFill>
              </a:defRPr>
            </a:pPr>
            <a:r>
              <a:rPr sz="1350" b="0" i="0">
                <a:solidFill>
                  <a:srgbClr val="5B6573"/>
                </a:solidFill>
              </a:rPr>
              <a:t>SecureRandom 6 digits</a:t>
            </a:r>
          </a:p>
        </p:txBody>
      </p:sp>
      <p:sp>
        <p:nvSpPr>
          <p:cNvPr id="17" name="">
            <a:extLst xmlns:a="http://schemas.openxmlformats.org/drawingml/2006/main">
              <a:ext uri="{FF2B5EF4-FFF2-40B4-BE49-F238E27FC236}">
                <a16:creationId xmlns:a16="http://schemas.microsoft.com/office/drawing/2014/main" id="{6AE7E04A-1A15-4F75-A315-D8C6124E3B3B}"/>
              </a:ext>
            </a:extLst>
          </p:cNvPr>
          <p:cNvSpPr>
            <a:spLocks xmlns:a="http://schemas.openxmlformats.org/drawingml/2006/main" noGrp="1"/>
          </p:cNvSpPr>
          <p:nvPr/>
        </p:nvSpPr>
        <p:spPr>
          <a:xfrm xmlns:a="http://schemas.openxmlformats.org/drawingml/2006/main">
            <a:off x="6181725" y="184785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i="0">
                <a:solidFill>
                  <a:srgbClr val="0F5F49"/>
                </a:solidFill>
              </a:defRPr>
            </a:pPr>
            <a:r>
              <a:rPr sz="2550" b="1" i="0">
                <a:solidFill>
                  <a:srgbClr val="0F5F49"/>
                </a:solidFill>
              </a:rPr>
              <a:t>4</a:t>
            </a:r>
          </a:p>
        </p:txBody>
      </p:sp>
      <p:sp>
        <p:nvSpPr>
          <p:cNvPr id="18" name="">
            <a:extLst xmlns:a="http://schemas.openxmlformats.org/drawingml/2006/main">
              <a:ext uri="{FF2B5EF4-FFF2-40B4-BE49-F238E27FC236}">
                <a16:creationId xmlns:a16="http://schemas.microsoft.com/office/drawing/2014/main" id="{6A62CB6A-A880-412E-B2A2-D184F386192E}"/>
              </a:ext>
            </a:extLst>
          </p:cNvPr>
          <p:cNvSpPr>
            <a:spLocks xmlns:a="http://schemas.openxmlformats.org/drawingml/2006/main" noGrp="1"/>
          </p:cNvSpPr>
          <p:nvPr/>
        </p:nvSpPr>
        <p:spPr>
          <a:xfrm xmlns:a="http://schemas.openxmlformats.org/drawingml/2006/main">
            <a:off x="6696075" y="2076450"/>
            <a:ext cx="1285875" cy="38100"/>
          </a:xfrm>
          <a:prstGeom xmlns:a="http://schemas.openxmlformats.org/drawingml/2006/main" prst="rect">
            <a:avLst/>
          </a:prstGeom>
          <a:solidFill xmlns:a="http://schemas.openxmlformats.org/drawingml/2006/main">
            <a:srgbClr val="2B6CB0"/>
          </a:solidFill>
          <a:ln xmlns:a="http://schemas.openxmlformats.org/drawingml/2006/main" w="0">
            <a:solidFill>
              <a:srgbClr val="2B6CB0"/>
            </a:solidFill>
            <a:prstDash val="solid"/>
          </a:ln>
        </p:spPr>
      </p:sp>
      <p:sp>
        <p:nvSpPr>
          <p:cNvPr id="19" name="">
            <a:extLst xmlns:a="http://schemas.openxmlformats.org/drawingml/2006/main">
              <a:ext uri="{FF2B5EF4-FFF2-40B4-BE49-F238E27FC236}">
                <a16:creationId xmlns:a16="http://schemas.microsoft.com/office/drawing/2014/main" id="{DB6ADC94-CACF-4BB6-88E0-29BA418FACAD}"/>
              </a:ext>
            </a:extLst>
          </p:cNvPr>
          <p:cNvSpPr>
            <a:spLocks xmlns:a="http://schemas.openxmlformats.org/drawingml/2006/main" noGrp="1"/>
          </p:cNvSpPr>
          <p:nvPr/>
        </p:nvSpPr>
        <p:spPr>
          <a:xfrm xmlns:a="http://schemas.openxmlformats.org/drawingml/2006/main">
            <a:off x="6181725" y="2533650"/>
            <a:ext cx="160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2B6CB0"/>
                </a:solidFill>
              </a:defRPr>
            </a:pPr>
            <a:r>
              <a:rPr sz="1725" b="1" i="0">
                <a:solidFill>
                  <a:srgbClr val="2B6CB0"/>
                </a:solidFill>
              </a:rPr>
              <a:t>Deliver</a:t>
            </a:r>
          </a:p>
        </p:txBody>
      </p:sp>
      <p:sp>
        <p:nvSpPr>
          <p:cNvPr id="20" name="">
            <a:extLst xmlns:a="http://schemas.openxmlformats.org/drawingml/2006/main">
              <a:ext uri="{FF2B5EF4-FFF2-40B4-BE49-F238E27FC236}">
                <a16:creationId xmlns:a16="http://schemas.microsoft.com/office/drawing/2014/main" id="{6C315CCD-B2A9-4FD3-9211-8A9C710DE284}"/>
              </a:ext>
            </a:extLst>
          </p:cNvPr>
          <p:cNvSpPr>
            <a:spLocks xmlns:a="http://schemas.openxmlformats.org/drawingml/2006/main" noGrp="1"/>
          </p:cNvSpPr>
          <p:nvPr/>
        </p:nvSpPr>
        <p:spPr>
          <a:xfrm xmlns:a="http://schemas.openxmlformats.org/drawingml/2006/main">
            <a:off x="6181725" y="2952750"/>
            <a:ext cx="1600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573"/>
                </a:solidFill>
              </a:defRPr>
            </a:pPr>
            <a:r>
              <a:rPr sz="1350" b="0" i="0">
                <a:solidFill>
                  <a:srgbClr val="5B6573"/>
                </a:solidFill>
              </a:rPr>
              <a:t>STARTTLS SMTP</a:t>
            </a:r>
          </a:p>
        </p:txBody>
      </p:sp>
      <p:sp>
        <p:nvSpPr>
          <p:cNvPr id="21" name="">
            <a:extLst xmlns:a="http://schemas.openxmlformats.org/drawingml/2006/main">
              <a:ext uri="{FF2B5EF4-FFF2-40B4-BE49-F238E27FC236}">
                <a16:creationId xmlns:a16="http://schemas.microsoft.com/office/drawing/2014/main" id="{7166394E-2C54-4B6E-A5DB-9776742A847D}"/>
              </a:ext>
            </a:extLst>
          </p:cNvPr>
          <p:cNvSpPr>
            <a:spLocks xmlns:a="http://schemas.openxmlformats.org/drawingml/2006/main" noGrp="1"/>
          </p:cNvSpPr>
          <p:nvPr/>
        </p:nvSpPr>
        <p:spPr>
          <a:xfrm xmlns:a="http://schemas.openxmlformats.org/drawingml/2006/main">
            <a:off x="8096250" y="184785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i="0">
                <a:solidFill>
                  <a:srgbClr val="0F5F49"/>
                </a:solidFill>
              </a:defRPr>
            </a:pPr>
            <a:r>
              <a:rPr sz="2550" b="1" i="0">
                <a:solidFill>
                  <a:srgbClr val="0F5F49"/>
                </a:solidFill>
              </a:rPr>
              <a:t>5</a:t>
            </a:r>
          </a:p>
        </p:txBody>
      </p:sp>
      <p:sp>
        <p:nvSpPr>
          <p:cNvPr id="22" name="">
            <a:extLst xmlns:a="http://schemas.openxmlformats.org/drawingml/2006/main">
              <a:ext uri="{FF2B5EF4-FFF2-40B4-BE49-F238E27FC236}">
                <a16:creationId xmlns:a16="http://schemas.microsoft.com/office/drawing/2014/main" id="{815F006D-6B90-40F7-B259-DB32F2805D40}"/>
              </a:ext>
            </a:extLst>
          </p:cNvPr>
          <p:cNvSpPr>
            <a:spLocks xmlns:a="http://schemas.openxmlformats.org/drawingml/2006/main" noGrp="1"/>
          </p:cNvSpPr>
          <p:nvPr/>
        </p:nvSpPr>
        <p:spPr>
          <a:xfrm xmlns:a="http://schemas.openxmlformats.org/drawingml/2006/main">
            <a:off x="8610600" y="2076450"/>
            <a:ext cx="1285875" cy="38100"/>
          </a:xfrm>
          <a:prstGeom xmlns:a="http://schemas.openxmlformats.org/drawingml/2006/main" prst="rect">
            <a:avLst/>
          </a:prstGeom>
          <a:solidFill xmlns:a="http://schemas.openxmlformats.org/drawingml/2006/main">
            <a:srgbClr val="2B6CB0"/>
          </a:solidFill>
          <a:ln xmlns:a="http://schemas.openxmlformats.org/drawingml/2006/main" w="0">
            <a:solidFill>
              <a:srgbClr val="2B6CB0"/>
            </a:solidFill>
            <a:prstDash val="solid"/>
          </a:ln>
        </p:spPr>
      </p:sp>
      <p:sp>
        <p:nvSpPr>
          <p:cNvPr id="23" name="">
            <a:extLst xmlns:a="http://schemas.openxmlformats.org/drawingml/2006/main">
              <a:ext uri="{FF2B5EF4-FFF2-40B4-BE49-F238E27FC236}">
                <a16:creationId xmlns:a16="http://schemas.microsoft.com/office/drawing/2014/main" id="{40B15AB6-855C-476F-882D-14A635EEBB78}"/>
              </a:ext>
            </a:extLst>
          </p:cNvPr>
          <p:cNvSpPr>
            <a:spLocks xmlns:a="http://schemas.openxmlformats.org/drawingml/2006/main" noGrp="1"/>
          </p:cNvSpPr>
          <p:nvPr/>
        </p:nvSpPr>
        <p:spPr>
          <a:xfrm xmlns:a="http://schemas.openxmlformats.org/drawingml/2006/main">
            <a:off x="8096250" y="2533650"/>
            <a:ext cx="160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2B6CB0"/>
                </a:solidFill>
              </a:defRPr>
            </a:pPr>
            <a:r>
              <a:rPr sz="1725" b="1" i="0">
                <a:solidFill>
                  <a:srgbClr val="2B6CB0"/>
                </a:solidFill>
              </a:rPr>
              <a:t>Verify</a:t>
            </a:r>
          </a:p>
        </p:txBody>
      </p:sp>
      <p:sp>
        <p:nvSpPr>
          <p:cNvPr id="24" name="">
            <a:extLst xmlns:a="http://schemas.openxmlformats.org/drawingml/2006/main">
              <a:ext uri="{FF2B5EF4-FFF2-40B4-BE49-F238E27FC236}">
                <a16:creationId xmlns:a16="http://schemas.microsoft.com/office/drawing/2014/main" id="{95D006A5-E906-4512-A64E-80BDD7E567FC}"/>
              </a:ext>
            </a:extLst>
          </p:cNvPr>
          <p:cNvSpPr>
            <a:spLocks xmlns:a="http://schemas.openxmlformats.org/drawingml/2006/main" noGrp="1"/>
          </p:cNvSpPr>
          <p:nvPr/>
        </p:nvSpPr>
        <p:spPr>
          <a:xfrm xmlns:a="http://schemas.openxmlformats.org/drawingml/2006/main">
            <a:off x="8096250" y="2952750"/>
            <a:ext cx="1600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573"/>
                </a:solidFill>
              </a:defRPr>
            </a:pPr>
            <a:r>
              <a:rPr sz="1350" b="0" i="0">
                <a:solidFill>
                  <a:srgbClr val="5B6573"/>
                </a:solidFill>
              </a:rPr>
              <a:t>Constant-time digest</a:t>
            </a:r>
          </a:p>
        </p:txBody>
      </p:sp>
      <p:sp>
        <p:nvSpPr>
          <p:cNvPr id="25" name="">
            <a:extLst xmlns:a="http://schemas.openxmlformats.org/drawingml/2006/main">
              <a:ext uri="{FF2B5EF4-FFF2-40B4-BE49-F238E27FC236}">
                <a16:creationId xmlns:a16="http://schemas.microsoft.com/office/drawing/2014/main" id="{4CA943D1-2D27-4CAA-BEAC-29AE4A33F618}"/>
              </a:ext>
            </a:extLst>
          </p:cNvPr>
          <p:cNvSpPr>
            <a:spLocks xmlns:a="http://schemas.openxmlformats.org/drawingml/2006/main" noGrp="1"/>
          </p:cNvSpPr>
          <p:nvPr/>
        </p:nvSpPr>
        <p:spPr>
          <a:xfrm xmlns:a="http://schemas.openxmlformats.org/drawingml/2006/main">
            <a:off x="10010775" y="184785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i="0">
                <a:solidFill>
                  <a:srgbClr val="0F5F49"/>
                </a:solidFill>
              </a:defRPr>
            </a:pPr>
            <a:r>
              <a:rPr sz="2550" b="1" i="0">
                <a:solidFill>
                  <a:srgbClr val="0F5F49"/>
                </a:solidFill>
              </a:rPr>
              <a:t>6</a:t>
            </a:r>
          </a:p>
        </p:txBody>
      </p:sp>
      <p:sp>
        <p:nvSpPr>
          <p:cNvPr id="26" name="">
            <a:extLst xmlns:a="http://schemas.openxmlformats.org/drawingml/2006/main">
              <a:ext uri="{FF2B5EF4-FFF2-40B4-BE49-F238E27FC236}">
                <a16:creationId xmlns:a16="http://schemas.microsoft.com/office/drawing/2014/main" id="{9A67ED2D-DD4F-4DC9-9E51-77D1D845B7C8}"/>
              </a:ext>
            </a:extLst>
          </p:cNvPr>
          <p:cNvSpPr>
            <a:spLocks xmlns:a="http://schemas.openxmlformats.org/drawingml/2006/main" noGrp="1"/>
          </p:cNvSpPr>
          <p:nvPr/>
        </p:nvSpPr>
        <p:spPr>
          <a:xfrm xmlns:a="http://schemas.openxmlformats.org/drawingml/2006/main">
            <a:off x="10525125" y="2076450"/>
            <a:ext cx="0" cy="38100"/>
          </a:xfrm>
          <a:prstGeom xmlns:a="http://schemas.openxmlformats.org/drawingml/2006/main" prst="rect">
            <a:avLst/>
          </a:prstGeom>
          <a:solidFill xmlns:a="http://schemas.openxmlformats.org/drawingml/2006/main">
            <a:srgbClr val="2B6CB0"/>
          </a:solidFill>
          <a:ln xmlns:a="http://schemas.openxmlformats.org/drawingml/2006/main" w="0">
            <a:solidFill>
              <a:srgbClr val="2B6CB0"/>
            </a:solidFill>
            <a:prstDash val="solid"/>
          </a:ln>
        </p:spPr>
      </p:sp>
      <p:sp>
        <p:nvSpPr>
          <p:cNvPr id="27" name="">
            <a:extLst xmlns:a="http://schemas.openxmlformats.org/drawingml/2006/main">
              <a:ext uri="{FF2B5EF4-FFF2-40B4-BE49-F238E27FC236}">
                <a16:creationId xmlns:a16="http://schemas.microsoft.com/office/drawing/2014/main" id="{169A65BB-5187-4FCD-B7E4-075EAD081299}"/>
              </a:ext>
            </a:extLst>
          </p:cNvPr>
          <p:cNvSpPr>
            <a:spLocks xmlns:a="http://schemas.openxmlformats.org/drawingml/2006/main" noGrp="1"/>
          </p:cNvSpPr>
          <p:nvPr/>
        </p:nvSpPr>
        <p:spPr>
          <a:xfrm xmlns:a="http://schemas.openxmlformats.org/drawingml/2006/main">
            <a:off x="10010775" y="2533650"/>
            <a:ext cx="160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2B6CB0"/>
                </a:solidFill>
              </a:defRPr>
            </a:pPr>
            <a:r>
              <a:rPr sz="1725" b="1" i="0">
                <a:solidFill>
                  <a:srgbClr val="2B6CB0"/>
                </a:solidFill>
              </a:rPr>
              <a:t>Commit</a:t>
            </a:r>
          </a:p>
        </p:txBody>
      </p:sp>
      <p:sp>
        <p:nvSpPr>
          <p:cNvPr id="28" name="">
            <a:extLst xmlns:a="http://schemas.openxmlformats.org/drawingml/2006/main">
              <a:ext uri="{FF2B5EF4-FFF2-40B4-BE49-F238E27FC236}">
                <a16:creationId xmlns:a16="http://schemas.microsoft.com/office/drawing/2014/main" id="{FE1928CC-AB7C-4BFB-BA76-94AABFDAB17A}"/>
              </a:ext>
            </a:extLst>
          </p:cNvPr>
          <p:cNvSpPr>
            <a:spLocks xmlns:a="http://schemas.openxmlformats.org/drawingml/2006/main" noGrp="1"/>
          </p:cNvSpPr>
          <p:nvPr/>
        </p:nvSpPr>
        <p:spPr>
          <a:xfrm xmlns:a="http://schemas.openxmlformats.org/drawingml/2006/main">
            <a:off x="10010775" y="2952750"/>
            <a:ext cx="1600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573"/>
                </a:solidFill>
              </a:defRPr>
            </a:pPr>
            <a:r>
              <a:rPr sz="1350" b="0" i="0">
                <a:solidFill>
                  <a:srgbClr val="5B6573"/>
                </a:solidFill>
              </a:rPr>
              <a:t>Create user / reset hash</a:t>
            </a:r>
          </a:p>
        </p:txBody>
      </p:sp>
      <p:sp>
        <p:nvSpPr>
          <p:cNvPr id="29" name="">
            <a:extLst xmlns:a="http://schemas.openxmlformats.org/drawingml/2006/main">
              <a:ext uri="{FF2B5EF4-FFF2-40B4-BE49-F238E27FC236}">
                <a16:creationId xmlns:a16="http://schemas.microsoft.com/office/drawing/2014/main" id="{BE7A3B1C-6360-4E63-B6C9-DD42DFBD87DC}"/>
              </a:ext>
            </a:extLst>
          </p:cNvPr>
          <p:cNvSpPr>
            <a:spLocks xmlns:a="http://schemas.openxmlformats.org/drawingml/2006/main" noGrp="1"/>
          </p:cNvSpPr>
          <p:nvPr/>
        </p:nvSpPr>
        <p:spPr>
          <a:xfrm xmlns:a="http://schemas.openxmlformats.org/drawingml/2006/main">
            <a:off x="514350" y="4038600"/>
            <a:ext cx="2419350" cy="1162050"/>
          </a:xfrm>
          <a:prstGeom xmlns:a="http://schemas.openxmlformats.org/drawingml/2006/main" prst="rect">
            <a:avLst/>
          </a:prstGeom>
          <a:solidFill xmlns:a="http://schemas.openxmlformats.org/drawingml/2006/main">
            <a:srgbClr val="EAF5F0"/>
          </a:solidFill>
          <a:ln xmlns:a="http://schemas.openxmlformats.org/drawingml/2006/main" w="9525">
            <a:solidFill>
              <a:srgbClr val="B8C2CC"/>
            </a:solidFill>
            <a:prstDash val="solid"/>
          </a:ln>
        </p:spPr>
      </p:sp>
      <p:sp>
        <p:nvSpPr>
          <p:cNvPr id="30" name="">
            <a:extLst xmlns:a="http://schemas.openxmlformats.org/drawingml/2006/main">
              <a:ext uri="{FF2B5EF4-FFF2-40B4-BE49-F238E27FC236}">
                <a16:creationId xmlns:a16="http://schemas.microsoft.com/office/drawing/2014/main" id="{FAB61259-414D-4F80-A157-AB130ADEA665}"/>
              </a:ext>
            </a:extLst>
          </p:cNvPr>
          <p:cNvSpPr>
            <a:spLocks xmlns:a="http://schemas.openxmlformats.org/drawingml/2006/main" noGrp="1"/>
          </p:cNvSpPr>
          <p:nvPr/>
        </p:nvSpPr>
        <p:spPr>
          <a:xfrm xmlns:a="http://schemas.openxmlformats.org/drawingml/2006/main">
            <a:off x="704850" y="4191000"/>
            <a:ext cx="203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0F5F49"/>
                </a:solidFill>
              </a:defRPr>
            </a:pPr>
            <a:r>
              <a:rPr sz="2700" b="1" i="0">
                <a:solidFill>
                  <a:srgbClr val="0F5F49"/>
                </a:solidFill>
              </a:rPr>
              <a:t>10 min</a:t>
            </a:r>
          </a:p>
        </p:txBody>
      </p:sp>
      <p:sp>
        <p:nvSpPr>
          <p:cNvPr id="31" name="">
            <a:extLst xmlns:a="http://schemas.openxmlformats.org/drawingml/2006/main">
              <a:ext uri="{FF2B5EF4-FFF2-40B4-BE49-F238E27FC236}">
                <a16:creationId xmlns:a16="http://schemas.microsoft.com/office/drawing/2014/main" id="{89F4F0B9-87A5-4FF6-93EE-661ED10C9247}"/>
              </a:ext>
            </a:extLst>
          </p:cNvPr>
          <p:cNvSpPr>
            <a:spLocks xmlns:a="http://schemas.openxmlformats.org/drawingml/2006/main" noGrp="1"/>
          </p:cNvSpPr>
          <p:nvPr/>
        </p:nvSpPr>
        <p:spPr>
          <a:xfrm xmlns:a="http://schemas.openxmlformats.org/drawingml/2006/main">
            <a:off x="704850" y="47625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5B6573"/>
                </a:solidFill>
              </a:defRPr>
            </a:pPr>
            <a:r>
              <a:rPr sz="1050" b="1" i="0">
                <a:solidFill>
                  <a:srgbClr val="5B6573"/>
                </a:solidFill>
              </a:rPr>
              <a:t>EXPIRY</a:t>
            </a:r>
          </a:p>
        </p:txBody>
      </p:sp>
      <p:sp>
        <p:nvSpPr>
          <p:cNvPr id="32" name="">
            <a:extLst xmlns:a="http://schemas.openxmlformats.org/drawingml/2006/main">
              <a:ext uri="{FF2B5EF4-FFF2-40B4-BE49-F238E27FC236}">
                <a16:creationId xmlns:a16="http://schemas.microsoft.com/office/drawing/2014/main" id="{0A8946FF-F14C-4DB8-BFCD-11EA4302370F}"/>
              </a:ext>
            </a:extLst>
          </p:cNvPr>
          <p:cNvSpPr>
            <a:spLocks xmlns:a="http://schemas.openxmlformats.org/drawingml/2006/main" noGrp="1"/>
          </p:cNvSpPr>
          <p:nvPr/>
        </p:nvSpPr>
        <p:spPr>
          <a:xfrm xmlns:a="http://schemas.openxmlformats.org/drawingml/2006/main">
            <a:off x="3228975" y="4038600"/>
            <a:ext cx="2419350" cy="1162050"/>
          </a:xfrm>
          <a:prstGeom xmlns:a="http://schemas.openxmlformats.org/drawingml/2006/main" prst="rect">
            <a:avLst/>
          </a:prstGeom>
          <a:solidFill xmlns:a="http://schemas.openxmlformats.org/drawingml/2006/main">
            <a:srgbClr val="DCEAF8"/>
          </a:solidFill>
          <a:ln xmlns:a="http://schemas.openxmlformats.org/drawingml/2006/main" w="9525">
            <a:solidFill>
              <a:srgbClr val="B8C2CC"/>
            </a:solidFill>
            <a:prstDash val="solid"/>
          </a:ln>
        </p:spPr>
      </p:sp>
      <p:sp>
        <p:nvSpPr>
          <p:cNvPr id="33" name="">
            <a:extLst xmlns:a="http://schemas.openxmlformats.org/drawingml/2006/main">
              <a:ext uri="{FF2B5EF4-FFF2-40B4-BE49-F238E27FC236}">
                <a16:creationId xmlns:a16="http://schemas.microsoft.com/office/drawing/2014/main" id="{C700D27C-933A-4D29-8710-329971FBA35C}"/>
              </a:ext>
            </a:extLst>
          </p:cNvPr>
          <p:cNvSpPr>
            <a:spLocks xmlns:a="http://schemas.openxmlformats.org/drawingml/2006/main" noGrp="1"/>
          </p:cNvSpPr>
          <p:nvPr/>
        </p:nvSpPr>
        <p:spPr>
          <a:xfrm xmlns:a="http://schemas.openxmlformats.org/drawingml/2006/main">
            <a:off x="3419475" y="4191000"/>
            <a:ext cx="203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0F5F49"/>
                </a:solidFill>
              </a:defRPr>
            </a:pPr>
            <a:r>
              <a:rPr sz="2700" b="1" i="0">
                <a:solidFill>
                  <a:srgbClr val="0F5F49"/>
                </a:solidFill>
              </a:rPr>
              <a:t>5</a:t>
            </a:r>
          </a:p>
        </p:txBody>
      </p:sp>
      <p:sp>
        <p:nvSpPr>
          <p:cNvPr id="34" name="">
            <a:extLst xmlns:a="http://schemas.openxmlformats.org/drawingml/2006/main">
              <a:ext uri="{FF2B5EF4-FFF2-40B4-BE49-F238E27FC236}">
                <a16:creationId xmlns:a16="http://schemas.microsoft.com/office/drawing/2014/main" id="{52975046-799A-493F-9A8D-D5FAD104F9EB}"/>
              </a:ext>
            </a:extLst>
          </p:cNvPr>
          <p:cNvSpPr>
            <a:spLocks xmlns:a="http://schemas.openxmlformats.org/drawingml/2006/main" noGrp="1"/>
          </p:cNvSpPr>
          <p:nvPr/>
        </p:nvSpPr>
        <p:spPr>
          <a:xfrm xmlns:a="http://schemas.openxmlformats.org/drawingml/2006/main">
            <a:off x="3419475" y="47625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5B6573"/>
                </a:solidFill>
              </a:defRPr>
            </a:pPr>
            <a:r>
              <a:rPr sz="1050" b="1" i="0">
                <a:solidFill>
                  <a:srgbClr val="5B6573"/>
                </a:solidFill>
              </a:rPr>
              <a:t>FAILED ATTEMPTS</a:t>
            </a:r>
          </a:p>
        </p:txBody>
      </p:sp>
      <p:sp>
        <p:nvSpPr>
          <p:cNvPr id="35" name="">
            <a:extLst xmlns:a="http://schemas.openxmlformats.org/drawingml/2006/main">
              <a:ext uri="{FF2B5EF4-FFF2-40B4-BE49-F238E27FC236}">
                <a16:creationId xmlns:a16="http://schemas.microsoft.com/office/drawing/2014/main" id="{63B3EF40-39D0-4221-9F85-7CDBDB4D5179}"/>
              </a:ext>
            </a:extLst>
          </p:cNvPr>
          <p:cNvSpPr>
            <a:spLocks xmlns:a="http://schemas.openxmlformats.org/drawingml/2006/main" noGrp="1"/>
          </p:cNvSpPr>
          <p:nvPr/>
        </p:nvSpPr>
        <p:spPr>
          <a:xfrm xmlns:a="http://schemas.openxmlformats.org/drawingml/2006/main">
            <a:off x="5943600" y="4038600"/>
            <a:ext cx="2419350" cy="1162050"/>
          </a:xfrm>
          <a:prstGeom xmlns:a="http://schemas.openxmlformats.org/drawingml/2006/main" prst="rect">
            <a:avLst/>
          </a:prstGeom>
          <a:solidFill xmlns:a="http://schemas.openxmlformats.org/drawingml/2006/main">
            <a:srgbClr val="EAF5F0"/>
          </a:solidFill>
          <a:ln xmlns:a="http://schemas.openxmlformats.org/drawingml/2006/main" w="9525">
            <a:solidFill>
              <a:srgbClr val="B8C2CC"/>
            </a:solidFill>
            <a:prstDash val="solid"/>
          </a:ln>
        </p:spPr>
      </p:sp>
      <p:sp>
        <p:nvSpPr>
          <p:cNvPr id="36" name="">
            <a:extLst xmlns:a="http://schemas.openxmlformats.org/drawingml/2006/main">
              <a:ext uri="{FF2B5EF4-FFF2-40B4-BE49-F238E27FC236}">
                <a16:creationId xmlns:a16="http://schemas.microsoft.com/office/drawing/2014/main" id="{9404AE1A-3A77-435D-B47A-9D24F47461E5}"/>
              </a:ext>
            </a:extLst>
          </p:cNvPr>
          <p:cNvSpPr>
            <a:spLocks xmlns:a="http://schemas.openxmlformats.org/drawingml/2006/main" noGrp="1"/>
          </p:cNvSpPr>
          <p:nvPr/>
        </p:nvSpPr>
        <p:spPr>
          <a:xfrm xmlns:a="http://schemas.openxmlformats.org/drawingml/2006/main">
            <a:off x="6134100" y="4191000"/>
            <a:ext cx="203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0F5F49"/>
                </a:solidFill>
              </a:defRPr>
            </a:pPr>
            <a:r>
              <a:rPr sz="2700" b="1" i="0">
                <a:solidFill>
                  <a:srgbClr val="0F5F49"/>
                </a:solidFill>
              </a:rPr>
              <a:t>60 sec</a:t>
            </a:r>
          </a:p>
        </p:txBody>
      </p:sp>
      <p:sp>
        <p:nvSpPr>
          <p:cNvPr id="37" name="">
            <a:extLst xmlns:a="http://schemas.openxmlformats.org/drawingml/2006/main">
              <a:ext uri="{FF2B5EF4-FFF2-40B4-BE49-F238E27FC236}">
                <a16:creationId xmlns:a16="http://schemas.microsoft.com/office/drawing/2014/main" id="{6CFC57C4-521A-4D1B-AF00-AD94639460DF}"/>
              </a:ext>
            </a:extLst>
          </p:cNvPr>
          <p:cNvSpPr>
            <a:spLocks xmlns:a="http://schemas.openxmlformats.org/drawingml/2006/main" noGrp="1"/>
          </p:cNvSpPr>
          <p:nvPr/>
        </p:nvSpPr>
        <p:spPr>
          <a:xfrm xmlns:a="http://schemas.openxmlformats.org/drawingml/2006/main">
            <a:off x="6134100" y="47625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5B6573"/>
                </a:solidFill>
              </a:defRPr>
            </a:pPr>
            <a:r>
              <a:rPr sz="1050" b="1" i="0">
                <a:solidFill>
                  <a:srgbClr val="5B6573"/>
                </a:solidFill>
              </a:rPr>
              <a:t>RESEND COOLDOWN</a:t>
            </a:r>
          </a:p>
        </p:txBody>
      </p:sp>
      <p:sp>
        <p:nvSpPr>
          <p:cNvPr id="38" name="">
            <a:extLst xmlns:a="http://schemas.openxmlformats.org/drawingml/2006/main">
              <a:ext uri="{FF2B5EF4-FFF2-40B4-BE49-F238E27FC236}">
                <a16:creationId xmlns:a16="http://schemas.microsoft.com/office/drawing/2014/main" id="{35DE736A-5C78-4320-85F0-7B4A2F757F41}"/>
              </a:ext>
            </a:extLst>
          </p:cNvPr>
          <p:cNvSpPr>
            <a:spLocks xmlns:a="http://schemas.openxmlformats.org/drawingml/2006/main" noGrp="1"/>
          </p:cNvSpPr>
          <p:nvPr/>
        </p:nvSpPr>
        <p:spPr>
          <a:xfrm xmlns:a="http://schemas.openxmlformats.org/drawingml/2006/main">
            <a:off x="8658225" y="4038600"/>
            <a:ext cx="2419350" cy="1162050"/>
          </a:xfrm>
          <a:prstGeom xmlns:a="http://schemas.openxmlformats.org/drawingml/2006/main" prst="rect">
            <a:avLst/>
          </a:prstGeom>
          <a:solidFill xmlns:a="http://schemas.openxmlformats.org/drawingml/2006/main">
            <a:srgbClr val="DCEAF8"/>
          </a:solidFill>
          <a:ln xmlns:a="http://schemas.openxmlformats.org/drawingml/2006/main" w="9525">
            <a:solidFill>
              <a:srgbClr val="B8C2CC"/>
            </a:solidFill>
            <a:prstDash val="solid"/>
          </a:ln>
        </p:spPr>
      </p:sp>
      <p:sp>
        <p:nvSpPr>
          <p:cNvPr id="39" name="">
            <a:extLst xmlns:a="http://schemas.openxmlformats.org/drawingml/2006/main">
              <a:ext uri="{FF2B5EF4-FFF2-40B4-BE49-F238E27FC236}">
                <a16:creationId xmlns:a16="http://schemas.microsoft.com/office/drawing/2014/main" id="{826A08DE-A422-46BF-92D2-5DB35D5CD7B2}"/>
              </a:ext>
            </a:extLst>
          </p:cNvPr>
          <p:cNvSpPr>
            <a:spLocks xmlns:a="http://schemas.openxmlformats.org/drawingml/2006/main" noGrp="1"/>
          </p:cNvSpPr>
          <p:nvPr/>
        </p:nvSpPr>
        <p:spPr>
          <a:xfrm xmlns:a="http://schemas.openxmlformats.org/drawingml/2006/main">
            <a:off x="8848725" y="4191000"/>
            <a:ext cx="203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0F5F49"/>
                </a:solidFill>
              </a:defRPr>
            </a:pPr>
            <a:r>
              <a:rPr sz="2700" b="1" i="0">
                <a:solidFill>
                  <a:srgbClr val="0F5F49"/>
                </a:solidFill>
              </a:rPr>
              <a:t>single-use</a:t>
            </a:r>
          </a:p>
        </p:txBody>
      </p:sp>
      <p:sp>
        <p:nvSpPr>
          <p:cNvPr id="40" name="">
            <a:extLst xmlns:a="http://schemas.openxmlformats.org/drawingml/2006/main">
              <a:ext uri="{FF2B5EF4-FFF2-40B4-BE49-F238E27FC236}">
                <a16:creationId xmlns:a16="http://schemas.microsoft.com/office/drawing/2014/main" id="{E61BE18D-FE27-4783-A035-C986365EA7D9}"/>
              </a:ext>
            </a:extLst>
          </p:cNvPr>
          <p:cNvSpPr>
            <a:spLocks xmlns:a="http://schemas.openxmlformats.org/drawingml/2006/main" noGrp="1"/>
          </p:cNvSpPr>
          <p:nvPr/>
        </p:nvSpPr>
        <p:spPr>
          <a:xfrm xmlns:a="http://schemas.openxmlformats.org/drawingml/2006/main">
            <a:off x="8848725" y="47625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5B6573"/>
                </a:solidFill>
              </a:defRPr>
            </a:pPr>
            <a:r>
              <a:rPr sz="1050" b="1" i="0">
                <a:solidFill>
                  <a:srgbClr val="5B6573"/>
                </a:solidFill>
              </a:rPr>
              <a:t>SUCCESSFUL CODE</a:t>
            </a:r>
          </a:p>
        </p:txBody>
      </p:sp>
      <p:sp>
        <p:nvSpPr>
          <p:cNvPr id="41" name="">
            <a:extLst xmlns:a="http://schemas.openxmlformats.org/drawingml/2006/main">
              <a:ext uri="{FF2B5EF4-FFF2-40B4-BE49-F238E27FC236}">
                <a16:creationId xmlns:a16="http://schemas.microsoft.com/office/drawing/2014/main" id="{33D8F209-D075-4E32-8BD5-905CAED9ECD4}"/>
              </a:ext>
            </a:extLst>
          </p:cNvPr>
          <p:cNvSpPr>
            <a:spLocks xmlns:a="http://schemas.openxmlformats.org/drawingml/2006/main" noGrp="1"/>
          </p:cNvSpPr>
          <p:nvPr/>
        </p:nvSpPr>
        <p:spPr>
          <a:xfrm xmlns:a="http://schemas.openxmlformats.org/drawingml/2006/main">
            <a:off x="514350" y="550545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17212B"/>
                </a:solidFill>
              </a:defRPr>
            </a:pPr>
            <a:r>
              <a:rPr sz="1650" b="1" i="0">
                <a:solidFill>
                  <a:srgbClr val="17212B"/>
                </a:solidFill>
              </a:rPr>
              <a:t>Newest successfully delivered challenge wins; a failed resend leaves the prior delivered code valid.</a:t>
            </a:r>
          </a:p>
        </p:txBody>
      </p:sp>
      <p:sp>
        <p:nvSpPr>
          <p:cNvPr id="42" name="">
            <a:extLst xmlns:a="http://schemas.openxmlformats.org/drawingml/2006/main">
              <a:ext uri="{FF2B5EF4-FFF2-40B4-BE49-F238E27FC236}">
                <a16:creationId xmlns:a16="http://schemas.microsoft.com/office/drawing/2014/main" id="{14B33594-66C0-4062-9CCD-28FEEE5CA892}"/>
              </a:ext>
            </a:extLst>
          </p:cNvPr>
          <p:cNvSpPr>
            <a:spLocks xmlns:a="http://schemas.openxmlformats.org/drawingml/2006/main" noGrp="1"/>
          </p:cNvSpPr>
          <p:nvPr/>
        </p:nvSpPr>
        <p:spPr>
          <a:xfrm xmlns:a="http://schemas.openxmlformats.org/drawingml/2006/main">
            <a:off x="514350" y="59626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B42318"/>
                </a:solidFill>
              </a:defRPr>
            </a:pPr>
            <a:r>
              <a:rPr sz="1425" b="0" i="0">
                <a:solidFill>
                  <a:srgbClr val="B42318"/>
                </a:solidFill>
              </a:rPr>
              <a:t>Relay stores HMAC-SHA-256 code digests only and receives no passwords, recovery answers, roles, or finance records.</a:t>
            </a:r>
          </a:p>
        </p:txBody>
      </p:sp>
    </p:spTree>
    <p:extLst>
      <p:ext uri="{BB962C8B-B14F-4D97-AF65-F5344CB8AC3E}">
        <p14:creationId xmlns:p14="http://schemas.microsoft.com/office/powerpoint/2010/main" val="188551113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373C718-48FD-4894-B753-DC7C408FDD90}"/>
              </a:ext>
            </a:extLst>
          </p:cNvPr>
          <p:cNvSpPr>
            <a:spLocks xmlns:a="http://schemas.openxmlformats.org/drawingml/2006/main" noGrp="1"/>
          </p:cNvSpPr>
          <p:nvPr/>
        </p:nvSpPr>
        <p:spPr>
          <a:xfrm xmlns:a="http://schemas.openxmlformats.org/drawingml/2006/main">
            <a:off x="400050" y="247650"/>
            <a:ext cx="11391900" cy="38100"/>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2" name="">
            <a:extLst xmlns:a="http://schemas.openxmlformats.org/drawingml/2006/main">
              <a:ext uri="{FF2B5EF4-FFF2-40B4-BE49-F238E27FC236}">
                <a16:creationId xmlns:a16="http://schemas.microsoft.com/office/drawing/2014/main" id="{7AE044B8-6B65-4BB3-A786-3A143965A3B7}"/>
              </a:ext>
            </a:extLst>
          </p:cNvPr>
          <p:cNvSpPr>
            <a:spLocks xmlns:a="http://schemas.openxmlformats.org/drawingml/2006/main" noGrp="1"/>
          </p:cNvSpPr>
          <p:nvPr/>
        </p:nvSpPr>
        <p:spPr>
          <a:xfrm xmlns:a="http://schemas.openxmlformats.org/drawingml/2006/main">
            <a:off x="457200" y="371475"/>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OFFLINE-FIRST</a:t>
            </a:r>
          </a:p>
        </p:txBody>
      </p:sp>
      <p:sp>
        <p:nvSpPr>
          <p:cNvPr id="3" name="">
            <a:extLst xmlns:a="http://schemas.openxmlformats.org/drawingml/2006/main">
              <a:ext uri="{FF2B5EF4-FFF2-40B4-BE49-F238E27FC236}">
                <a16:creationId xmlns:a16="http://schemas.microsoft.com/office/drawing/2014/main" id="{52E0C28E-3DB0-4F9E-9F27-CC6AB1EDA459}"/>
              </a:ext>
            </a:extLst>
          </p:cNvPr>
          <p:cNvSpPr>
            <a:spLocks xmlns:a="http://schemas.openxmlformats.org/drawingml/2006/main" noGrp="1"/>
          </p:cNvSpPr>
          <p:nvPr/>
        </p:nvSpPr>
        <p:spPr>
          <a:xfrm xmlns:a="http://schemas.openxmlformats.org/drawingml/2006/main">
            <a:off x="457200" y="72390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7212B"/>
                </a:solidFill>
              </a:defRPr>
            </a:pPr>
            <a:r>
              <a:rPr sz="3000" b="1" i="0">
                <a:solidFill>
                  <a:srgbClr val="17212B"/>
                </a:solidFill>
              </a:rPr>
              <a:t>Relay failure never becomes a finance outage</a:t>
            </a:r>
          </a:p>
        </p:txBody>
      </p:sp>
      <p:sp>
        <p:nvSpPr>
          <p:cNvPr id="4" name="">
            <a:extLst xmlns:a="http://schemas.openxmlformats.org/drawingml/2006/main">
              <a:ext uri="{FF2B5EF4-FFF2-40B4-BE49-F238E27FC236}">
                <a16:creationId xmlns:a16="http://schemas.microsoft.com/office/drawing/2014/main" id="{D27DC1DA-C829-46F1-A3E4-BCEC447203FB}"/>
              </a:ext>
            </a:extLst>
          </p:cNvPr>
          <p:cNvSpPr>
            <a:spLocks xmlns:a="http://schemas.openxmlformats.org/drawingml/2006/main" noGrp="1"/>
          </p:cNvSpPr>
          <p:nvPr/>
        </p:nvSpPr>
        <p:spPr>
          <a:xfrm xmlns:a="http://schemas.openxmlformats.org/drawingml/2006/main">
            <a:off x="1127760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i="0">
                <a:solidFill>
                  <a:srgbClr val="5B6573"/>
                </a:solidFill>
              </a:defRPr>
            </a:pPr>
            <a:r>
              <a:rPr sz="1050" b="0" i="0">
                <a:solidFill>
                  <a:srgbClr val="5B6573"/>
                </a:solidFill>
              </a:rPr>
              <a:t>09</a:t>
            </a:r>
          </a:p>
        </p:txBody>
      </p:sp>
      <p:sp>
        <p:nvSpPr>
          <p:cNvPr id="5" name="">
            <a:extLst xmlns:a="http://schemas.openxmlformats.org/drawingml/2006/main">
              <a:ext uri="{FF2B5EF4-FFF2-40B4-BE49-F238E27FC236}">
                <a16:creationId xmlns:a16="http://schemas.microsoft.com/office/drawing/2014/main" id="{CCD66AAB-AD02-48DF-A24A-34F7E95053D9}"/>
              </a:ext>
            </a:extLst>
          </p:cNvPr>
          <p:cNvSpPr>
            <a:spLocks xmlns:a="http://schemas.openxmlformats.org/drawingml/2006/main" noGrp="1"/>
          </p:cNvSpPr>
          <p:nvPr/>
        </p:nvSpPr>
        <p:spPr>
          <a:xfrm xmlns:a="http://schemas.openxmlformats.org/drawingml/2006/main">
            <a:off x="514350" y="15811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WORKS WITHOUT RELAY</a:t>
            </a:r>
          </a:p>
        </p:txBody>
      </p:sp>
      <p:sp>
        <p:nvSpPr>
          <p:cNvPr id="6" name="">
            <a:extLst xmlns:a="http://schemas.openxmlformats.org/drawingml/2006/main">
              <a:ext uri="{FF2B5EF4-FFF2-40B4-BE49-F238E27FC236}">
                <a16:creationId xmlns:a16="http://schemas.microsoft.com/office/drawing/2014/main" id="{F48C19B0-C015-40C5-A8EE-7EBA2693067A}"/>
              </a:ext>
            </a:extLst>
          </p:cNvPr>
          <p:cNvSpPr>
            <a:spLocks xmlns:a="http://schemas.openxmlformats.org/drawingml/2006/main" noGrp="1"/>
          </p:cNvSpPr>
          <p:nvPr/>
        </p:nvSpPr>
        <p:spPr>
          <a:xfrm xmlns:a="http://schemas.openxmlformats.org/drawingml/2006/main">
            <a:off x="514350" y="2000250"/>
            <a:ext cx="4762500" cy="2705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i="0">
                <a:solidFill>
                  <a:srgbClr val="17212B"/>
                </a:solidFill>
              </a:defRPr>
            </a:pPr>
            <a:r>
              <a:rPr sz="1800" b="0" i="0">
                <a:solidFill>
                  <a:srgbClr val="17212B"/>
                </a:solidFill>
              </a:rPr>
              <a:t>• Existing-user local sign-in</a:t>
            </a:r>
          </a:p>
          <a:p xmlns:a="http://schemas.openxmlformats.org/drawingml/2006/main">
            <a:pPr algn="l">
              <a:buNone/>
              <a:defRPr sz="1800" b="0" i="0">
                <a:solidFill>
                  <a:srgbClr val="17212B"/>
                </a:solidFill>
              </a:defRPr>
            </a:pPr>
            <a:r>
              <a:rPr sz="1800" b="0" i="0">
                <a:solidFill>
                  <a:srgbClr val="17212B"/>
                </a:solidFill>
              </a:rPr>
              <a:t>• Income, expenses, transfers and planning</a:t>
            </a:r>
          </a:p>
          <a:p xmlns:a="http://schemas.openxmlformats.org/drawingml/2006/main">
            <a:pPr algn="l">
              <a:buNone/>
              <a:defRPr sz="1800" b="0" i="0">
                <a:solidFill>
                  <a:srgbClr val="17212B"/>
                </a:solidFill>
              </a:defRPr>
            </a:pPr>
            <a:r>
              <a:rPr sz="1800" b="0" i="0">
                <a:solidFill>
                  <a:srgbClr val="17212B"/>
                </a:solidFill>
              </a:rPr>
              <a:t>• Dashboard, analytics and reports</a:t>
            </a:r>
          </a:p>
          <a:p xmlns:a="http://schemas.openxmlformats.org/drawingml/2006/main">
            <a:pPr algn="l">
              <a:buNone/>
              <a:defRPr sz="1800" b="0" i="0">
                <a:solidFill>
                  <a:srgbClr val="17212B"/>
                </a:solidFill>
              </a:defRPr>
            </a:pPr>
            <a:r>
              <a:rPr sz="1800" b="0" i="0">
                <a:solidFill>
                  <a:srgbClr val="17212B"/>
                </a:solidFill>
              </a:rPr>
              <a:t>• Search, backup, import and export</a:t>
            </a:r>
          </a:p>
          <a:p xmlns:a="http://schemas.openxmlformats.org/drawingml/2006/main">
            <a:pPr algn="l">
              <a:buNone/>
              <a:defRPr sz="1800" b="0" i="0">
                <a:solidFill>
                  <a:srgbClr val="17212B"/>
                </a:solidFill>
              </a:defRPr>
            </a:pPr>
            <a:r>
              <a:rPr sz="1800" b="0" i="0">
                <a:solidFill>
                  <a:srgbClr val="17212B"/>
                </a:solidFill>
              </a:rPr>
              <a:t>• Protected recovery-question reset</a:t>
            </a:r>
          </a:p>
        </p:txBody>
      </p:sp>
      <p:sp>
        <p:nvSpPr>
          <p:cNvPr id="7" name="">
            <a:extLst xmlns:a="http://schemas.openxmlformats.org/drawingml/2006/main">
              <a:ext uri="{FF2B5EF4-FFF2-40B4-BE49-F238E27FC236}">
                <a16:creationId xmlns:a16="http://schemas.microsoft.com/office/drawing/2014/main" id="{262DC396-D0EF-40F8-A254-2D3FDFC08912}"/>
              </a:ext>
            </a:extLst>
          </p:cNvPr>
          <p:cNvSpPr>
            <a:spLocks xmlns:a="http://schemas.openxmlformats.org/drawingml/2006/main" noGrp="1"/>
          </p:cNvSpPr>
          <p:nvPr/>
        </p:nvSpPr>
        <p:spPr>
          <a:xfrm xmlns:a="http://schemas.openxmlformats.org/drawingml/2006/main">
            <a:off x="5791200" y="1619250"/>
            <a:ext cx="19050" cy="3714750"/>
          </a:xfrm>
          <a:prstGeom xmlns:a="http://schemas.openxmlformats.org/drawingml/2006/main" prst="rect">
            <a:avLst/>
          </a:prstGeom>
          <a:solidFill xmlns:a="http://schemas.openxmlformats.org/drawingml/2006/main">
            <a:srgbClr val="B8C2CC"/>
          </a:solidFill>
          <a:ln xmlns:a="http://schemas.openxmlformats.org/drawingml/2006/main" w="0">
            <a:solidFill>
              <a:srgbClr val="B8C2CC"/>
            </a:solidFill>
            <a:prstDash val="solid"/>
          </a:ln>
        </p:spPr>
      </p:sp>
      <p:sp>
        <p:nvSpPr>
          <p:cNvPr id="8" name="">
            <a:extLst xmlns:a="http://schemas.openxmlformats.org/drawingml/2006/main">
              <a:ext uri="{FF2B5EF4-FFF2-40B4-BE49-F238E27FC236}">
                <a16:creationId xmlns:a16="http://schemas.microsoft.com/office/drawing/2014/main" id="{2DCBAE83-8CB1-492A-BC06-34FB62C31CD5}"/>
              </a:ext>
            </a:extLst>
          </p:cNvPr>
          <p:cNvSpPr>
            <a:spLocks xmlns:a="http://schemas.openxmlformats.org/drawingml/2006/main" noGrp="1"/>
          </p:cNvSpPr>
          <p:nvPr/>
        </p:nvSpPr>
        <p:spPr>
          <a:xfrm xmlns:a="http://schemas.openxmlformats.org/drawingml/2006/main">
            <a:off x="6305550" y="15811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2B6CB0"/>
                </a:solidFill>
              </a:defRPr>
            </a:pPr>
            <a:r>
              <a:rPr sz="1125" b="1" i="0">
                <a:solidFill>
                  <a:srgbClr val="2B6CB0"/>
                </a:solidFill>
              </a:rPr>
              <a:t>NEEDS CONFIGURED RELAY</a:t>
            </a:r>
          </a:p>
        </p:txBody>
      </p:sp>
      <p:sp>
        <p:nvSpPr>
          <p:cNvPr id="9" name="">
            <a:extLst xmlns:a="http://schemas.openxmlformats.org/drawingml/2006/main">
              <a:ext uri="{FF2B5EF4-FFF2-40B4-BE49-F238E27FC236}">
                <a16:creationId xmlns:a16="http://schemas.microsoft.com/office/drawing/2014/main" id="{272603F2-2690-4E69-A72D-955D27B0C650}"/>
              </a:ext>
            </a:extLst>
          </p:cNvPr>
          <p:cNvSpPr>
            <a:spLocks xmlns:a="http://schemas.openxmlformats.org/drawingml/2006/main" noGrp="1"/>
          </p:cNvSpPr>
          <p:nvPr/>
        </p:nvSpPr>
        <p:spPr>
          <a:xfrm xmlns:a="http://schemas.openxmlformats.org/drawingml/2006/main">
            <a:off x="6305550" y="2000250"/>
            <a:ext cx="4762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i="0">
                <a:solidFill>
                  <a:srgbClr val="17212B"/>
                </a:solidFill>
              </a:defRPr>
            </a:pPr>
            <a:r>
              <a:rPr sz="1800" b="0" i="0">
                <a:solidFill>
                  <a:srgbClr val="17212B"/>
                </a:solidFill>
              </a:rPr>
              <a:t>• Ordinary account registration</a:t>
            </a:r>
          </a:p>
          <a:p xmlns:a="http://schemas.openxmlformats.org/drawingml/2006/main">
            <a:pPr algn="l">
              <a:buNone/>
              <a:defRPr sz="1800" b="0" i="0">
                <a:solidFill>
                  <a:srgbClr val="17212B"/>
                </a:solidFill>
              </a:defRPr>
            </a:pPr>
            <a:r>
              <a:rPr sz="1800" b="0" i="0">
                <a:solidFill>
                  <a:srgbClr val="17212B"/>
                </a:solidFill>
              </a:rPr>
              <a:t>• Email OTP password reset</a:t>
            </a:r>
          </a:p>
          <a:p xmlns:a="http://schemas.openxmlformats.org/drawingml/2006/main">
            <a:pPr algn="l">
              <a:buNone/>
              <a:defRPr sz="1800" b="0" i="0">
                <a:solidFill>
                  <a:srgbClr val="17212B"/>
                </a:solidFill>
              </a:defRPr>
            </a:pPr>
            <a:r>
              <a:rPr sz="1800" b="0" i="0">
                <a:solidFill>
                  <a:srgbClr val="17212B"/>
                </a:solidFill>
              </a:rPr>
              <a:t>• Send, resend and verify actions only</a:t>
            </a:r>
          </a:p>
        </p:txBody>
      </p:sp>
      <p:sp>
        <p:nvSpPr>
          <p:cNvPr id="10" name="">
            <a:extLst xmlns:a="http://schemas.openxmlformats.org/drawingml/2006/main">
              <a:ext uri="{FF2B5EF4-FFF2-40B4-BE49-F238E27FC236}">
                <a16:creationId xmlns:a16="http://schemas.microsoft.com/office/drawing/2014/main" id="{D23E987A-7201-478C-88DB-B4D9AD602178}"/>
              </a:ext>
            </a:extLst>
          </p:cNvPr>
          <p:cNvSpPr>
            <a:spLocks xmlns:a="http://schemas.openxmlformats.org/drawingml/2006/main" noGrp="1"/>
          </p:cNvSpPr>
          <p:nvPr/>
        </p:nvSpPr>
        <p:spPr>
          <a:xfrm xmlns:a="http://schemas.openxmlformats.org/drawingml/2006/main">
            <a:off x="6305550" y="4038600"/>
            <a:ext cx="4762500" cy="1104900"/>
          </a:xfrm>
          <a:prstGeom xmlns:a="http://schemas.openxmlformats.org/drawingml/2006/main" prst="rect">
            <a:avLst/>
          </a:prstGeom>
          <a:solidFill xmlns:a="http://schemas.openxmlformats.org/drawingml/2006/main">
            <a:srgbClr val="DCEAF8"/>
          </a:solidFill>
          <a:ln xmlns:a="http://schemas.openxmlformats.org/drawingml/2006/main" w="9525">
            <a:solidFill>
              <a:srgbClr val="2B6CB0"/>
            </a:solidFill>
            <a:prstDash val="solid"/>
          </a:ln>
        </p:spPr>
      </p:sp>
      <p:sp>
        <p:nvSpPr>
          <p:cNvPr id="11" name="">
            <a:extLst xmlns:a="http://schemas.openxmlformats.org/drawingml/2006/main">
              <a:ext uri="{FF2B5EF4-FFF2-40B4-BE49-F238E27FC236}">
                <a16:creationId xmlns:a16="http://schemas.microsoft.com/office/drawing/2014/main" id="{5B2AF69D-DF5D-4D9A-8D7D-A5BB91CA5B46}"/>
              </a:ext>
            </a:extLst>
          </p:cNvPr>
          <p:cNvSpPr>
            <a:spLocks xmlns:a="http://schemas.openxmlformats.org/drawingml/2006/main" noGrp="1"/>
          </p:cNvSpPr>
          <p:nvPr/>
        </p:nvSpPr>
        <p:spPr>
          <a:xfrm xmlns:a="http://schemas.openxmlformats.org/drawingml/2006/main">
            <a:off x="6534150" y="42291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i="0">
                <a:solidFill>
                  <a:srgbClr val="2B6CB0"/>
                </a:solidFill>
              </a:defRPr>
            </a:pPr>
            <a:r>
              <a:rPr sz="1575" b="1" i="0">
                <a:solidFill>
                  <a:srgbClr val="2B6CB0"/>
                </a:solidFill>
              </a:rPr>
              <a:t>Clear failure mode</a:t>
            </a:r>
          </a:p>
        </p:txBody>
      </p:sp>
      <p:sp>
        <p:nvSpPr>
          <p:cNvPr id="12" name="">
            <a:extLst xmlns:a="http://schemas.openxmlformats.org/drawingml/2006/main">
              <a:ext uri="{FF2B5EF4-FFF2-40B4-BE49-F238E27FC236}">
                <a16:creationId xmlns:a16="http://schemas.microsoft.com/office/drawing/2014/main" id="{30C82FED-904F-486C-BAF3-8B8B458E649A}"/>
              </a:ext>
            </a:extLst>
          </p:cNvPr>
          <p:cNvSpPr>
            <a:spLocks xmlns:a="http://schemas.openxmlformats.org/drawingml/2006/main" noGrp="1"/>
          </p:cNvSpPr>
          <p:nvPr/>
        </p:nvSpPr>
        <p:spPr>
          <a:xfrm xmlns:a="http://schemas.openxmlformats.org/drawingml/2006/main">
            <a:off x="6534150" y="461010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17212B"/>
                </a:solidFill>
              </a:defRPr>
            </a:pPr>
            <a:r>
              <a:rPr sz="1500" b="0" i="0">
                <a:solidFill>
                  <a:srgbClr val="17212B"/>
                </a:solidFill>
              </a:rPr>
              <a:t>OTP-related error appears; existing offline features remain unaffected.</a:t>
            </a:r>
          </a:p>
        </p:txBody>
      </p:sp>
      <p:sp>
        <p:nvSpPr>
          <p:cNvPr id="13" name="">
            <a:extLst xmlns:a="http://schemas.openxmlformats.org/drawingml/2006/main">
              <a:ext uri="{FF2B5EF4-FFF2-40B4-BE49-F238E27FC236}">
                <a16:creationId xmlns:a16="http://schemas.microsoft.com/office/drawing/2014/main" id="{BC00A67F-9F69-42CA-BE5B-56C1ED9CCA17}"/>
              </a:ext>
            </a:extLst>
          </p:cNvPr>
          <p:cNvSpPr>
            <a:spLocks xmlns:a="http://schemas.openxmlformats.org/drawingml/2006/main" noGrp="1"/>
          </p:cNvSpPr>
          <p:nvPr/>
        </p:nvSpPr>
        <p:spPr>
          <a:xfrm xmlns:a="http://schemas.openxmlformats.org/drawingml/2006/main">
            <a:off x="514350" y="5524500"/>
            <a:ext cx="10553700" cy="552450"/>
          </a:xfrm>
          <a:prstGeom xmlns:a="http://schemas.openxmlformats.org/drawingml/2006/main" prst="rect">
            <a:avLst/>
          </a:prstGeom>
          <a:solidFill xmlns:a="http://schemas.openxmlformats.org/drawingml/2006/main">
            <a:srgbClr val="EAF5F0"/>
          </a:solidFill>
          <a:ln xmlns:a="http://schemas.openxmlformats.org/drawingml/2006/main" w="9525">
            <a:solidFill>
              <a:srgbClr val="16785B"/>
            </a:solidFill>
            <a:prstDash val="solid"/>
          </a:ln>
        </p:spPr>
      </p:sp>
      <p:sp>
        <p:nvSpPr>
          <p:cNvPr id="14" name="">
            <a:extLst xmlns:a="http://schemas.openxmlformats.org/drawingml/2006/main">
              <a:ext uri="{FF2B5EF4-FFF2-40B4-BE49-F238E27FC236}">
                <a16:creationId xmlns:a16="http://schemas.microsoft.com/office/drawing/2014/main" id="{249EF82D-F1D6-4D26-B979-597BCBB5EB4D}"/>
              </a:ext>
            </a:extLst>
          </p:cNvPr>
          <p:cNvSpPr>
            <a:spLocks xmlns:a="http://schemas.openxmlformats.org/drawingml/2006/main" noGrp="1"/>
          </p:cNvSpPr>
          <p:nvPr/>
        </p:nvSpPr>
        <p:spPr>
          <a:xfrm xmlns:a="http://schemas.openxmlformats.org/drawingml/2006/main">
            <a:off x="742950" y="5657850"/>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0F5F49"/>
                </a:solidFill>
              </a:defRPr>
            </a:pPr>
            <a:r>
              <a:rPr sz="1650" b="1" i="0">
                <a:solidFill>
                  <a:srgbClr val="0F5F49"/>
                </a:solidFill>
              </a:rPr>
              <a:t>Offline recovery verifies a protected local answer and replaces only the local password hash.</a:t>
            </a:r>
          </a:p>
        </p:txBody>
      </p:sp>
    </p:spTree>
    <p:extLst>
      <p:ext uri="{BB962C8B-B14F-4D97-AF65-F5344CB8AC3E}">
        <p14:creationId xmlns:p14="http://schemas.microsoft.com/office/powerpoint/2010/main" val="160166808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5BDCEA3-2C00-43AA-A018-2644C09B9BBA}"/>
              </a:ext>
            </a:extLst>
          </p:cNvPr>
          <p:cNvSpPr>
            <a:spLocks xmlns:a="http://schemas.openxmlformats.org/drawingml/2006/main" noGrp="1"/>
          </p:cNvSpPr>
          <p:nvPr/>
        </p:nvSpPr>
        <p:spPr>
          <a:xfrm xmlns:a="http://schemas.openxmlformats.org/drawingml/2006/main">
            <a:off x="400050" y="247650"/>
            <a:ext cx="11391900" cy="38100"/>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2" name="">
            <a:extLst xmlns:a="http://schemas.openxmlformats.org/drawingml/2006/main">
              <a:ext uri="{FF2B5EF4-FFF2-40B4-BE49-F238E27FC236}">
                <a16:creationId xmlns:a16="http://schemas.microsoft.com/office/drawing/2014/main" id="{C38069D1-D65A-473F-BDB5-44D0C495244C}"/>
              </a:ext>
            </a:extLst>
          </p:cNvPr>
          <p:cNvSpPr>
            <a:spLocks xmlns:a="http://schemas.openxmlformats.org/drawingml/2006/main" noGrp="1"/>
          </p:cNvSpPr>
          <p:nvPr/>
        </p:nvSpPr>
        <p:spPr>
          <a:xfrm xmlns:a="http://schemas.openxmlformats.org/drawingml/2006/main">
            <a:off x="457200" y="371475"/>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PERSISTENCE</a:t>
            </a:r>
          </a:p>
        </p:txBody>
      </p:sp>
      <p:sp>
        <p:nvSpPr>
          <p:cNvPr id="3" name="">
            <a:extLst xmlns:a="http://schemas.openxmlformats.org/drawingml/2006/main">
              <a:ext uri="{FF2B5EF4-FFF2-40B4-BE49-F238E27FC236}">
                <a16:creationId xmlns:a16="http://schemas.microsoft.com/office/drawing/2014/main" id="{F69D31F8-4DFF-419D-9463-955249606905}"/>
              </a:ext>
            </a:extLst>
          </p:cNvPr>
          <p:cNvSpPr>
            <a:spLocks xmlns:a="http://schemas.openxmlformats.org/drawingml/2006/main" noGrp="1"/>
          </p:cNvSpPr>
          <p:nvPr/>
        </p:nvSpPr>
        <p:spPr>
          <a:xfrm xmlns:a="http://schemas.openxmlformats.org/drawingml/2006/main">
            <a:off x="457200" y="72390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7212B"/>
                </a:solidFill>
              </a:defRPr>
            </a:pPr>
            <a:r>
              <a:rPr sz="3000" b="1" i="0">
                <a:solidFill>
                  <a:srgbClr val="17212B"/>
                </a:solidFill>
              </a:rPr>
              <a:t>Each user receives a project-local finance workspace</a:t>
            </a:r>
          </a:p>
        </p:txBody>
      </p:sp>
      <p:sp>
        <p:nvSpPr>
          <p:cNvPr id="4" name="">
            <a:extLst xmlns:a="http://schemas.openxmlformats.org/drawingml/2006/main">
              <a:ext uri="{FF2B5EF4-FFF2-40B4-BE49-F238E27FC236}">
                <a16:creationId xmlns:a16="http://schemas.microsoft.com/office/drawing/2014/main" id="{639BCC65-2897-4BB4-9F13-A7435C11AFBB}"/>
              </a:ext>
            </a:extLst>
          </p:cNvPr>
          <p:cNvSpPr>
            <a:spLocks xmlns:a="http://schemas.openxmlformats.org/drawingml/2006/main" noGrp="1"/>
          </p:cNvSpPr>
          <p:nvPr/>
        </p:nvSpPr>
        <p:spPr>
          <a:xfrm xmlns:a="http://schemas.openxmlformats.org/drawingml/2006/main">
            <a:off x="1127760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i="0">
                <a:solidFill>
                  <a:srgbClr val="5B6573"/>
                </a:solidFill>
              </a:defRPr>
            </a:pPr>
            <a:r>
              <a:rPr sz="1050" b="0" i="0">
                <a:solidFill>
                  <a:srgbClr val="5B6573"/>
                </a:solidFill>
              </a:rPr>
              <a:t>10</a:t>
            </a:r>
          </a:p>
        </p:txBody>
      </p:sp>
      <p:sp>
        <p:nvSpPr>
          <p:cNvPr id="5" name="">
            <a:extLst xmlns:a="http://schemas.openxmlformats.org/drawingml/2006/main">
              <a:ext uri="{FF2B5EF4-FFF2-40B4-BE49-F238E27FC236}">
                <a16:creationId xmlns:a16="http://schemas.microsoft.com/office/drawing/2014/main" id="{D012270C-1662-4F95-A5CD-D75A116909A6}"/>
              </a:ext>
            </a:extLst>
          </p:cNvPr>
          <p:cNvSpPr>
            <a:spLocks xmlns:a="http://schemas.openxmlformats.org/drawingml/2006/main" noGrp="1"/>
          </p:cNvSpPr>
          <p:nvPr/>
        </p:nvSpPr>
        <p:spPr>
          <a:xfrm xmlns:a="http://schemas.openxmlformats.org/drawingml/2006/main">
            <a:off x="514350" y="156210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PORTABLE LAYOUT</a:t>
            </a:r>
          </a:p>
        </p:txBody>
      </p:sp>
      <p:sp>
        <p:nvSpPr>
          <p:cNvPr id="6" name="">
            <a:extLst xmlns:a="http://schemas.openxmlformats.org/drawingml/2006/main">
              <a:ext uri="{FF2B5EF4-FFF2-40B4-BE49-F238E27FC236}">
                <a16:creationId xmlns:a16="http://schemas.microsoft.com/office/drawing/2014/main" id="{3ACE219F-482B-45CC-A892-927B1A138CDA}"/>
              </a:ext>
            </a:extLst>
          </p:cNvPr>
          <p:cNvSpPr>
            <a:spLocks xmlns:a="http://schemas.openxmlformats.org/drawingml/2006/main" noGrp="1"/>
          </p:cNvSpPr>
          <p:nvPr/>
        </p:nvSpPr>
        <p:spPr>
          <a:xfrm xmlns:a="http://schemas.openxmlformats.org/drawingml/2006/main">
            <a:off x="514350" y="1943100"/>
            <a:ext cx="4953000" cy="3562350"/>
          </a:xfrm>
          <a:prstGeom xmlns:a="http://schemas.openxmlformats.org/drawingml/2006/main" prst="rect">
            <a:avLst/>
          </a:prstGeom>
          <a:solidFill xmlns:a="http://schemas.openxmlformats.org/drawingml/2006/main">
            <a:srgbClr val="EEF1F3"/>
          </a:solidFill>
          <a:ln xmlns:a="http://schemas.openxmlformats.org/drawingml/2006/main" w="9525">
            <a:solidFill>
              <a:srgbClr val="B8C2CC"/>
            </a:solidFill>
            <a:prstDash val="solid"/>
          </a:ln>
        </p:spPr>
      </p:sp>
      <p:sp>
        <p:nvSpPr>
          <p:cNvPr id="7" name="">
            <a:extLst xmlns:a="http://schemas.openxmlformats.org/drawingml/2006/main">
              <a:ext uri="{FF2B5EF4-FFF2-40B4-BE49-F238E27FC236}">
                <a16:creationId xmlns:a16="http://schemas.microsoft.com/office/drawing/2014/main" id="{0302781F-0427-4215-85C4-2DDA61CE77C8}"/>
              </a:ext>
            </a:extLst>
          </p:cNvPr>
          <p:cNvSpPr>
            <a:spLocks xmlns:a="http://schemas.openxmlformats.org/drawingml/2006/main" noGrp="1"/>
          </p:cNvSpPr>
          <p:nvPr/>
        </p:nvSpPr>
        <p:spPr>
          <a:xfrm xmlns:a="http://schemas.openxmlformats.org/drawingml/2006/main">
            <a:off x="781050" y="2171700"/>
            <a:ext cx="4191000" cy="3105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17212B"/>
                </a:solidFill>
              </a:defRPr>
            </a:pPr>
            <a:r>
              <a:rPr sz="1575" b="0" i="0">
                <a:solidFill>
                  <a:srgbClr val="17212B"/>
                </a:solidFill>
              </a:rPr>
              <a:t>data/</a:t>
            </a:r>
          </a:p>
          <a:p xmlns:a="http://schemas.openxmlformats.org/drawingml/2006/main">
            <a:pPr algn="l">
              <a:buNone/>
              <a:defRPr sz="1575" b="0" i="0">
                <a:solidFill>
                  <a:srgbClr val="17212B"/>
                </a:solidFill>
              </a:defRPr>
            </a:pPr>
            <a:r>
              <a:rPr sz="1575" b="0" i="0">
                <a:solidFill>
                  <a:srgbClr val="17212B"/>
                </a:solidFill>
              </a:rPr>
              <a:t>  auth/</a:t>
            </a:r>
          </a:p>
          <a:p xmlns:a="http://schemas.openxmlformats.org/drawingml/2006/main">
            <a:pPr algn="l">
              <a:buNone/>
              <a:defRPr sz="1575" b="0" i="0">
                <a:solidFill>
                  <a:srgbClr val="17212B"/>
                </a:solidFill>
              </a:defRPr>
            </a:pPr>
            <a:r>
              <a:rPr sz="1575" b="0" i="0">
                <a:solidFill>
                  <a:srgbClr val="17212B"/>
                </a:solidFill>
              </a:rPr>
              <a:t>  users/</a:t>
            </a:r>
          </a:p>
          <a:p xmlns:a="http://schemas.openxmlformats.org/drawingml/2006/main">
            <a:pPr algn="l">
              <a:buNone/>
              <a:defRPr sz="1575" b="0" i="0">
                <a:solidFill>
                  <a:srgbClr val="17212B"/>
                </a:solidFill>
              </a:defRPr>
            </a:pPr>
            <a:r>
              <a:rPr sz="1575" b="0" i="0">
                <a:solidFill>
                  <a:srgbClr val="17212B"/>
                </a:solidFill>
              </a:rPr>
              <a:t>    &lt;user-A&gt;/</a:t>
            </a:r>
          </a:p>
          <a:p xmlns:a="http://schemas.openxmlformats.org/drawingml/2006/main">
            <a:pPr algn="l">
              <a:buNone/>
              <a:defRPr sz="1575" b="0" i="0">
                <a:solidFill>
                  <a:srgbClr val="17212B"/>
                </a:solidFill>
              </a:defRPr>
            </a:pPr>
            <a:r>
              <a:rPr sz="1575" b="0" i="0">
                <a:solidFill>
                  <a:srgbClr val="17212B"/>
                </a:solidFill>
              </a:rPr>
              <a:t>      income.csv</a:t>
            </a:r>
          </a:p>
          <a:p xmlns:a="http://schemas.openxmlformats.org/drawingml/2006/main">
            <a:pPr algn="l">
              <a:buNone/>
              <a:defRPr sz="1575" b="0" i="0">
                <a:solidFill>
                  <a:srgbClr val="17212B"/>
                </a:solidFill>
              </a:defRPr>
            </a:pPr>
            <a:r>
              <a:rPr sz="1575" b="0" i="0">
                <a:solidFill>
                  <a:srgbClr val="17212B"/>
                </a:solidFill>
              </a:rPr>
              <a:t>      expenses.csv</a:t>
            </a:r>
          </a:p>
          <a:p xmlns:a="http://schemas.openxmlformats.org/drawingml/2006/main">
            <a:pPr algn="l">
              <a:buNone/>
              <a:defRPr sz="1575" b="0" i="0">
                <a:solidFill>
                  <a:srgbClr val="17212B"/>
                </a:solidFill>
              </a:defRPr>
            </a:pPr>
            <a:r>
              <a:rPr sz="1575" b="0" i="0">
                <a:solidFill>
                  <a:srgbClr val="17212B"/>
                </a:solidFill>
              </a:rPr>
              <a:t>      transfers.csv</a:t>
            </a:r>
          </a:p>
          <a:p xmlns:a="http://schemas.openxmlformats.org/drawingml/2006/main">
            <a:pPr algn="l">
              <a:buNone/>
              <a:defRPr sz="1575" b="0" i="0">
                <a:solidFill>
                  <a:srgbClr val="17212B"/>
                </a:solidFill>
              </a:defRPr>
            </a:pPr>
            <a:r>
              <a:rPr sz="1575" b="0" i="0">
                <a:solidFill>
                  <a:srgbClr val="17212B"/>
                </a:solidFill>
              </a:rPr>
              <a:t>      ...</a:t>
            </a:r>
          </a:p>
          <a:p xmlns:a="http://schemas.openxmlformats.org/drawingml/2006/main">
            <a:pPr algn="l">
              <a:buNone/>
              <a:defRPr sz="1575" b="0" i="0">
                <a:solidFill>
                  <a:srgbClr val="17212B"/>
                </a:solidFill>
              </a:defRPr>
            </a:pPr>
            <a:r>
              <a:rPr sz="1575" b="0" i="0">
                <a:solidFill>
                  <a:srgbClr val="17212B"/>
                </a:solidFill>
              </a:rPr>
              <a:t>    &lt;user-B&gt;/</a:t>
            </a:r>
          </a:p>
          <a:p xmlns:a="http://schemas.openxmlformats.org/drawingml/2006/main">
            <a:pPr algn="l">
              <a:buNone/>
              <a:defRPr sz="1575" b="0" i="0">
                <a:solidFill>
                  <a:srgbClr val="17212B"/>
                </a:solidFill>
              </a:defRPr>
            </a:pPr>
            <a:r>
              <a:rPr sz="1575" b="0" i="0">
                <a:solidFill>
                  <a:srgbClr val="17212B"/>
                </a:solidFill>
              </a:rPr>
              <a:t>      separate finance files</a:t>
            </a:r>
          </a:p>
          <a:p xmlns:a="http://schemas.openxmlformats.org/drawingml/2006/main">
            <a:pPr algn="l">
              <a:buNone/>
              <a:defRPr sz="1575" b="0" i="0">
                <a:solidFill>
                  <a:srgbClr val="17212B"/>
                </a:solidFill>
              </a:defRPr>
            </a:pPr>
            <a:r>
              <a:rPr sz="1575" b="0" i="0">
                <a:solidFill>
                  <a:srgbClr val="17212B"/>
                </a:solidFill>
              </a:rPr>
              <a:t>  backups/</a:t>
            </a:r>
          </a:p>
          <a:p xmlns:a="http://schemas.openxmlformats.org/drawingml/2006/main">
            <a:pPr algn="l">
              <a:buNone/>
              <a:defRPr sz="1575" b="0" i="0">
                <a:solidFill>
                  <a:srgbClr val="17212B"/>
                </a:solidFill>
              </a:defRPr>
            </a:pPr>
            <a:r>
              <a:rPr sz="1575" b="0" i="0">
                <a:solidFill>
                  <a:srgbClr val="17212B"/>
                </a:solidFill>
              </a:rPr>
              <a:t>  settings/</a:t>
            </a:r>
          </a:p>
          <a:p xmlns:a="http://schemas.openxmlformats.org/drawingml/2006/main">
            <a:pPr algn="l">
              <a:buNone/>
              <a:defRPr sz="1575" b="0" i="0">
                <a:solidFill>
                  <a:srgbClr val="17212B"/>
                </a:solidFill>
              </a:defRPr>
            </a:pPr>
            <a:r>
              <a:rPr sz="1575" b="0" i="0">
                <a:solidFill>
                  <a:srgbClr val="17212B"/>
                </a:solidFill>
              </a:rPr>
              <a:t>  presentation/</a:t>
            </a:r>
          </a:p>
        </p:txBody>
      </p:sp>
      <p:sp>
        <p:nvSpPr>
          <p:cNvPr id="8" name="">
            <a:extLst xmlns:a="http://schemas.openxmlformats.org/drawingml/2006/main">
              <a:ext uri="{FF2B5EF4-FFF2-40B4-BE49-F238E27FC236}">
                <a16:creationId xmlns:a16="http://schemas.microsoft.com/office/drawing/2014/main" id="{A3973989-430B-4567-9576-6B2F1860307E}"/>
              </a:ext>
            </a:extLst>
          </p:cNvPr>
          <p:cNvSpPr>
            <a:spLocks xmlns:a="http://schemas.openxmlformats.org/drawingml/2006/main" noGrp="1"/>
          </p:cNvSpPr>
          <p:nvPr/>
        </p:nvSpPr>
        <p:spPr>
          <a:xfrm xmlns:a="http://schemas.openxmlformats.org/drawingml/2006/main">
            <a:off x="6172200" y="156210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2B6CB0"/>
                </a:solidFill>
              </a:defRPr>
            </a:pPr>
            <a:r>
              <a:rPr sz="1125" b="1" i="0">
                <a:solidFill>
                  <a:srgbClr val="2B6CB0"/>
                </a:solidFill>
              </a:rPr>
              <a:t>ISOLATION FLOW</a:t>
            </a:r>
          </a:p>
        </p:txBody>
      </p:sp>
      <p:sp>
        <p:nvSpPr>
          <p:cNvPr id="9" name="">
            <a:extLst xmlns:a="http://schemas.openxmlformats.org/drawingml/2006/main">
              <a:ext uri="{FF2B5EF4-FFF2-40B4-BE49-F238E27FC236}">
                <a16:creationId xmlns:a16="http://schemas.microsoft.com/office/drawing/2014/main" id="{B7FDE140-81AA-4BE7-A9AC-156D6B6823F7}"/>
              </a:ext>
            </a:extLst>
          </p:cNvPr>
          <p:cNvSpPr>
            <a:spLocks xmlns:a="http://schemas.openxmlformats.org/drawingml/2006/main" noGrp="1"/>
          </p:cNvSpPr>
          <p:nvPr/>
        </p:nvSpPr>
        <p:spPr>
          <a:xfrm xmlns:a="http://schemas.openxmlformats.org/drawingml/2006/main">
            <a:off x="6172200" y="1943100"/>
            <a:ext cx="4953000" cy="590550"/>
          </a:xfrm>
          <a:prstGeom xmlns:a="http://schemas.openxmlformats.org/drawingml/2006/main" prst="rect">
            <a:avLst/>
          </a:prstGeom>
          <a:solidFill xmlns:a="http://schemas.openxmlformats.org/drawingml/2006/main">
            <a:srgbClr val="DCEAF8"/>
          </a:solidFill>
          <a:ln xmlns:a="http://schemas.openxmlformats.org/drawingml/2006/main" w="9525">
            <a:solidFill>
              <a:srgbClr val="2B6CB0"/>
            </a:solidFill>
            <a:prstDash val="solid"/>
          </a:ln>
        </p:spPr>
      </p:sp>
      <p:sp>
        <p:nvSpPr>
          <p:cNvPr id="10" name="">
            <a:extLst xmlns:a="http://schemas.openxmlformats.org/drawingml/2006/main">
              <a:ext uri="{FF2B5EF4-FFF2-40B4-BE49-F238E27FC236}">
                <a16:creationId xmlns:a16="http://schemas.microsoft.com/office/drawing/2014/main" id="{ACE1D094-F1A6-4B56-AB06-7613EF3F63E8}"/>
              </a:ext>
            </a:extLst>
          </p:cNvPr>
          <p:cNvSpPr>
            <a:spLocks xmlns:a="http://schemas.openxmlformats.org/drawingml/2006/main" noGrp="1"/>
          </p:cNvSpPr>
          <p:nvPr/>
        </p:nvSpPr>
        <p:spPr>
          <a:xfrm xmlns:a="http://schemas.openxmlformats.org/drawingml/2006/main">
            <a:off x="6419850" y="2105025"/>
            <a:ext cx="445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2B6CB0"/>
                </a:solidFill>
              </a:defRPr>
            </a:pPr>
            <a:r>
              <a:rPr sz="1650" b="1" i="0">
                <a:solidFill>
                  <a:srgbClr val="2B6CB0"/>
                </a:solidFill>
              </a:rPr>
              <a:t>Authenticated session</a:t>
            </a:r>
          </a:p>
        </p:txBody>
      </p:sp>
      <p:sp>
        <p:nvSpPr>
          <p:cNvPr id="11" name="">
            <a:extLst xmlns:a="http://schemas.openxmlformats.org/drawingml/2006/main">
              <a:ext uri="{FF2B5EF4-FFF2-40B4-BE49-F238E27FC236}">
                <a16:creationId xmlns:a16="http://schemas.microsoft.com/office/drawing/2014/main" id="{8CCE86F9-CDAE-414A-B9FB-ABFC7C65BF50}"/>
              </a:ext>
            </a:extLst>
          </p:cNvPr>
          <p:cNvSpPr>
            <a:spLocks xmlns:a="http://schemas.openxmlformats.org/drawingml/2006/main" noGrp="1"/>
          </p:cNvSpPr>
          <p:nvPr/>
        </p:nvSpPr>
        <p:spPr>
          <a:xfrm xmlns:a="http://schemas.openxmlformats.org/drawingml/2006/main">
            <a:off x="8382000" y="254317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5B6573"/>
                </a:solidFill>
              </a:defRPr>
            </a:pPr>
            <a:r>
              <a:rPr sz="1500" b="1" i="0">
                <a:solidFill>
                  <a:srgbClr val="5B6573"/>
                </a:solidFill>
              </a:rPr>
              <a:t>v</a:t>
            </a:r>
          </a:p>
        </p:txBody>
      </p:sp>
      <p:sp>
        <p:nvSpPr>
          <p:cNvPr id="12" name="">
            <a:extLst xmlns:a="http://schemas.openxmlformats.org/drawingml/2006/main">
              <a:ext uri="{FF2B5EF4-FFF2-40B4-BE49-F238E27FC236}">
                <a16:creationId xmlns:a16="http://schemas.microsoft.com/office/drawing/2014/main" id="{EE4EEDF4-69A2-415B-BB78-C681C34B96A8}"/>
              </a:ext>
            </a:extLst>
          </p:cNvPr>
          <p:cNvSpPr>
            <a:spLocks xmlns:a="http://schemas.openxmlformats.org/drawingml/2006/main" noGrp="1"/>
          </p:cNvSpPr>
          <p:nvPr/>
        </p:nvSpPr>
        <p:spPr>
          <a:xfrm xmlns:a="http://schemas.openxmlformats.org/drawingml/2006/main">
            <a:off x="6172200" y="2819400"/>
            <a:ext cx="4953000" cy="590550"/>
          </a:xfrm>
          <a:prstGeom xmlns:a="http://schemas.openxmlformats.org/drawingml/2006/main" prst="rect">
            <a:avLst/>
          </a:prstGeom>
          <a:solidFill xmlns:a="http://schemas.openxmlformats.org/drawingml/2006/main">
            <a:srgbClr val="EEF1F3"/>
          </a:solidFill>
          <a:ln xmlns:a="http://schemas.openxmlformats.org/drawingml/2006/main" w="9525">
            <a:solidFill>
              <a:srgbClr val="16785B"/>
            </a:solidFill>
            <a:prstDash val="solid"/>
          </a:ln>
        </p:spPr>
      </p:sp>
      <p:sp>
        <p:nvSpPr>
          <p:cNvPr id="13" name="">
            <a:extLst xmlns:a="http://schemas.openxmlformats.org/drawingml/2006/main">
              <a:ext uri="{FF2B5EF4-FFF2-40B4-BE49-F238E27FC236}">
                <a16:creationId xmlns:a16="http://schemas.microsoft.com/office/drawing/2014/main" id="{C136B0D9-401E-4A27-B979-2DAF2EE63EA6}"/>
              </a:ext>
            </a:extLst>
          </p:cNvPr>
          <p:cNvSpPr>
            <a:spLocks xmlns:a="http://schemas.openxmlformats.org/drawingml/2006/main" noGrp="1"/>
          </p:cNvSpPr>
          <p:nvPr/>
        </p:nvSpPr>
        <p:spPr>
          <a:xfrm xmlns:a="http://schemas.openxmlformats.org/drawingml/2006/main">
            <a:off x="6419850" y="2981325"/>
            <a:ext cx="445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0F5F49"/>
                </a:solidFill>
              </a:defRPr>
            </a:pPr>
            <a:r>
              <a:rPr sz="1650" b="1" i="0">
                <a:solidFill>
                  <a:srgbClr val="0F5F49"/>
                </a:solidFill>
              </a:rPr>
              <a:t>trusted user identifier</a:t>
            </a:r>
          </a:p>
        </p:txBody>
      </p:sp>
      <p:sp>
        <p:nvSpPr>
          <p:cNvPr id="14" name="">
            <a:extLst xmlns:a="http://schemas.openxmlformats.org/drawingml/2006/main">
              <a:ext uri="{FF2B5EF4-FFF2-40B4-BE49-F238E27FC236}">
                <a16:creationId xmlns:a16="http://schemas.microsoft.com/office/drawing/2014/main" id="{76A2796C-E957-4DD8-A7EB-4651894E0697}"/>
              </a:ext>
            </a:extLst>
          </p:cNvPr>
          <p:cNvSpPr>
            <a:spLocks xmlns:a="http://schemas.openxmlformats.org/drawingml/2006/main" noGrp="1"/>
          </p:cNvSpPr>
          <p:nvPr/>
        </p:nvSpPr>
        <p:spPr>
          <a:xfrm xmlns:a="http://schemas.openxmlformats.org/drawingml/2006/main">
            <a:off x="8382000" y="341947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5B6573"/>
                </a:solidFill>
              </a:defRPr>
            </a:pPr>
            <a:r>
              <a:rPr sz="1500" b="1" i="0">
                <a:solidFill>
                  <a:srgbClr val="5B6573"/>
                </a:solidFill>
              </a:rPr>
              <a:t>v</a:t>
            </a:r>
          </a:p>
        </p:txBody>
      </p:sp>
      <p:sp>
        <p:nvSpPr>
          <p:cNvPr id="15" name="">
            <a:extLst xmlns:a="http://schemas.openxmlformats.org/drawingml/2006/main">
              <a:ext uri="{FF2B5EF4-FFF2-40B4-BE49-F238E27FC236}">
                <a16:creationId xmlns:a16="http://schemas.microsoft.com/office/drawing/2014/main" id="{EBA970C1-96BB-49A7-8301-08F28007FA0B}"/>
              </a:ext>
            </a:extLst>
          </p:cNvPr>
          <p:cNvSpPr>
            <a:spLocks xmlns:a="http://schemas.openxmlformats.org/drawingml/2006/main" noGrp="1"/>
          </p:cNvSpPr>
          <p:nvPr/>
        </p:nvSpPr>
        <p:spPr>
          <a:xfrm xmlns:a="http://schemas.openxmlformats.org/drawingml/2006/main">
            <a:off x="6172200" y="3695700"/>
            <a:ext cx="4953000" cy="590550"/>
          </a:xfrm>
          <a:prstGeom xmlns:a="http://schemas.openxmlformats.org/drawingml/2006/main" prst="rect">
            <a:avLst/>
          </a:prstGeom>
          <a:solidFill xmlns:a="http://schemas.openxmlformats.org/drawingml/2006/main">
            <a:srgbClr val="EAF5F0"/>
          </a:solidFill>
          <a:ln xmlns:a="http://schemas.openxmlformats.org/drawingml/2006/main" w="9525">
            <a:solidFill>
              <a:srgbClr val="16785B"/>
            </a:solidFill>
            <a:prstDash val="solid"/>
          </a:ln>
        </p:spPr>
      </p:sp>
      <p:sp>
        <p:nvSpPr>
          <p:cNvPr id="16" name="">
            <a:extLst xmlns:a="http://schemas.openxmlformats.org/drawingml/2006/main">
              <a:ext uri="{FF2B5EF4-FFF2-40B4-BE49-F238E27FC236}">
                <a16:creationId xmlns:a16="http://schemas.microsoft.com/office/drawing/2014/main" id="{2C8DA239-920C-47A5-AC86-BF8AF82ED9DC}"/>
              </a:ext>
            </a:extLst>
          </p:cNvPr>
          <p:cNvSpPr>
            <a:spLocks xmlns:a="http://schemas.openxmlformats.org/drawingml/2006/main" noGrp="1"/>
          </p:cNvSpPr>
          <p:nvPr/>
        </p:nvSpPr>
        <p:spPr>
          <a:xfrm xmlns:a="http://schemas.openxmlformats.org/drawingml/2006/main">
            <a:off x="6419850" y="3857625"/>
            <a:ext cx="445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0F5F49"/>
                </a:solidFill>
              </a:defRPr>
            </a:pPr>
            <a:r>
              <a:rPr sz="1650" b="1" i="0">
                <a:solidFill>
                  <a:srgbClr val="0F5F49"/>
                </a:solidFill>
              </a:rPr>
              <a:t>AppPaths users/&lt;id&gt;</a:t>
            </a:r>
          </a:p>
        </p:txBody>
      </p:sp>
      <p:sp>
        <p:nvSpPr>
          <p:cNvPr id="17" name="">
            <a:extLst xmlns:a="http://schemas.openxmlformats.org/drawingml/2006/main">
              <a:ext uri="{FF2B5EF4-FFF2-40B4-BE49-F238E27FC236}">
                <a16:creationId xmlns:a16="http://schemas.microsoft.com/office/drawing/2014/main" id="{F5C5CCBB-4F8C-44FA-80EB-AD36D58D3A3C}"/>
              </a:ext>
            </a:extLst>
          </p:cNvPr>
          <p:cNvSpPr>
            <a:spLocks xmlns:a="http://schemas.openxmlformats.org/drawingml/2006/main" noGrp="1"/>
          </p:cNvSpPr>
          <p:nvPr/>
        </p:nvSpPr>
        <p:spPr>
          <a:xfrm xmlns:a="http://schemas.openxmlformats.org/drawingml/2006/main">
            <a:off x="8382000" y="429577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5B6573"/>
                </a:solidFill>
              </a:defRPr>
            </a:pPr>
            <a:r>
              <a:rPr sz="1500" b="1" i="0">
                <a:solidFill>
                  <a:srgbClr val="5B6573"/>
                </a:solidFill>
              </a:rPr>
              <a:t>v</a:t>
            </a:r>
          </a:p>
        </p:txBody>
      </p:sp>
      <p:sp>
        <p:nvSpPr>
          <p:cNvPr id="18" name="">
            <a:extLst xmlns:a="http://schemas.openxmlformats.org/drawingml/2006/main">
              <a:ext uri="{FF2B5EF4-FFF2-40B4-BE49-F238E27FC236}">
                <a16:creationId xmlns:a16="http://schemas.microsoft.com/office/drawing/2014/main" id="{DB283C57-3205-42C1-AD6D-513DC8FDF220}"/>
              </a:ext>
            </a:extLst>
          </p:cNvPr>
          <p:cNvSpPr>
            <a:spLocks xmlns:a="http://schemas.openxmlformats.org/drawingml/2006/main" noGrp="1"/>
          </p:cNvSpPr>
          <p:nvPr/>
        </p:nvSpPr>
        <p:spPr>
          <a:xfrm xmlns:a="http://schemas.openxmlformats.org/drawingml/2006/main">
            <a:off x="6172200" y="4572000"/>
            <a:ext cx="4953000" cy="590550"/>
          </a:xfrm>
          <a:prstGeom xmlns:a="http://schemas.openxmlformats.org/drawingml/2006/main" prst="rect">
            <a:avLst/>
          </a:prstGeom>
          <a:solidFill xmlns:a="http://schemas.openxmlformats.org/drawingml/2006/main">
            <a:srgbClr val="EEF1F3"/>
          </a:solidFill>
          <a:ln xmlns:a="http://schemas.openxmlformats.org/drawingml/2006/main" w="9525">
            <a:solidFill>
              <a:srgbClr val="16785B"/>
            </a:solidFill>
            <a:prstDash val="solid"/>
          </a:ln>
        </p:spPr>
      </p:sp>
      <p:sp>
        <p:nvSpPr>
          <p:cNvPr id="19" name="">
            <a:extLst xmlns:a="http://schemas.openxmlformats.org/drawingml/2006/main">
              <a:ext uri="{FF2B5EF4-FFF2-40B4-BE49-F238E27FC236}">
                <a16:creationId xmlns:a16="http://schemas.microsoft.com/office/drawing/2014/main" id="{D105C12C-9DAD-4B60-9B42-1E186B0B1167}"/>
              </a:ext>
            </a:extLst>
          </p:cNvPr>
          <p:cNvSpPr>
            <a:spLocks xmlns:a="http://schemas.openxmlformats.org/drawingml/2006/main" noGrp="1"/>
          </p:cNvSpPr>
          <p:nvPr/>
        </p:nvSpPr>
        <p:spPr>
          <a:xfrm xmlns:a="http://schemas.openxmlformats.org/drawingml/2006/main">
            <a:off x="6419850" y="4733925"/>
            <a:ext cx="445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0F5F49"/>
                </a:solidFill>
              </a:defRPr>
            </a:pPr>
            <a:r>
              <a:rPr sz="1650" b="1" i="0">
                <a:solidFill>
                  <a:srgbClr val="0F5F49"/>
                </a:solidFill>
              </a:rPr>
              <a:t>FinanceWorkspace repositories</a:t>
            </a:r>
          </a:p>
        </p:txBody>
      </p:sp>
      <p:sp>
        <p:nvSpPr>
          <p:cNvPr id="20" name="">
            <a:extLst xmlns:a="http://schemas.openxmlformats.org/drawingml/2006/main">
              <a:ext uri="{FF2B5EF4-FFF2-40B4-BE49-F238E27FC236}">
                <a16:creationId xmlns:a16="http://schemas.microsoft.com/office/drawing/2014/main" id="{724F355D-1B25-49A6-BC17-5F44EA3A54A7}"/>
              </a:ext>
            </a:extLst>
          </p:cNvPr>
          <p:cNvSpPr>
            <a:spLocks xmlns:a="http://schemas.openxmlformats.org/drawingml/2006/main" noGrp="1"/>
          </p:cNvSpPr>
          <p:nvPr/>
        </p:nvSpPr>
        <p:spPr>
          <a:xfrm xmlns:a="http://schemas.openxmlformats.org/drawingml/2006/main">
            <a:off x="6172200" y="561975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B42318"/>
                </a:solidFill>
              </a:defRPr>
            </a:pPr>
            <a:r>
              <a:rPr sz="1500" b="1" i="0">
                <a:solidFill>
                  <a:srgbClr val="B42318"/>
                </a:solidFill>
              </a:rPr>
              <a:t>AuthorizationService rejects a requested identifier that differs from the active session.</a:t>
            </a:r>
          </a:p>
        </p:txBody>
      </p:sp>
    </p:spTree>
    <p:extLst>
      <p:ext uri="{BB962C8B-B14F-4D97-AF65-F5344CB8AC3E}">
        <p14:creationId xmlns:p14="http://schemas.microsoft.com/office/powerpoint/2010/main" val="1703967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A5D7207-72C6-4084-9316-BF6CA12FEC60}"/>
              </a:ext>
            </a:extLst>
          </p:cNvPr>
          <p:cNvSpPr>
            <a:spLocks xmlns:a="http://schemas.openxmlformats.org/drawingml/2006/main" noGrp="1"/>
          </p:cNvSpPr>
          <p:nvPr/>
        </p:nvSpPr>
        <p:spPr>
          <a:xfrm xmlns:a="http://schemas.openxmlformats.org/drawingml/2006/main">
            <a:off x="400050" y="247650"/>
            <a:ext cx="11391900" cy="38100"/>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2" name="">
            <a:extLst xmlns:a="http://schemas.openxmlformats.org/drawingml/2006/main">
              <a:ext uri="{FF2B5EF4-FFF2-40B4-BE49-F238E27FC236}">
                <a16:creationId xmlns:a16="http://schemas.microsoft.com/office/drawing/2014/main" id="{FBD34360-5A6F-42C5-8E3D-9B6EC50764A8}"/>
              </a:ext>
            </a:extLst>
          </p:cNvPr>
          <p:cNvSpPr>
            <a:spLocks xmlns:a="http://schemas.openxmlformats.org/drawingml/2006/main" noGrp="1"/>
          </p:cNvSpPr>
          <p:nvPr/>
        </p:nvSpPr>
        <p:spPr>
          <a:xfrm xmlns:a="http://schemas.openxmlformats.org/drawingml/2006/main">
            <a:off x="457200" y="371475"/>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DATA SAFETY</a:t>
            </a:r>
          </a:p>
        </p:txBody>
      </p:sp>
      <p:sp>
        <p:nvSpPr>
          <p:cNvPr id="3" name="">
            <a:extLst xmlns:a="http://schemas.openxmlformats.org/drawingml/2006/main">
              <a:ext uri="{FF2B5EF4-FFF2-40B4-BE49-F238E27FC236}">
                <a16:creationId xmlns:a16="http://schemas.microsoft.com/office/drawing/2014/main" id="{EA1CC404-01A8-4CC6-ACA0-F8B0DC2B5E91}"/>
              </a:ext>
            </a:extLst>
          </p:cNvPr>
          <p:cNvSpPr>
            <a:spLocks xmlns:a="http://schemas.openxmlformats.org/drawingml/2006/main" noGrp="1"/>
          </p:cNvSpPr>
          <p:nvPr/>
        </p:nvSpPr>
        <p:spPr>
          <a:xfrm xmlns:a="http://schemas.openxmlformats.org/drawingml/2006/main">
            <a:off x="457200" y="72390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7212B"/>
                </a:solidFill>
              </a:defRPr>
            </a:pPr>
            <a:r>
              <a:rPr sz="3000" b="1" i="0">
                <a:solidFill>
                  <a:srgbClr val="17212B"/>
                </a:solidFill>
              </a:rPr>
              <a:t>Validate first, back up second, mutate last</a:t>
            </a:r>
          </a:p>
        </p:txBody>
      </p:sp>
      <p:sp>
        <p:nvSpPr>
          <p:cNvPr id="4" name="">
            <a:extLst xmlns:a="http://schemas.openxmlformats.org/drawingml/2006/main">
              <a:ext uri="{FF2B5EF4-FFF2-40B4-BE49-F238E27FC236}">
                <a16:creationId xmlns:a16="http://schemas.microsoft.com/office/drawing/2014/main" id="{805221D2-4D1C-4730-AB71-6AE9D3C9E1BC}"/>
              </a:ext>
            </a:extLst>
          </p:cNvPr>
          <p:cNvSpPr>
            <a:spLocks xmlns:a="http://schemas.openxmlformats.org/drawingml/2006/main" noGrp="1"/>
          </p:cNvSpPr>
          <p:nvPr/>
        </p:nvSpPr>
        <p:spPr>
          <a:xfrm xmlns:a="http://schemas.openxmlformats.org/drawingml/2006/main">
            <a:off x="1127760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i="0">
                <a:solidFill>
                  <a:srgbClr val="5B6573"/>
                </a:solidFill>
              </a:defRPr>
            </a:pPr>
            <a:r>
              <a:rPr sz="1050" b="0" i="0">
                <a:solidFill>
                  <a:srgbClr val="5B6573"/>
                </a:solidFill>
              </a:rPr>
              <a:t>11</a:t>
            </a:r>
          </a:p>
        </p:txBody>
      </p:sp>
      <p:sp>
        <p:nvSpPr>
          <p:cNvPr id="5" name="">
            <a:extLst xmlns:a="http://schemas.openxmlformats.org/drawingml/2006/main">
              <a:ext uri="{FF2B5EF4-FFF2-40B4-BE49-F238E27FC236}">
                <a16:creationId xmlns:a16="http://schemas.microsoft.com/office/drawing/2014/main" id="{BCEEB307-855D-4920-8366-120C4F090188}"/>
              </a:ext>
            </a:extLst>
          </p:cNvPr>
          <p:cNvSpPr>
            <a:spLocks xmlns:a="http://schemas.openxmlformats.org/drawingml/2006/main" noGrp="1"/>
          </p:cNvSpPr>
          <p:nvPr/>
        </p:nvSpPr>
        <p:spPr>
          <a:xfrm xmlns:a="http://schemas.openxmlformats.org/drawingml/2006/main">
            <a:off x="514350" y="1695450"/>
            <a:ext cx="66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2B6CB0"/>
                </a:solidFill>
              </a:defRPr>
            </a:pPr>
            <a:r>
              <a:rPr sz="1125" b="1" i="0">
                <a:solidFill>
                  <a:srgbClr val="2B6CB0"/>
                </a:solidFill>
              </a:rPr>
              <a:t>01</a:t>
            </a:r>
          </a:p>
        </p:txBody>
      </p:sp>
      <p:sp>
        <p:nvSpPr>
          <p:cNvPr id="6" name="">
            <a:extLst xmlns:a="http://schemas.openxmlformats.org/drawingml/2006/main">
              <a:ext uri="{FF2B5EF4-FFF2-40B4-BE49-F238E27FC236}">
                <a16:creationId xmlns:a16="http://schemas.microsoft.com/office/drawing/2014/main" id="{0EBC232C-C045-46A0-8287-9DFE4CF91F80}"/>
              </a:ext>
            </a:extLst>
          </p:cNvPr>
          <p:cNvSpPr>
            <a:spLocks xmlns:a="http://schemas.openxmlformats.org/drawingml/2006/main" noGrp="1"/>
          </p:cNvSpPr>
          <p:nvPr/>
        </p:nvSpPr>
        <p:spPr>
          <a:xfrm xmlns:a="http://schemas.openxmlformats.org/drawingml/2006/main">
            <a:off x="514350" y="2095500"/>
            <a:ext cx="190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7212B"/>
                </a:solidFill>
              </a:defRPr>
            </a:pPr>
            <a:r>
              <a:rPr sz="1725" b="1" i="0">
                <a:solidFill>
                  <a:srgbClr val="17212B"/>
                </a:solidFill>
              </a:rPr>
              <a:t>Inspect</a:t>
            </a:r>
          </a:p>
        </p:txBody>
      </p:sp>
      <p:sp>
        <p:nvSpPr>
          <p:cNvPr id="7" name="">
            <a:extLst xmlns:a="http://schemas.openxmlformats.org/drawingml/2006/main">
              <a:ext uri="{FF2B5EF4-FFF2-40B4-BE49-F238E27FC236}">
                <a16:creationId xmlns:a16="http://schemas.microsoft.com/office/drawing/2014/main" id="{447124C3-14A8-42A8-B2B9-91680C9079E1}"/>
              </a:ext>
            </a:extLst>
          </p:cNvPr>
          <p:cNvSpPr>
            <a:spLocks xmlns:a="http://schemas.openxmlformats.org/drawingml/2006/main" noGrp="1"/>
          </p:cNvSpPr>
          <p:nvPr/>
        </p:nvSpPr>
        <p:spPr>
          <a:xfrm xmlns:a="http://schemas.openxmlformats.org/drawingml/2006/main">
            <a:off x="514350" y="2571750"/>
            <a:ext cx="18669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573"/>
                </a:solidFill>
              </a:defRPr>
            </a:pPr>
            <a:r>
              <a:rPr sz="1350" b="0" i="0">
                <a:solidFill>
                  <a:srgbClr val="5B6573"/>
                </a:solidFill>
              </a:rPr>
              <a:t>Detect format and reject unsafe source locations</a:t>
            </a:r>
          </a:p>
        </p:txBody>
      </p:sp>
      <p:sp>
        <p:nvSpPr>
          <p:cNvPr id="8" name="">
            <a:extLst xmlns:a="http://schemas.openxmlformats.org/drawingml/2006/main">
              <a:ext uri="{FF2B5EF4-FFF2-40B4-BE49-F238E27FC236}">
                <a16:creationId xmlns:a16="http://schemas.microsoft.com/office/drawing/2014/main" id="{AFE882BD-E7A4-4FD3-9020-4ECCFABAC21F}"/>
              </a:ext>
            </a:extLst>
          </p:cNvPr>
          <p:cNvSpPr>
            <a:spLocks xmlns:a="http://schemas.openxmlformats.org/drawingml/2006/main" noGrp="1"/>
          </p:cNvSpPr>
          <p:nvPr/>
        </p:nvSpPr>
        <p:spPr>
          <a:xfrm xmlns:a="http://schemas.openxmlformats.org/drawingml/2006/main">
            <a:off x="2362200" y="27051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B8C2CC"/>
                </a:solidFill>
              </a:defRPr>
            </a:pPr>
            <a:r>
              <a:rPr sz="1650" b="1" i="0">
                <a:solidFill>
                  <a:srgbClr val="B8C2CC"/>
                </a:solidFill>
              </a:rPr>
              <a:t>&gt;</a:t>
            </a:r>
          </a:p>
        </p:txBody>
      </p:sp>
      <p:sp>
        <p:nvSpPr>
          <p:cNvPr id="9" name="">
            <a:extLst xmlns:a="http://schemas.openxmlformats.org/drawingml/2006/main">
              <a:ext uri="{FF2B5EF4-FFF2-40B4-BE49-F238E27FC236}">
                <a16:creationId xmlns:a16="http://schemas.microsoft.com/office/drawing/2014/main" id="{4426AB35-5851-406F-8A52-02695E64CD4D}"/>
              </a:ext>
            </a:extLst>
          </p:cNvPr>
          <p:cNvSpPr>
            <a:spLocks xmlns:a="http://schemas.openxmlformats.org/drawingml/2006/main" noGrp="1"/>
          </p:cNvSpPr>
          <p:nvPr/>
        </p:nvSpPr>
        <p:spPr>
          <a:xfrm xmlns:a="http://schemas.openxmlformats.org/drawingml/2006/main">
            <a:off x="2705100" y="1695450"/>
            <a:ext cx="66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2B6CB0"/>
                </a:solidFill>
              </a:defRPr>
            </a:pPr>
            <a:r>
              <a:rPr sz="1125" b="1" i="0">
                <a:solidFill>
                  <a:srgbClr val="2B6CB0"/>
                </a:solidFill>
              </a:rPr>
              <a:t>02</a:t>
            </a:r>
          </a:p>
        </p:txBody>
      </p:sp>
      <p:sp>
        <p:nvSpPr>
          <p:cNvPr id="10" name="">
            <a:extLst xmlns:a="http://schemas.openxmlformats.org/drawingml/2006/main">
              <a:ext uri="{FF2B5EF4-FFF2-40B4-BE49-F238E27FC236}">
                <a16:creationId xmlns:a16="http://schemas.microsoft.com/office/drawing/2014/main" id="{449C8388-DEC8-4A35-9FFD-AB436E2A7105}"/>
              </a:ext>
            </a:extLst>
          </p:cNvPr>
          <p:cNvSpPr>
            <a:spLocks xmlns:a="http://schemas.openxmlformats.org/drawingml/2006/main" noGrp="1"/>
          </p:cNvSpPr>
          <p:nvPr/>
        </p:nvSpPr>
        <p:spPr>
          <a:xfrm xmlns:a="http://schemas.openxmlformats.org/drawingml/2006/main">
            <a:off x="2705100" y="2095500"/>
            <a:ext cx="190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7212B"/>
                </a:solidFill>
              </a:defRPr>
            </a:pPr>
            <a:r>
              <a:rPr sz="1725" b="1" i="0">
                <a:solidFill>
                  <a:srgbClr val="17212B"/>
                </a:solidFill>
              </a:rPr>
              <a:t>Validate</a:t>
            </a:r>
          </a:p>
        </p:txBody>
      </p:sp>
      <p:sp>
        <p:nvSpPr>
          <p:cNvPr id="11" name="">
            <a:extLst xmlns:a="http://schemas.openxmlformats.org/drawingml/2006/main">
              <a:ext uri="{FF2B5EF4-FFF2-40B4-BE49-F238E27FC236}">
                <a16:creationId xmlns:a16="http://schemas.microsoft.com/office/drawing/2014/main" id="{DF3300C2-38F7-49D9-BDF3-FF5DD38E4ECE}"/>
              </a:ext>
            </a:extLst>
          </p:cNvPr>
          <p:cNvSpPr>
            <a:spLocks xmlns:a="http://schemas.openxmlformats.org/drawingml/2006/main" noGrp="1"/>
          </p:cNvSpPr>
          <p:nvPr/>
        </p:nvSpPr>
        <p:spPr>
          <a:xfrm xmlns:a="http://schemas.openxmlformats.org/drawingml/2006/main">
            <a:off x="2705100" y="2571750"/>
            <a:ext cx="18669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573"/>
                </a:solidFill>
              </a:defRPr>
            </a:pPr>
            <a:r>
              <a:rPr sz="1350" b="0" i="0">
                <a:solidFill>
                  <a:srgbClr val="5B6573"/>
                </a:solidFill>
              </a:rPr>
              <a:t>Headers, rows, IDs, managed files and checksums</a:t>
            </a:r>
          </a:p>
        </p:txBody>
      </p:sp>
      <p:sp>
        <p:nvSpPr>
          <p:cNvPr id="12" name="">
            <a:extLst xmlns:a="http://schemas.openxmlformats.org/drawingml/2006/main">
              <a:ext uri="{FF2B5EF4-FFF2-40B4-BE49-F238E27FC236}">
                <a16:creationId xmlns:a16="http://schemas.microsoft.com/office/drawing/2014/main" id="{65EAE3DA-3AE7-4306-9309-78AEDADEB4F1}"/>
              </a:ext>
            </a:extLst>
          </p:cNvPr>
          <p:cNvSpPr>
            <a:spLocks xmlns:a="http://schemas.openxmlformats.org/drawingml/2006/main" noGrp="1"/>
          </p:cNvSpPr>
          <p:nvPr/>
        </p:nvSpPr>
        <p:spPr>
          <a:xfrm xmlns:a="http://schemas.openxmlformats.org/drawingml/2006/main">
            <a:off x="4552950" y="27051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B8C2CC"/>
                </a:solidFill>
              </a:defRPr>
            </a:pPr>
            <a:r>
              <a:rPr sz="1650" b="1" i="0">
                <a:solidFill>
                  <a:srgbClr val="B8C2CC"/>
                </a:solidFill>
              </a:rPr>
              <a:t>&gt;</a:t>
            </a:r>
          </a:p>
        </p:txBody>
      </p:sp>
      <p:sp>
        <p:nvSpPr>
          <p:cNvPr id="13" name="">
            <a:extLst xmlns:a="http://schemas.openxmlformats.org/drawingml/2006/main">
              <a:ext uri="{FF2B5EF4-FFF2-40B4-BE49-F238E27FC236}">
                <a16:creationId xmlns:a16="http://schemas.microsoft.com/office/drawing/2014/main" id="{45E56DA3-6D24-48D2-9CA5-F59042A1E5FF}"/>
              </a:ext>
            </a:extLst>
          </p:cNvPr>
          <p:cNvSpPr>
            <a:spLocks xmlns:a="http://schemas.openxmlformats.org/drawingml/2006/main" noGrp="1"/>
          </p:cNvSpPr>
          <p:nvPr/>
        </p:nvSpPr>
        <p:spPr>
          <a:xfrm xmlns:a="http://schemas.openxmlformats.org/drawingml/2006/main">
            <a:off x="4895850" y="1695450"/>
            <a:ext cx="66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03</a:t>
            </a:r>
          </a:p>
        </p:txBody>
      </p:sp>
      <p:sp>
        <p:nvSpPr>
          <p:cNvPr id="14" name="">
            <a:extLst xmlns:a="http://schemas.openxmlformats.org/drawingml/2006/main">
              <a:ext uri="{FF2B5EF4-FFF2-40B4-BE49-F238E27FC236}">
                <a16:creationId xmlns:a16="http://schemas.microsoft.com/office/drawing/2014/main" id="{B21723C8-1DB5-46E6-81F2-746DDFFFCF77}"/>
              </a:ext>
            </a:extLst>
          </p:cNvPr>
          <p:cNvSpPr>
            <a:spLocks xmlns:a="http://schemas.openxmlformats.org/drawingml/2006/main" noGrp="1"/>
          </p:cNvSpPr>
          <p:nvPr/>
        </p:nvSpPr>
        <p:spPr>
          <a:xfrm xmlns:a="http://schemas.openxmlformats.org/drawingml/2006/main">
            <a:off x="4895850" y="2095500"/>
            <a:ext cx="190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7212B"/>
                </a:solidFill>
              </a:defRPr>
            </a:pPr>
            <a:r>
              <a:rPr sz="1725" b="1" i="0">
                <a:solidFill>
                  <a:srgbClr val="17212B"/>
                </a:solidFill>
              </a:rPr>
              <a:t>Safety backup</a:t>
            </a:r>
          </a:p>
        </p:txBody>
      </p:sp>
      <p:sp>
        <p:nvSpPr>
          <p:cNvPr id="15" name="">
            <a:extLst xmlns:a="http://schemas.openxmlformats.org/drawingml/2006/main">
              <a:ext uri="{FF2B5EF4-FFF2-40B4-BE49-F238E27FC236}">
                <a16:creationId xmlns:a16="http://schemas.microsoft.com/office/drawing/2014/main" id="{FF6542E8-BB14-4476-9CE2-210E31F146C7}"/>
              </a:ext>
            </a:extLst>
          </p:cNvPr>
          <p:cNvSpPr>
            <a:spLocks xmlns:a="http://schemas.openxmlformats.org/drawingml/2006/main" noGrp="1"/>
          </p:cNvSpPr>
          <p:nvPr/>
        </p:nvSpPr>
        <p:spPr>
          <a:xfrm xmlns:a="http://schemas.openxmlformats.org/drawingml/2006/main">
            <a:off x="4895850" y="2571750"/>
            <a:ext cx="18669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573"/>
                </a:solidFill>
              </a:defRPr>
            </a:pPr>
            <a:r>
              <a:rPr sz="1350" b="0" i="0">
                <a:solidFill>
                  <a:srgbClr val="5B6573"/>
                </a:solidFill>
              </a:rPr>
              <a:t>Create ZIP before import or destructive restore</a:t>
            </a:r>
          </a:p>
        </p:txBody>
      </p:sp>
      <p:sp>
        <p:nvSpPr>
          <p:cNvPr id="16" name="">
            <a:extLst xmlns:a="http://schemas.openxmlformats.org/drawingml/2006/main">
              <a:ext uri="{FF2B5EF4-FFF2-40B4-BE49-F238E27FC236}">
                <a16:creationId xmlns:a16="http://schemas.microsoft.com/office/drawing/2014/main" id="{F91B4E4B-BDEB-4426-BB18-09355C63B606}"/>
              </a:ext>
            </a:extLst>
          </p:cNvPr>
          <p:cNvSpPr>
            <a:spLocks xmlns:a="http://schemas.openxmlformats.org/drawingml/2006/main" noGrp="1"/>
          </p:cNvSpPr>
          <p:nvPr/>
        </p:nvSpPr>
        <p:spPr>
          <a:xfrm xmlns:a="http://schemas.openxmlformats.org/drawingml/2006/main">
            <a:off x="6743700" y="27051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B8C2CC"/>
                </a:solidFill>
              </a:defRPr>
            </a:pPr>
            <a:r>
              <a:rPr sz="1650" b="1" i="0">
                <a:solidFill>
                  <a:srgbClr val="B8C2CC"/>
                </a:solidFill>
              </a:rPr>
              <a:t>&gt;</a:t>
            </a:r>
          </a:p>
        </p:txBody>
      </p:sp>
      <p:sp>
        <p:nvSpPr>
          <p:cNvPr id="17" name="">
            <a:extLst xmlns:a="http://schemas.openxmlformats.org/drawingml/2006/main">
              <a:ext uri="{FF2B5EF4-FFF2-40B4-BE49-F238E27FC236}">
                <a16:creationId xmlns:a16="http://schemas.microsoft.com/office/drawing/2014/main" id="{2A0AD576-652E-4700-844C-2D56ABD32827}"/>
              </a:ext>
            </a:extLst>
          </p:cNvPr>
          <p:cNvSpPr>
            <a:spLocks xmlns:a="http://schemas.openxmlformats.org/drawingml/2006/main" noGrp="1"/>
          </p:cNvSpPr>
          <p:nvPr/>
        </p:nvSpPr>
        <p:spPr>
          <a:xfrm xmlns:a="http://schemas.openxmlformats.org/drawingml/2006/main">
            <a:off x="7086600" y="1695450"/>
            <a:ext cx="66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04</a:t>
            </a:r>
          </a:p>
        </p:txBody>
      </p:sp>
      <p:sp>
        <p:nvSpPr>
          <p:cNvPr id="18" name="">
            <a:extLst xmlns:a="http://schemas.openxmlformats.org/drawingml/2006/main">
              <a:ext uri="{FF2B5EF4-FFF2-40B4-BE49-F238E27FC236}">
                <a16:creationId xmlns:a16="http://schemas.microsoft.com/office/drawing/2014/main" id="{33C55E1F-5333-49C1-93C7-E7E55A863FDC}"/>
              </a:ext>
            </a:extLst>
          </p:cNvPr>
          <p:cNvSpPr>
            <a:spLocks xmlns:a="http://schemas.openxmlformats.org/drawingml/2006/main" noGrp="1"/>
          </p:cNvSpPr>
          <p:nvPr/>
        </p:nvSpPr>
        <p:spPr>
          <a:xfrm xmlns:a="http://schemas.openxmlformats.org/drawingml/2006/main">
            <a:off x="7086600" y="2095500"/>
            <a:ext cx="190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7212B"/>
                </a:solidFill>
              </a:defRPr>
            </a:pPr>
            <a:r>
              <a:rPr sz="1725" b="1" i="0">
                <a:solidFill>
                  <a:srgbClr val="17212B"/>
                </a:solidFill>
              </a:rPr>
              <a:t>Apply</a:t>
            </a:r>
          </a:p>
        </p:txBody>
      </p:sp>
      <p:sp>
        <p:nvSpPr>
          <p:cNvPr id="19" name="">
            <a:extLst xmlns:a="http://schemas.openxmlformats.org/drawingml/2006/main">
              <a:ext uri="{FF2B5EF4-FFF2-40B4-BE49-F238E27FC236}">
                <a16:creationId xmlns:a16="http://schemas.microsoft.com/office/drawing/2014/main" id="{CAFBD925-EF41-48B1-9A66-0423A326E1C5}"/>
              </a:ext>
            </a:extLst>
          </p:cNvPr>
          <p:cNvSpPr>
            <a:spLocks xmlns:a="http://schemas.openxmlformats.org/drawingml/2006/main" noGrp="1"/>
          </p:cNvSpPr>
          <p:nvPr/>
        </p:nvSpPr>
        <p:spPr>
          <a:xfrm xmlns:a="http://schemas.openxmlformats.org/drawingml/2006/main">
            <a:off x="7086600" y="2571750"/>
            <a:ext cx="18669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573"/>
                </a:solidFill>
              </a:defRPr>
            </a:pPr>
            <a:r>
              <a:rPr sz="1350" b="0" i="0">
                <a:solidFill>
                  <a:srgbClr val="5B6573"/>
                </a:solidFill>
              </a:rPr>
              <a:t>Use repositories or staged workspace replacement</a:t>
            </a:r>
          </a:p>
        </p:txBody>
      </p:sp>
      <p:sp>
        <p:nvSpPr>
          <p:cNvPr id="20" name="">
            <a:extLst xmlns:a="http://schemas.openxmlformats.org/drawingml/2006/main">
              <a:ext uri="{FF2B5EF4-FFF2-40B4-BE49-F238E27FC236}">
                <a16:creationId xmlns:a16="http://schemas.microsoft.com/office/drawing/2014/main" id="{C01409A5-A32A-466E-8394-2A45A267E1E9}"/>
              </a:ext>
            </a:extLst>
          </p:cNvPr>
          <p:cNvSpPr>
            <a:spLocks xmlns:a="http://schemas.openxmlformats.org/drawingml/2006/main" noGrp="1"/>
          </p:cNvSpPr>
          <p:nvPr/>
        </p:nvSpPr>
        <p:spPr>
          <a:xfrm xmlns:a="http://schemas.openxmlformats.org/drawingml/2006/main">
            <a:off x="8934450" y="27051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B8C2CC"/>
                </a:solidFill>
              </a:defRPr>
            </a:pPr>
            <a:r>
              <a:rPr sz="1650" b="1" i="0">
                <a:solidFill>
                  <a:srgbClr val="B8C2CC"/>
                </a:solidFill>
              </a:rPr>
              <a:t>&gt;</a:t>
            </a:r>
          </a:p>
        </p:txBody>
      </p:sp>
      <p:sp>
        <p:nvSpPr>
          <p:cNvPr id="21" name="">
            <a:extLst xmlns:a="http://schemas.openxmlformats.org/drawingml/2006/main">
              <a:ext uri="{FF2B5EF4-FFF2-40B4-BE49-F238E27FC236}">
                <a16:creationId xmlns:a16="http://schemas.microsoft.com/office/drawing/2014/main" id="{8D3D97CD-54F3-4103-BEC4-14B2A89FE403}"/>
              </a:ext>
            </a:extLst>
          </p:cNvPr>
          <p:cNvSpPr>
            <a:spLocks xmlns:a="http://schemas.openxmlformats.org/drawingml/2006/main" noGrp="1"/>
          </p:cNvSpPr>
          <p:nvPr/>
        </p:nvSpPr>
        <p:spPr>
          <a:xfrm xmlns:a="http://schemas.openxmlformats.org/drawingml/2006/main">
            <a:off x="9277350" y="1695450"/>
            <a:ext cx="66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05</a:t>
            </a:r>
          </a:p>
        </p:txBody>
      </p:sp>
      <p:sp>
        <p:nvSpPr>
          <p:cNvPr id="22" name="">
            <a:extLst xmlns:a="http://schemas.openxmlformats.org/drawingml/2006/main">
              <a:ext uri="{FF2B5EF4-FFF2-40B4-BE49-F238E27FC236}">
                <a16:creationId xmlns:a16="http://schemas.microsoft.com/office/drawing/2014/main" id="{AB64D0FA-1A55-4F2E-BCBE-42F38CC9CF10}"/>
              </a:ext>
            </a:extLst>
          </p:cNvPr>
          <p:cNvSpPr>
            <a:spLocks xmlns:a="http://schemas.openxmlformats.org/drawingml/2006/main" noGrp="1"/>
          </p:cNvSpPr>
          <p:nvPr/>
        </p:nvSpPr>
        <p:spPr>
          <a:xfrm xmlns:a="http://schemas.openxmlformats.org/drawingml/2006/main">
            <a:off x="9277350" y="2095500"/>
            <a:ext cx="190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7212B"/>
                </a:solidFill>
              </a:defRPr>
            </a:pPr>
            <a:r>
              <a:rPr sz="1725" b="1" i="0">
                <a:solidFill>
                  <a:srgbClr val="17212B"/>
                </a:solidFill>
              </a:rPr>
              <a:t>Rollback</a:t>
            </a:r>
          </a:p>
        </p:txBody>
      </p:sp>
      <p:sp>
        <p:nvSpPr>
          <p:cNvPr id="23" name="">
            <a:extLst xmlns:a="http://schemas.openxmlformats.org/drawingml/2006/main">
              <a:ext uri="{FF2B5EF4-FFF2-40B4-BE49-F238E27FC236}">
                <a16:creationId xmlns:a16="http://schemas.microsoft.com/office/drawing/2014/main" id="{7C1ADD95-B68C-4386-83D2-6C27C03530F8}"/>
              </a:ext>
            </a:extLst>
          </p:cNvPr>
          <p:cNvSpPr>
            <a:spLocks xmlns:a="http://schemas.openxmlformats.org/drawingml/2006/main" noGrp="1"/>
          </p:cNvSpPr>
          <p:nvPr/>
        </p:nvSpPr>
        <p:spPr>
          <a:xfrm xmlns:a="http://schemas.openxmlformats.org/drawingml/2006/main">
            <a:off x="9277350" y="2571750"/>
            <a:ext cx="18669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573"/>
                </a:solidFill>
              </a:defRPr>
            </a:pPr>
            <a:r>
              <a:rPr sz="1350" b="0" i="0">
                <a:solidFill>
                  <a:srgbClr val="5B6573"/>
                </a:solidFill>
              </a:rPr>
              <a:t>Restore prior state if mutation fails</a:t>
            </a:r>
          </a:p>
        </p:txBody>
      </p:sp>
      <p:sp>
        <p:nvSpPr>
          <p:cNvPr id="24" name="">
            <a:extLst xmlns:a="http://schemas.openxmlformats.org/drawingml/2006/main">
              <a:ext uri="{FF2B5EF4-FFF2-40B4-BE49-F238E27FC236}">
                <a16:creationId xmlns:a16="http://schemas.microsoft.com/office/drawing/2014/main" id="{918B6058-9192-4003-9B50-6CADE77C9925}"/>
              </a:ext>
            </a:extLst>
          </p:cNvPr>
          <p:cNvSpPr>
            <a:spLocks xmlns:a="http://schemas.openxmlformats.org/drawingml/2006/main" noGrp="1"/>
          </p:cNvSpPr>
          <p:nvPr/>
        </p:nvSpPr>
        <p:spPr>
          <a:xfrm xmlns:a="http://schemas.openxmlformats.org/drawingml/2006/main">
            <a:off x="514350" y="3867150"/>
            <a:ext cx="10744200" cy="19050"/>
          </a:xfrm>
          <a:prstGeom xmlns:a="http://schemas.openxmlformats.org/drawingml/2006/main" prst="rect">
            <a:avLst/>
          </a:prstGeom>
          <a:solidFill xmlns:a="http://schemas.openxmlformats.org/drawingml/2006/main">
            <a:srgbClr val="B8C2CC"/>
          </a:solidFill>
          <a:ln xmlns:a="http://schemas.openxmlformats.org/drawingml/2006/main" w="0">
            <a:solidFill>
              <a:srgbClr val="B8C2CC"/>
            </a:solidFill>
            <a:prstDash val="solid"/>
          </a:ln>
        </p:spPr>
      </p:sp>
      <p:sp>
        <p:nvSpPr>
          <p:cNvPr id="25" name="">
            <a:extLst xmlns:a="http://schemas.openxmlformats.org/drawingml/2006/main">
              <a:ext uri="{FF2B5EF4-FFF2-40B4-BE49-F238E27FC236}">
                <a16:creationId xmlns:a16="http://schemas.microsoft.com/office/drawing/2014/main" id="{BBA540EA-BEC0-43AC-85A8-9D37F7DA913A}"/>
              </a:ext>
            </a:extLst>
          </p:cNvPr>
          <p:cNvSpPr>
            <a:spLocks xmlns:a="http://schemas.openxmlformats.org/drawingml/2006/main" noGrp="1"/>
          </p:cNvSpPr>
          <p:nvPr/>
        </p:nvSpPr>
        <p:spPr>
          <a:xfrm xmlns:a="http://schemas.openxmlformats.org/drawingml/2006/main">
            <a:off x="514350" y="41148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SUPPORTED PATHS</a:t>
            </a:r>
          </a:p>
        </p:txBody>
      </p:sp>
      <p:sp>
        <p:nvSpPr>
          <p:cNvPr id="26" name="">
            <a:extLst xmlns:a="http://schemas.openxmlformats.org/drawingml/2006/main">
              <a:ext uri="{FF2B5EF4-FFF2-40B4-BE49-F238E27FC236}">
                <a16:creationId xmlns:a16="http://schemas.microsoft.com/office/drawing/2014/main" id="{F574952B-29F9-4ADF-ACCB-0539B7723BB9}"/>
              </a:ext>
            </a:extLst>
          </p:cNvPr>
          <p:cNvSpPr>
            <a:spLocks xmlns:a="http://schemas.openxmlformats.org/drawingml/2006/main" noGrp="1"/>
          </p:cNvSpPr>
          <p:nvPr/>
        </p:nvSpPr>
        <p:spPr>
          <a:xfrm xmlns:a="http://schemas.openxmlformats.org/drawingml/2006/main">
            <a:off x="514350" y="4476750"/>
            <a:ext cx="5143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17212B"/>
                </a:solidFill>
              </a:defRPr>
            </a:pPr>
            <a:r>
              <a:rPr sz="1500" b="0" i="0">
                <a:solidFill>
                  <a:srgbClr val="17212B"/>
                </a:solidFill>
              </a:rPr>
              <a:t>• Wealthora transaction CSV import</a:t>
            </a:r>
          </a:p>
          <a:p xmlns:a="http://schemas.openxmlformats.org/drawingml/2006/main">
            <a:pPr algn="l">
              <a:buNone/>
              <a:defRPr sz="1500" b="0" i="0">
                <a:solidFill>
                  <a:srgbClr val="17212B"/>
                </a:solidFill>
              </a:defRPr>
            </a:pPr>
            <a:r>
              <a:rPr sz="1500" b="0" i="0">
                <a:solidFill>
                  <a:srgbClr val="17212B"/>
                </a:solidFill>
              </a:rPr>
              <a:t>• ZIP and versioned JSON backup/restore</a:t>
            </a:r>
          </a:p>
          <a:p xmlns:a="http://schemas.openxmlformats.org/drawingml/2006/main">
            <a:pPr algn="l">
              <a:buNone/>
              <a:defRPr sz="1500" b="0" i="0">
                <a:solidFill>
                  <a:srgbClr val="17212B"/>
                </a:solidFill>
              </a:defRPr>
            </a:pPr>
            <a:r>
              <a:rPr sz="1500" b="0" i="0">
                <a:solidFill>
                  <a:srgbClr val="17212B"/>
                </a:solidFill>
              </a:rPr>
              <a:t>• CSV detail export + PDF portfolio summary</a:t>
            </a:r>
          </a:p>
          <a:p xmlns:a="http://schemas.openxmlformats.org/drawingml/2006/main">
            <a:pPr algn="l">
              <a:buNone/>
              <a:defRPr sz="1500" b="0" i="0">
                <a:solidFill>
                  <a:srgbClr val="17212B"/>
                </a:solidFill>
              </a:defRPr>
            </a:pPr>
            <a:r>
              <a:rPr sz="1500" b="0" i="0">
                <a:solidFill>
                  <a:srgbClr val="17212B"/>
                </a:solidFill>
              </a:rPr>
              <a:t>• Money Manager content detection and staged mapping</a:t>
            </a:r>
          </a:p>
        </p:txBody>
      </p:sp>
      <p:sp>
        <p:nvSpPr>
          <p:cNvPr id="27" name="">
            <a:extLst xmlns:a="http://schemas.openxmlformats.org/drawingml/2006/main">
              <a:ext uri="{FF2B5EF4-FFF2-40B4-BE49-F238E27FC236}">
                <a16:creationId xmlns:a16="http://schemas.microsoft.com/office/drawing/2014/main" id="{DF84CBC8-9709-4139-B8D0-10A49D97EDF7}"/>
              </a:ext>
            </a:extLst>
          </p:cNvPr>
          <p:cNvSpPr>
            <a:spLocks xmlns:a="http://schemas.openxmlformats.org/drawingml/2006/main" noGrp="1"/>
          </p:cNvSpPr>
          <p:nvPr/>
        </p:nvSpPr>
        <p:spPr>
          <a:xfrm xmlns:a="http://schemas.openxmlformats.org/drawingml/2006/main">
            <a:off x="6305550" y="411480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2B6CB0"/>
                </a:solidFill>
              </a:defRPr>
            </a:pPr>
            <a:r>
              <a:rPr sz="1125" b="1" i="0">
                <a:solidFill>
                  <a:srgbClr val="2B6CB0"/>
                </a:solidFill>
              </a:rPr>
              <a:t>PRESENTATION DATA</a:t>
            </a:r>
          </a:p>
        </p:txBody>
      </p:sp>
      <p:sp>
        <p:nvSpPr>
          <p:cNvPr id="28" name="">
            <a:extLst xmlns:a="http://schemas.openxmlformats.org/drawingml/2006/main">
              <a:ext uri="{FF2B5EF4-FFF2-40B4-BE49-F238E27FC236}">
                <a16:creationId xmlns:a16="http://schemas.microsoft.com/office/drawing/2014/main" id="{5A7CB738-DFC9-4DD2-A1C8-31898ACA81C2}"/>
              </a:ext>
            </a:extLst>
          </p:cNvPr>
          <p:cNvSpPr>
            <a:spLocks xmlns:a="http://schemas.openxmlformats.org/drawingml/2006/main" noGrp="1"/>
          </p:cNvSpPr>
          <p:nvPr/>
        </p:nvSpPr>
        <p:spPr>
          <a:xfrm xmlns:a="http://schemas.openxmlformats.org/drawingml/2006/main">
            <a:off x="6305550" y="4476750"/>
            <a:ext cx="49530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17212B"/>
                </a:solidFill>
              </a:defRPr>
            </a:pPr>
            <a:r>
              <a:rPr sz="1500" b="0" i="0">
                <a:solidFill>
                  <a:srgbClr val="17212B"/>
                </a:solidFill>
              </a:rPr>
              <a:t>• OWNER-only explicit load</a:t>
            </a:r>
          </a:p>
          <a:p xmlns:a="http://schemas.openxmlformats.org/drawingml/2006/main">
            <a:pPr algn="l">
              <a:buNone/>
              <a:defRPr sz="1500" b="0" i="0">
                <a:solidFill>
                  <a:srgbClr val="17212B"/>
                </a:solidFill>
              </a:defRPr>
            </a:pPr>
            <a:r>
              <a:rPr sz="1500" b="0" i="0">
                <a:solidFill>
                  <a:srgbClr val="17212B"/>
                </a:solidFill>
              </a:rPr>
              <a:t>• Fixed identifiers prevent duplicates</a:t>
            </a:r>
          </a:p>
          <a:p xmlns:a="http://schemas.openxmlformats.org/drawingml/2006/main">
            <a:pPr algn="l">
              <a:buNone/>
              <a:defRPr sz="1500" b="0" i="0">
                <a:solidFill>
                  <a:srgbClr val="17212B"/>
                </a:solidFill>
              </a:defRPr>
            </a:pPr>
            <a:r>
              <a:rPr sz="1500" b="0" i="0">
                <a:solidFill>
                  <a:srgbClr val="17212B"/>
                </a:solidFill>
              </a:rPr>
              <a:t>• Per-user manifest records only created items</a:t>
            </a:r>
          </a:p>
          <a:p xmlns:a="http://schemas.openxmlformats.org/drawingml/2006/main">
            <a:pPr algn="l">
              <a:buNone/>
              <a:defRPr sz="1500" b="0" i="0">
                <a:solidFill>
                  <a:srgbClr val="17212B"/>
                </a:solidFill>
              </a:defRPr>
            </a:pPr>
            <a:r>
              <a:rPr sz="1500" b="0" i="0">
                <a:solidFill>
                  <a:srgbClr val="17212B"/>
                </a:solidFill>
              </a:rPr>
              <a:t>• Removal preserves manual and colliding records</a:t>
            </a:r>
          </a:p>
        </p:txBody>
      </p:sp>
    </p:spTree>
    <p:extLst>
      <p:ext uri="{BB962C8B-B14F-4D97-AF65-F5344CB8AC3E}">
        <p14:creationId xmlns:p14="http://schemas.microsoft.com/office/powerpoint/2010/main" val="26200330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9A482392-8186-472A-BE6F-4326FDC06A7E}"/>
              </a:ext>
            </a:extLst>
          </p:cNvPr>
          <p:cNvSpPr>
            <a:spLocks xmlns:a="http://schemas.openxmlformats.org/drawingml/2006/main" noGrp="1"/>
          </p:cNvSpPr>
          <p:nvPr/>
        </p:nvSpPr>
        <p:spPr>
          <a:xfrm xmlns:a="http://schemas.openxmlformats.org/drawingml/2006/main">
            <a:off x="400050" y="247650"/>
            <a:ext cx="11391900" cy="38100"/>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2" name="">
            <a:extLst xmlns:a="http://schemas.openxmlformats.org/drawingml/2006/main">
              <a:ext uri="{FF2B5EF4-FFF2-40B4-BE49-F238E27FC236}">
                <a16:creationId xmlns:a16="http://schemas.microsoft.com/office/drawing/2014/main" id="{8B350064-4254-40A2-88D4-71359746150C}"/>
              </a:ext>
            </a:extLst>
          </p:cNvPr>
          <p:cNvSpPr>
            <a:spLocks xmlns:a="http://schemas.openxmlformats.org/drawingml/2006/main" noGrp="1"/>
          </p:cNvSpPr>
          <p:nvPr/>
        </p:nvSpPr>
        <p:spPr>
          <a:xfrm xmlns:a="http://schemas.openxmlformats.org/drawingml/2006/main">
            <a:off x="457200" y="371475"/>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VERIFICATION</a:t>
            </a:r>
          </a:p>
        </p:txBody>
      </p:sp>
      <p:sp>
        <p:nvSpPr>
          <p:cNvPr id="3" name="">
            <a:extLst xmlns:a="http://schemas.openxmlformats.org/drawingml/2006/main">
              <a:ext uri="{FF2B5EF4-FFF2-40B4-BE49-F238E27FC236}">
                <a16:creationId xmlns:a16="http://schemas.microsoft.com/office/drawing/2014/main" id="{EB567AD0-6289-40A7-B085-A15FF7E3D818}"/>
              </a:ext>
            </a:extLst>
          </p:cNvPr>
          <p:cNvSpPr>
            <a:spLocks xmlns:a="http://schemas.openxmlformats.org/drawingml/2006/main" noGrp="1"/>
          </p:cNvSpPr>
          <p:nvPr/>
        </p:nvSpPr>
        <p:spPr>
          <a:xfrm xmlns:a="http://schemas.openxmlformats.org/drawingml/2006/main">
            <a:off x="457200" y="72390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7212B"/>
                </a:solidFill>
              </a:defRPr>
            </a:pPr>
            <a:r>
              <a:rPr sz="3000" b="1" i="0">
                <a:solidFill>
                  <a:srgbClr val="17212B"/>
                </a:solidFill>
              </a:rPr>
              <a:t>Manual verification closed every security gap</a:t>
            </a:r>
          </a:p>
        </p:txBody>
      </p:sp>
      <p:sp>
        <p:nvSpPr>
          <p:cNvPr id="4" name="">
            <a:extLst xmlns:a="http://schemas.openxmlformats.org/drawingml/2006/main">
              <a:ext uri="{FF2B5EF4-FFF2-40B4-BE49-F238E27FC236}">
                <a16:creationId xmlns:a16="http://schemas.microsoft.com/office/drawing/2014/main" id="{0F1DF028-6CEB-4497-847C-FB6CF3C26321}"/>
              </a:ext>
            </a:extLst>
          </p:cNvPr>
          <p:cNvSpPr>
            <a:spLocks xmlns:a="http://schemas.openxmlformats.org/drawingml/2006/main" noGrp="1"/>
          </p:cNvSpPr>
          <p:nvPr/>
        </p:nvSpPr>
        <p:spPr>
          <a:xfrm xmlns:a="http://schemas.openxmlformats.org/drawingml/2006/main">
            <a:off x="1127760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i="0">
                <a:solidFill>
                  <a:srgbClr val="5B6573"/>
                </a:solidFill>
              </a:defRPr>
            </a:pPr>
            <a:r>
              <a:rPr sz="1050" b="0" i="0">
                <a:solidFill>
                  <a:srgbClr val="5B6573"/>
                </a:solidFill>
              </a:rPr>
              <a:t>12</a:t>
            </a:r>
          </a:p>
        </p:txBody>
      </p:sp>
      <p:sp>
        <p:nvSpPr>
          <p:cNvPr id="5" name="">
            <a:extLst xmlns:a="http://schemas.openxmlformats.org/drawingml/2006/main">
              <a:ext uri="{FF2B5EF4-FFF2-40B4-BE49-F238E27FC236}">
                <a16:creationId xmlns:a16="http://schemas.microsoft.com/office/drawing/2014/main" id="{698162C3-CD45-4809-8287-11C180EC997F}"/>
              </a:ext>
            </a:extLst>
          </p:cNvPr>
          <p:cNvSpPr>
            <a:spLocks xmlns:a="http://schemas.openxmlformats.org/drawingml/2006/main" noGrp="1"/>
          </p:cNvSpPr>
          <p:nvPr/>
        </p:nvSpPr>
        <p:spPr>
          <a:xfrm xmlns:a="http://schemas.openxmlformats.org/drawingml/2006/main">
            <a:off x="514350" y="1581150"/>
            <a:ext cx="10744200" cy="400050"/>
          </a:xfrm>
          <a:prstGeom xmlns:a="http://schemas.openxmlformats.org/drawingml/2006/main" prst="rect">
            <a:avLst/>
          </a:prstGeom>
          <a:solidFill xmlns:a="http://schemas.openxmlformats.org/drawingml/2006/main">
            <a:srgbClr val="0F5F49"/>
          </a:solidFill>
          <a:ln xmlns:a="http://schemas.openxmlformats.org/drawingml/2006/main" w="0">
            <a:solidFill>
              <a:srgbClr val="0F5F49"/>
            </a:solidFill>
            <a:prstDash val="solid"/>
          </a:ln>
        </p:spPr>
      </p:sp>
      <p:sp>
        <p:nvSpPr>
          <p:cNvPr id="6" name="">
            <a:extLst xmlns:a="http://schemas.openxmlformats.org/drawingml/2006/main">
              <a:ext uri="{FF2B5EF4-FFF2-40B4-BE49-F238E27FC236}">
                <a16:creationId xmlns:a16="http://schemas.microsoft.com/office/drawing/2014/main" id="{3966A2EA-8181-4BB6-A999-D263464100C4}"/>
              </a:ext>
            </a:extLst>
          </p:cNvPr>
          <p:cNvSpPr>
            <a:spLocks xmlns:a="http://schemas.openxmlformats.org/drawingml/2006/main" noGrp="1"/>
          </p:cNvSpPr>
          <p:nvPr/>
        </p:nvSpPr>
        <p:spPr>
          <a:xfrm xmlns:a="http://schemas.openxmlformats.org/drawingml/2006/main">
            <a:off x="685800" y="16764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FFFFFF"/>
                </a:solidFill>
              </a:defRPr>
            </a:pPr>
            <a:r>
              <a:rPr sz="1275" b="1" i="0">
                <a:solidFill>
                  <a:srgbClr val="FFFFFF"/>
                </a:solidFill>
              </a:rPr>
              <a:t>Verification item</a:t>
            </a:r>
          </a:p>
        </p:txBody>
      </p:sp>
      <p:sp>
        <p:nvSpPr>
          <p:cNvPr id="7" name="">
            <a:extLst xmlns:a="http://schemas.openxmlformats.org/drawingml/2006/main">
              <a:ext uri="{FF2B5EF4-FFF2-40B4-BE49-F238E27FC236}">
                <a16:creationId xmlns:a16="http://schemas.microsoft.com/office/drawing/2014/main" id="{A244D63B-C348-4BD0-987C-BF0D5D177D8F}"/>
              </a:ext>
            </a:extLst>
          </p:cNvPr>
          <p:cNvSpPr>
            <a:spLocks xmlns:a="http://schemas.openxmlformats.org/drawingml/2006/main" noGrp="1"/>
          </p:cNvSpPr>
          <p:nvPr/>
        </p:nvSpPr>
        <p:spPr>
          <a:xfrm xmlns:a="http://schemas.openxmlformats.org/drawingml/2006/main">
            <a:off x="4038600" y="16764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FFFFFF"/>
                </a:solidFill>
              </a:defRPr>
            </a:pPr>
            <a:r>
              <a:rPr sz="1275" b="1" i="0">
                <a:solidFill>
                  <a:srgbClr val="FFFFFF"/>
                </a:solidFill>
              </a:rPr>
              <a:t>Status</a:t>
            </a:r>
          </a:p>
        </p:txBody>
      </p:sp>
      <p:sp>
        <p:nvSpPr>
          <p:cNvPr id="8" name="">
            <a:extLst xmlns:a="http://schemas.openxmlformats.org/drawingml/2006/main">
              <a:ext uri="{FF2B5EF4-FFF2-40B4-BE49-F238E27FC236}">
                <a16:creationId xmlns:a16="http://schemas.microsoft.com/office/drawing/2014/main" id="{8C909FBE-4C84-424A-832B-F15CB7801D7B}"/>
              </a:ext>
            </a:extLst>
          </p:cNvPr>
          <p:cNvSpPr>
            <a:spLocks xmlns:a="http://schemas.openxmlformats.org/drawingml/2006/main" noGrp="1"/>
          </p:cNvSpPr>
          <p:nvPr/>
        </p:nvSpPr>
        <p:spPr>
          <a:xfrm xmlns:a="http://schemas.openxmlformats.org/drawingml/2006/main">
            <a:off x="6000750" y="16764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FFFFFF"/>
                </a:solidFill>
              </a:defRPr>
            </a:pPr>
            <a:r>
              <a:rPr sz="1275" b="1" i="0">
                <a:solidFill>
                  <a:srgbClr val="FFFFFF"/>
                </a:solidFill>
              </a:rPr>
              <a:t>Observed result</a:t>
            </a:r>
          </a:p>
        </p:txBody>
      </p:sp>
      <p:sp>
        <p:nvSpPr>
          <p:cNvPr id="9" name="">
            <a:extLst xmlns:a="http://schemas.openxmlformats.org/drawingml/2006/main">
              <a:ext uri="{FF2B5EF4-FFF2-40B4-BE49-F238E27FC236}">
                <a16:creationId xmlns:a16="http://schemas.microsoft.com/office/drawing/2014/main" id="{DE384DD2-CF79-469B-9CD9-BE686F98024C}"/>
              </a:ext>
            </a:extLst>
          </p:cNvPr>
          <p:cNvSpPr>
            <a:spLocks xmlns:a="http://schemas.openxmlformats.org/drawingml/2006/main" noGrp="1"/>
          </p:cNvSpPr>
          <p:nvPr/>
        </p:nvSpPr>
        <p:spPr>
          <a:xfrm xmlns:a="http://schemas.openxmlformats.org/drawingml/2006/main">
            <a:off x="514350" y="1981200"/>
            <a:ext cx="107442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C2CC"/>
            </a:solidFill>
            <a:prstDash val="solid"/>
          </a:ln>
        </p:spPr>
      </p:sp>
      <p:sp>
        <p:nvSpPr>
          <p:cNvPr id="10" name="">
            <a:extLst xmlns:a="http://schemas.openxmlformats.org/drawingml/2006/main">
              <a:ext uri="{FF2B5EF4-FFF2-40B4-BE49-F238E27FC236}">
                <a16:creationId xmlns:a16="http://schemas.microsoft.com/office/drawing/2014/main" id="{510DD0DD-F722-40F1-9793-15D59F6B1150}"/>
              </a:ext>
            </a:extLst>
          </p:cNvPr>
          <p:cNvSpPr>
            <a:spLocks xmlns:a="http://schemas.openxmlformats.org/drawingml/2006/main" noGrp="1"/>
          </p:cNvSpPr>
          <p:nvPr/>
        </p:nvSpPr>
        <p:spPr>
          <a:xfrm xmlns:a="http://schemas.openxmlformats.org/drawingml/2006/main">
            <a:off x="685800" y="21145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7212B"/>
                </a:solidFill>
              </a:defRPr>
            </a:pPr>
            <a:r>
              <a:rPr sz="1275" b="1" i="0">
                <a:solidFill>
                  <a:srgbClr val="17212B"/>
                </a:solidFill>
              </a:rPr>
              <a:t>Registration + OTP</a:t>
            </a:r>
          </a:p>
        </p:txBody>
      </p:sp>
      <p:sp>
        <p:nvSpPr>
          <p:cNvPr id="11" name="">
            <a:extLst xmlns:a="http://schemas.openxmlformats.org/drawingml/2006/main">
              <a:ext uri="{FF2B5EF4-FFF2-40B4-BE49-F238E27FC236}">
                <a16:creationId xmlns:a16="http://schemas.microsoft.com/office/drawing/2014/main" id="{BC1B3581-DE20-4333-BFF3-77EE5469226F}"/>
              </a:ext>
            </a:extLst>
          </p:cNvPr>
          <p:cNvSpPr>
            <a:spLocks xmlns:a="http://schemas.openxmlformats.org/drawingml/2006/main" noGrp="1"/>
          </p:cNvSpPr>
          <p:nvPr/>
        </p:nvSpPr>
        <p:spPr>
          <a:xfrm xmlns:a="http://schemas.openxmlformats.org/drawingml/2006/main">
            <a:off x="4038600" y="2114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16785B"/>
                </a:solidFill>
              </a:defRPr>
            </a:pPr>
            <a:r>
              <a:rPr sz="1200" b="1" i="0">
                <a:solidFill>
                  <a:srgbClr val="16785B"/>
                </a:solidFill>
              </a:rPr>
              <a:t>VERIFIED</a:t>
            </a:r>
          </a:p>
        </p:txBody>
      </p:sp>
      <p:sp>
        <p:nvSpPr>
          <p:cNvPr id="12" name="">
            <a:extLst xmlns:a="http://schemas.openxmlformats.org/drawingml/2006/main">
              <a:ext uri="{FF2B5EF4-FFF2-40B4-BE49-F238E27FC236}">
                <a16:creationId xmlns:a16="http://schemas.microsoft.com/office/drawing/2014/main" id="{BC46507A-E68D-4A3D-8190-13F7C9667B11}"/>
              </a:ext>
            </a:extLst>
          </p:cNvPr>
          <p:cNvSpPr>
            <a:spLocks xmlns:a="http://schemas.openxmlformats.org/drawingml/2006/main" noGrp="1"/>
          </p:cNvSpPr>
          <p:nvPr/>
        </p:nvSpPr>
        <p:spPr>
          <a:xfrm xmlns:a="http://schemas.openxmlformats.org/drawingml/2006/main">
            <a:off x="6000750" y="21145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17212B"/>
                </a:solidFill>
              </a:defRPr>
            </a:pPr>
            <a:r>
              <a:rPr sz="1200" b="0" i="0">
                <a:solidFill>
                  <a:srgbClr val="17212B"/>
                </a:solidFill>
              </a:rPr>
              <a:t>Account created after correct code</a:t>
            </a:r>
          </a:p>
        </p:txBody>
      </p:sp>
      <p:sp>
        <p:nvSpPr>
          <p:cNvPr id="13" name="">
            <a:extLst xmlns:a="http://schemas.openxmlformats.org/drawingml/2006/main">
              <a:ext uri="{FF2B5EF4-FFF2-40B4-BE49-F238E27FC236}">
                <a16:creationId xmlns:a16="http://schemas.microsoft.com/office/drawing/2014/main" id="{1831B585-5CA9-4702-AD9F-59809B7CDD20}"/>
              </a:ext>
            </a:extLst>
          </p:cNvPr>
          <p:cNvSpPr>
            <a:spLocks xmlns:a="http://schemas.openxmlformats.org/drawingml/2006/main" noGrp="1"/>
          </p:cNvSpPr>
          <p:nvPr/>
        </p:nvSpPr>
        <p:spPr>
          <a:xfrm xmlns:a="http://schemas.openxmlformats.org/drawingml/2006/main">
            <a:off x="514350" y="2476500"/>
            <a:ext cx="10744200" cy="495300"/>
          </a:xfrm>
          <a:prstGeom xmlns:a="http://schemas.openxmlformats.org/drawingml/2006/main" prst="rect">
            <a:avLst/>
          </a:prstGeom>
          <a:solidFill xmlns:a="http://schemas.openxmlformats.org/drawingml/2006/main">
            <a:srgbClr val="EEF1F3"/>
          </a:solidFill>
          <a:ln xmlns:a="http://schemas.openxmlformats.org/drawingml/2006/main" w="9525">
            <a:solidFill>
              <a:srgbClr val="B8C2CC"/>
            </a:solidFill>
            <a:prstDash val="solid"/>
          </a:ln>
        </p:spPr>
      </p:sp>
      <p:sp>
        <p:nvSpPr>
          <p:cNvPr id="14" name="">
            <a:extLst xmlns:a="http://schemas.openxmlformats.org/drawingml/2006/main">
              <a:ext uri="{FF2B5EF4-FFF2-40B4-BE49-F238E27FC236}">
                <a16:creationId xmlns:a16="http://schemas.microsoft.com/office/drawing/2014/main" id="{A02A46CC-2E9E-47D4-952A-FD0A3D9D8BBE}"/>
              </a:ext>
            </a:extLst>
          </p:cNvPr>
          <p:cNvSpPr>
            <a:spLocks xmlns:a="http://schemas.openxmlformats.org/drawingml/2006/main" noGrp="1"/>
          </p:cNvSpPr>
          <p:nvPr/>
        </p:nvSpPr>
        <p:spPr>
          <a:xfrm xmlns:a="http://schemas.openxmlformats.org/drawingml/2006/main">
            <a:off x="685800" y="26098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7212B"/>
                </a:solidFill>
              </a:defRPr>
            </a:pPr>
            <a:r>
              <a:rPr sz="1275" b="1" i="0">
                <a:solidFill>
                  <a:srgbClr val="17212B"/>
                </a:solidFill>
              </a:rPr>
              <a:t>Resend + replay</a:t>
            </a:r>
          </a:p>
        </p:txBody>
      </p:sp>
      <p:sp>
        <p:nvSpPr>
          <p:cNvPr id="15" name="">
            <a:extLst xmlns:a="http://schemas.openxmlformats.org/drawingml/2006/main">
              <a:ext uri="{FF2B5EF4-FFF2-40B4-BE49-F238E27FC236}">
                <a16:creationId xmlns:a16="http://schemas.microsoft.com/office/drawing/2014/main" id="{E6E6A114-FA68-4E45-90B6-D3DCFC606CCF}"/>
              </a:ext>
            </a:extLst>
          </p:cNvPr>
          <p:cNvSpPr>
            <a:spLocks xmlns:a="http://schemas.openxmlformats.org/drawingml/2006/main" noGrp="1"/>
          </p:cNvSpPr>
          <p:nvPr/>
        </p:nvSpPr>
        <p:spPr>
          <a:xfrm xmlns:a="http://schemas.openxmlformats.org/drawingml/2006/main">
            <a:off x="4038600" y="26098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16785B"/>
                </a:solidFill>
              </a:defRPr>
            </a:pPr>
            <a:r>
              <a:rPr sz="1200" b="1" i="0">
                <a:solidFill>
                  <a:srgbClr val="16785B"/>
                </a:solidFill>
              </a:rPr>
              <a:t>VERIFIED</a:t>
            </a:r>
          </a:p>
        </p:txBody>
      </p:sp>
      <p:sp>
        <p:nvSpPr>
          <p:cNvPr id="16" name="">
            <a:extLst xmlns:a="http://schemas.openxmlformats.org/drawingml/2006/main">
              <a:ext uri="{FF2B5EF4-FFF2-40B4-BE49-F238E27FC236}">
                <a16:creationId xmlns:a16="http://schemas.microsoft.com/office/drawing/2014/main" id="{7EB30AAB-28B8-4D4E-BBC2-8A8FA900194B}"/>
              </a:ext>
            </a:extLst>
          </p:cNvPr>
          <p:cNvSpPr>
            <a:spLocks xmlns:a="http://schemas.openxmlformats.org/drawingml/2006/main" noGrp="1"/>
          </p:cNvSpPr>
          <p:nvPr/>
        </p:nvSpPr>
        <p:spPr>
          <a:xfrm xmlns:a="http://schemas.openxmlformats.org/drawingml/2006/main">
            <a:off x="6000750" y="26098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17212B"/>
                </a:solidFill>
              </a:defRPr>
            </a:pPr>
            <a:r>
              <a:rPr sz="1200" b="0" i="0">
                <a:solidFill>
                  <a:srgbClr val="17212B"/>
                </a:solidFill>
              </a:rPr>
              <a:t>Older code rejected; replacement accepted</a:t>
            </a:r>
          </a:p>
        </p:txBody>
      </p:sp>
      <p:sp>
        <p:nvSpPr>
          <p:cNvPr id="17" name="">
            <a:extLst xmlns:a="http://schemas.openxmlformats.org/drawingml/2006/main">
              <a:ext uri="{FF2B5EF4-FFF2-40B4-BE49-F238E27FC236}">
                <a16:creationId xmlns:a16="http://schemas.microsoft.com/office/drawing/2014/main" id="{9EAF817E-67CB-4F64-A1DB-D8C7CC87411A}"/>
              </a:ext>
            </a:extLst>
          </p:cNvPr>
          <p:cNvSpPr>
            <a:spLocks xmlns:a="http://schemas.openxmlformats.org/drawingml/2006/main" noGrp="1"/>
          </p:cNvSpPr>
          <p:nvPr/>
        </p:nvSpPr>
        <p:spPr>
          <a:xfrm xmlns:a="http://schemas.openxmlformats.org/drawingml/2006/main">
            <a:off x="514350" y="2971800"/>
            <a:ext cx="107442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C2CC"/>
            </a:solidFill>
            <a:prstDash val="solid"/>
          </a:ln>
        </p:spPr>
      </p:sp>
      <p:sp>
        <p:nvSpPr>
          <p:cNvPr id="18" name="">
            <a:extLst xmlns:a="http://schemas.openxmlformats.org/drawingml/2006/main">
              <a:ext uri="{FF2B5EF4-FFF2-40B4-BE49-F238E27FC236}">
                <a16:creationId xmlns:a16="http://schemas.microsoft.com/office/drawing/2014/main" id="{91375B98-A7A1-46A3-A95A-6846DC63C0C5}"/>
              </a:ext>
            </a:extLst>
          </p:cNvPr>
          <p:cNvSpPr>
            <a:spLocks xmlns:a="http://schemas.openxmlformats.org/drawingml/2006/main" noGrp="1"/>
          </p:cNvSpPr>
          <p:nvPr/>
        </p:nvSpPr>
        <p:spPr>
          <a:xfrm xmlns:a="http://schemas.openxmlformats.org/drawingml/2006/main">
            <a:off x="685800" y="31051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7212B"/>
                </a:solidFill>
              </a:defRPr>
            </a:pPr>
            <a:r>
              <a:rPr sz="1275" b="1" i="0">
                <a:solidFill>
                  <a:srgbClr val="17212B"/>
                </a:solidFill>
              </a:rPr>
              <a:t>Email password reset</a:t>
            </a:r>
          </a:p>
        </p:txBody>
      </p:sp>
      <p:sp>
        <p:nvSpPr>
          <p:cNvPr id="19" name="">
            <a:extLst xmlns:a="http://schemas.openxmlformats.org/drawingml/2006/main">
              <a:ext uri="{FF2B5EF4-FFF2-40B4-BE49-F238E27FC236}">
                <a16:creationId xmlns:a16="http://schemas.microsoft.com/office/drawing/2014/main" id="{B4E83CD6-6941-48BE-B2CD-5921AC7347BC}"/>
              </a:ext>
            </a:extLst>
          </p:cNvPr>
          <p:cNvSpPr>
            <a:spLocks xmlns:a="http://schemas.openxmlformats.org/drawingml/2006/main" noGrp="1"/>
          </p:cNvSpPr>
          <p:nvPr/>
        </p:nvSpPr>
        <p:spPr>
          <a:xfrm xmlns:a="http://schemas.openxmlformats.org/drawingml/2006/main">
            <a:off x="4038600" y="31051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16785B"/>
                </a:solidFill>
              </a:defRPr>
            </a:pPr>
            <a:r>
              <a:rPr sz="1200" b="1" i="0">
                <a:solidFill>
                  <a:srgbClr val="16785B"/>
                </a:solidFill>
              </a:rPr>
              <a:t>VERIFIED</a:t>
            </a:r>
          </a:p>
        </p:txBody>
      </p:sp>
      <p:sp>
        <p:nvSpPr>
          <p:cNvPr id="20" name="">
            <a:extLst xmlns:a="http://schemas.openxmlformats.org/drawingml/2006/main">
              <a:ext uri="{FF2B5EF4-FFF2-40B4-BE49-F238E27FC236}">
                <a16:creationId xmlns:a16="http://schemas.microsoft.com/office/drawing/2014/main" id="{3AE6923C-C746-4E3E-8D1A-CF056D9A2B39}"/>
              </a:ext>
            </a:extLst>
          </p:cNvPr>
          <p:cNvSpPr>
            <a:spLocks xmlns:a="http://schemas.openxmlformats.org/drawingml/2006/main" noGrp="1"/>
          </p:cNvSpPr>
          <p:nvPr/>
        </p:nvSpPr>
        <p:spPr>
          <a:xfrm xmlns:a="http://schemas.openxmlformats.org/drawingml/2006/main">
            <a:off x="6000750" y="31051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17212B"/>
                </a:solidFill>
              </a:defRPr>
            </a:pPr>
            <a:r>
              <a:rPr sz="1200" b="0" i="0">
                <a:solidFill>
                  <a:srgbClr val="17212B"/>
                </a:solidFill>
              </a:rPr>
              <a:t>Old password rejected; new one signed in</a:t>
            </a:r>
          </a:p>
        </p:txBody>
      </p:sp>
      <p:sp>
        <p:nvSpPr>
          <p:cNvPr id="21" name="">
            <a:extLst xmlns:a="http://schemas.openxmlformats.org/drawingml/2006/main">
              <a:ext uri="{FF2B5EF4-FFF2-40B4-BE49-F238E27FC236}">
                <a16:creationId xmlns:a16="http://schemas.microsoft.com/office/drawing/2014/main" id="{62FA92BA-21D6-42B5-ABAE-C22228444EC2}"/>
              </a:ext>
            </a:extLst>
          </p:cNvPr>
          <p:cNvSpPr>
            <a:spLocks xmlns:a="http://schemas.openxmlformats.org/drawingml/2006/main" noGrp="1"/>
          </p:cNvSpPr>
          <p:nvPr/>
        </p:nvSpPr>
        <p:spPr>
          <a:xfrm xmlns:a="http://schemas.openxmlformats.org/drawingml/2006/main">
            <a:off x="514350" y="3467100"/>
            <a:ext cx="10744200" cy="495300"/>
          </a:xfrm>
          <a:prstGeom xmlns:a="http://schemas.openxmlformats.org/drawingml/2006/main" prst="rect">
            <a:avLst/>
          </a:prstGeom>
          <a:solidFill xmlns:a="http://schemas.openxmlformats.org/drawingml/2006/main">
            <a:srgbClr val="EEF1F3"/>
          </a:solidFill>
          <a:ln xmlns:a="http://schemas.openxmlformats.org/drawingml/2006/main" w="9525">
            <a:solidFill>
              <a:srgbClr val="B8C2CC"/>
            </a:solidFill>
            <a:prstDash val="solid"/>
          </a:ln>
        </p:spPr>
      </p:sp>
      <p:sp>
        <p:nvSpPr>
          <p:cNvPr id="22" name="">
            <a:extLst xmlns:a="http://schemas.openxmlformats.org/drawingml/2006/main">
              <a:ext uri="{FF2B5EF4-FFF2-40B4-BE49-F238E27FC236}">
                <a16:creationId xmlns:a16="http://schemas.microsoft.com/office/drawing/2014/main" id="{AFAB10A8-E956-4602-BBAC-F0D835535824}"/>
              </a:ext>
            </a:extLst>
          </p:cNvPr>
          <p:cNvSpPr>
            <a:spLocks xmlns:a="http://schemas.openxmlformats.org/drawingml/2006/main" noGrp="1"/>
          </p:cNvSpPr>
          <p:nvPr/>
        </p:nvSpPr>
        <p:spPr>
          <a:xfrm xmlns:a="http://schemas.openxmlformats.org/drawingml/2006/main">
            <a:off x="685800" y="36004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7212B"/>
                </a:solidFill>
              </a:defRPr>
            </a:pPr>
            <a:r>
              <a:rPr sz="1275" b="1" i="0">
                <a:solidFill>
                  <a:srgbClr val="17212B"/>
                </a:solidFill>
              </a:rPr>
              <a:t>Offline recovery</a:t>
            </a:r>
          </a:p>
        </p:txBody>
      </p:sp>
      <p:sp>
        <p:nvSpPr>
          <p:cNvPr id="23" name="">
            <a:extLst xmlns:a="http://schemas.openxmlformats.org/drawingml/2006/main">
              <a:ext uri="{FF2B5EF4-FFF2-40B4-BE49-F238E27FC236}">
                <a16:creationId xmlns:a16="http://schemas.microsoft.com/office/drawing/2014/main" id="{AA4D7D50-4D32-4E49-AFBC-3F36D4B8DE97}"/>
              </a:ext>
            </a:extLst>
          </p:cNvPr>
          <p:cNvSpPr>
            <a:spLocks xmlns:a="http://schemas.openxmlformats.org/drawingml/2006/main" noGrp="1"/>
          </p:cNvSpPr>
          <p:nvPr/>
        </p:nvSpPr>
        <p:spPr>
          <a:xfrm xmlns:a="http://schemas.openxmlformats.org/drawingml/2006/main">
            <a:off x="4038600" y="36004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16785B"/>
                </a:solidFill>
              </a:defRPr>
            </a:pPr>
            <a:r>
              <a:rPr sz="1200" b="1" i="0">
                <a:solidFill>
                  <a:srgbClr val="16785B"/>
                </a:solidFill>
              </a:rPr>
              <a:t>VERIFIED</a:t>
            </a:r>
          </a:p>
        </p:txBody>
      </p:sp>
      <p:sp>
        <p:nvSpPr>
          <p:cNvPr id="24" name="">
            <a:extLst xmlns:a="http://schemas.openxmlformats.org/drawingml/2006/main">
              <a:ext uri="{FF2B5EF4-FFF2-40B4-BE49-F238E27FC236}">
                <a16:creationId xmlns:a16="http://schemas.microsoft.com/office/drawing/2014/main" id="{E802449E-FEC2-4FA9-A852-030F37D7121A}"/>
              </a:ext>
            </a:extLst>
          </p:cNvPr>
          <p:cNvSpPr>
            <a:spLocks xmlns:a="http://schemas.openxmlformats.org/drawingml/2006/main" noGrp="1"/>
          </p:cNvSpPr>
          <p:nvPr/>
        </p:nvSpPr>
        <p:spPr>
          <a:xfrm xmlns:a="http://schemas.openxmlformats.org/drawingml/2006/main">
            <a:off x="6000750" y="36004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17212B"/>
                </a:solidFill>
              </a:defRPr>
            </a:pPr>
            <a:r>
              <a:rPr sz="1200" b="0" i="0">
                <a:solidFill>
                  <a:srgbClr val="17212B"/>
                </a:solidFill>
              </a:rPr>
              <a:t>Local protected-answer reset completed</a:t>
            </a:r>
          </a:p>
        </p:txBody>
      </p:sp>
      <p:sp>
        <p:nvSpPr>
          <p:cNvPr id="25" name="">
            <a:extLst xmlns:a="http://schemas.openxmlformats.org/drawingml/2006/main">
              <a:ext uri="{FF2B5EF4-FFF2-40B4-BE49-F238E27FC236}">
                <a16:creationId xmlns:a16="http://schemas.microsoft.com/office/drawing/2014/main" id="{2BC8A4D5-BE30-4019-82B3-7D483AAC36AB}"/>
              </a:ext>
            </a:extLst>
          </p:cNvPr>
          <p:cNvSpPr>
            <a:spLocks xmlns:a="http://schemas.openxmlformats.org/drawingml/2006/main" noGrp="1"/>
          </p:cNvSpPr>
          <p:nvPr/>
        </p:nvSpPr>
        <p:spPr>
          <a:xfrm xmlns:a="http://schemas.openxmlformats.org/drawingml/2006/main">
            <a:off x="514350" y="3962400"/>
            <a:ext cx="107442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C2CC"/>
            </a:solidFill>
            <a:prstDash val="solid"/>
          </a:ln>
        </p:spPr>
      </p:sp>
      <p:sp>
        <p:nvSpPr>
          <p:cNvPr id="26" name="">
            <a:extLst xmlns:a="http://schemas.openxmlformats.org/drawingml/2006/main">
              <a:ext uri="{FF2B5EF4-FFF2-40B4-BE49-F238E27FC236}">
                <a16:creationId xmlns:a16="http://schemas.microsoft.com/office/drawing/2014/main" id="{0DAB14AC-DE6D-46D0-B896-9297E445CF17}"/>
              </a:ext>
            </a:extLst>
          </p:cNvPr>
          <p:cNvSpPr>
            <a:spLocks xmlns:a="http://schemas.openxmlformats.org/drawingml/2006/main" noGrp="1"/>
          </p:cNvSpPr>
          <p:nvPr/>
        </p:nvSpPr>
        <p:spPr>
          <a:xfrm xmlns:a="http://schemas.openxmlformats.org/drawingml/2006/main">
            <a:off x="685800" y="40957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7212B"/>
                </a:solidFill>
              </a:defRPr>
            </a:pPr>
            <a:r>
              <a:rPr sz="1275" b="1" i="0">
                <a:solidFill>
                  <a:srgbClr val="17212B"/>
                </a:solidFill>
              </a:rPr>
              <a:t>Restart persistence</a:t>
            </a:r>
          </a:p>
        </p:txBody>
      </p:sp>
      <p:sp>
        <p:nvSpPr>
          <p:cNvPr id="27" name="">
            <a:extLst xmlns:a="http://schemas.openxmlformats.org/drawingml/2006/main">
              <a:ext uri="{FF2B5EF4-FFF2-40B4-BE49-F238E27FC236}">
                <a16:creationId xmlns:a16="http://schemas.microsoft.com/office/drawing/2014/main" id="{AF425CC1-860E-450E-8727-9475FB3279F4}"/>
              </a:ext>
            </a:extLst>
          </p:cNvPr>
          <p:cNvSpPr>
            <a:spLocks xmlns:a="http://schemas.openxmlformats.org/drawingml/2006/main" noGrp="1"/>
          </p:cNvSpPr>
          <p:nvPr/>
        </p:nvSpPr>
        <p:spPr>
          <a:xfrm xmlns:a="http://schemas.openxmlformats.org/drawingml/2006/main">
            <a:off x="4038600" y="40957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16785B"/>
                </a:solidFill>
              </a:defRPr>
            </a:pPr>
            <a:r>
              <a:rPr sz="1200" b="1" i="0">
                <a:solidFill>
                  <a:srgbClr val="16785B"/>
                </a:solidFill>
              </a:rPr>
              <a:t>VERIFIED</a:t>
            </a:r>
          </a:p>
        </p:txBody>
      </p:sp>
      <p:sp>
        <p:nvSpPr>
          <p:cNvPr id="28" name="">
            <a:extLst xmlns:a="http://schemas.openxmlformats.org/drawingml/2006/main">
              <a:ext uri="{FF2B5EF4-FFF2-40B4-BE49-F238E27FC236}">
                <a16:creationId xmlns:a16="http://schemas.microsoft.com/office/drawing/2014/main" id="{A9DB764D-0D03-4B25-BC95-5BDFAFF53058}"/>
              </a:ext>
            </a:extLst>
          </p:cNvPr>
          <p:cNvSpPr>
            <a:spLocks xmlns:a="http://schemas.openxmlformats.org/drawingml/2006/main" noGrp="1"/>
          </p:cNvSpPr>
          <p:nvPr/>
        </p:nvSpPr>
        <p:spPr>
          <a:xfrm xmlns:a="http://schemas.openxmlformats.org/drawingml/2006/main">
            <a:off x="6000750" y="40957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17212B"/>
                </a:solidFill>
              </a:defRPr>
            </a:pPr>
            <a:r>
              <a:rPr sz="1200" b="0" i="0">
                <a:solidFill>
                  <a:srgbClr val="17212B"/>
                </a:solidFill>
              </a:rPr>
              <a:t>Authenticated dashboard restored</a:t>
            </a:r>
          </a:p>
        </p:txBody>
      </p:sp>
      <p:sp>
        <p:nvSpPr>
          <p:cNvPr id="29" name="">
            <a:extLst xmlns:a="http://schemas.openxmlformats.org/drawingml/2006/main">
              <a:ext uri="{FF2B5EF4-FFF2-40B4-BE49-F238E27FC236}">
                <a16:creationId xmlns:a16="http://schemas.microsoft.com/office/drawing/2014/main" id="{C7C14F5F-4BE7-4E32-B778-34AC02D142A1}"/>
              </a:ext>
            </a:extLst>
          </p:cNvPr>
          <p:cNvSpPr>
            <a:spLocks xmlns:a="http://schemas.openxmlformats.org/drawingml/2006/main" noGrp="1"/>
          </p:cNvSpPr>
          <p:nvPr/>
        </p:nvSpPr>
        <p:spPr>
          <a:xfrm xmlns:a="http://schemas.openxmlformats.org/drawingml/2006/main">
            <a:off x="514350" y="4457700"/>
            <a:ext cx="10744200" cy="495300"/>
          </a:xfrm>
          <a:prstGeom xmlns:a="http://schemas.openxmlformats.org/drawingml/2006/main" prst="rect">
            <a:avLst/>
          </a:prstGeom>
          <a:solidFill xmlns:a="http://schemas.openxmlformats.org/drawingml/2006/main">
            <a:srgbClr val="EEF1F3"/>
          </a:solidFill>
          <a:ln xmlns:a="http://schemas.openxmlformats.org/drawingml/2006/main" w="9525">
            <a:solidFill>
              <a:srgbClr val="B8C2CC"/>
            </a:solidFill>
            <a:prstDash val="solid"/>
          </a:ln>
        </p:spPr>
      </p:sp>
      <p:sp>
        <p:nvSpPr>
          <p:cNvPr id="30" name="">
            <a:extLst xmlns:a="http://schemas.openxmlformats.org/drawingml/2006/main">
              <a:ext uri="{FF2B5EF4-FFF2-40B4-BE49-F238E27FC236}">
                <a16:creationId xmlns:a16="http://schemas.microsoft.com/office/drawing/2014/main" id="{8FBDE743-FDCC-4614-8FC3-CBBB76A518BA}"/>
              </a:ext>
            </a:extLst>
          </p:cNvPr>
          <p:cNvSpPr>
            <a:spLocks xmlns:a="http://schemas.openxmlformats.org/drawingml/2006/main" noGrp="1"/>
          </p:cNvSpPr>
          <p:nvPr/>
        </p:nvSpPr>
        <p:spPr>
          <a:xfrm xmlns:a="http://schemas.openxmlformats.org/drawingml/2006/main">
            <a:off x="685800" y="45910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7212B"/>
                </a:solidFill>
              </a:defRPr>
            </a:pPr>
            <a:r>
              <a:rPr sz="1275" b="1" i="0">
                <a:solidFill>
                  <a:srgbClr val="17212B"/>
                </a:solidFill>
              </a:rPr>
              <a:t>Two-user isolation</a:t>
            </a:r>
          </a:p>
        </p:txBody>
      </p:sp>
      <p:sp>
        <p:nvSpPr>
          <p:cNvPr id="31" name="">
            <a:extLst xmlns:a="http://schemas.openxmlformats.org/drawingml/2006/main">
              <a:ext uri="{FF2B5EF4-FFF2-40B4-BE49-F238E27FC236}">
                <a16:creationId xmlns:a16="http://schemas.microsoft.com/office/drawing/2014/main" id="{DEB8C898-F46B-49D9-A4CA-22CDBD6A7D62}"/>
              </a:ext>
            </a:extLst>
          </p:cNvPr>
          <p:cNvSpPr>
            <a:spLocks xmlns:a="http://schemas.openxmlformats.org/drawingml/2006/main" noGrp="1"/>
          </p:cNvSpPr>
          <p:nvPr/>
        </p:nvSpPr>
        <p:spPr>
          <a:xfrm xmlns:a="http://schemas.openxmlformats.org/drawingml/2006/main">
            <a:off x="4038600" y="45910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16785B"/>
                </a:solidFill>
              </a:defRPr>
            </a:pPr>
            <a:r>
              <a:rPr sz="1200" b="1" i="0">
                <a:solidFill>
                  <a:srgbClr val="16785B"/>
                </a:solidFill>
              </a:rPr>
              <a:t>VERIFIED</a:t>
            </a:r>
          </a:p>
        </p:txBody>
      </p:sp>
      <p:sp>
        <p:nvSpPr>
          <p:cNvPr id="32" name="">
            <a:extLst xmlns:a="http://schemas.openxmlformats.org/drawingml/2006/main">
              <a:ext uri="{FF2B5EF4-FFF2-40B4-BE49-F238E27FC236}">
                <a16:creationId xmlns:a16="http://schemas.microsoft.com/office/drawing/2014/main" id="{4E2D0082-39E6-4082-A1D5-012F75B1FCA6}"/>
              </a:ext>
            </a:extLst>
          </p:cNvPr>
          <p:cNvSpPr>
            <a:spLocks xmlns:a="http://schemas.openxmlformats.org/drawingml/2006/main" noGrp="1"/>
          </p:cNvSpPr>
          <p:nvPr/>
        </p:nvSpPr>
        <p:spPr>
          <a:xfrm xmlns:a="http://schemas.openxmlformats.org/drawingml/2006/main">
            <a:off x="6000750" y="45910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17212B"/>
                </a:solidFill>
              </a:defRPr>
            </a:pPr>
            <a:r>
              <a:rPr sz="1200" b="0" i="0">
                <a:solidFill>
                  <a:srgbClr val="17212B"/>
                </a:solidFill>
              </a:rPr>
              <a:t>Unique records stayed in their workspace</a:t>
            </a:r>
          </a:p>
        </p:txBody>
      </p:sp>
      <p:sp>
        <p:nvSpPr>
          <p:cNvPr id="33" name="">
            <a:extLst xmlns:a="http://schemas.openxmlformats.org/drawingml/2006/main">
              <a:ext uri="{FF2B5EF4-FFF2-40B4-BE49-F238E27FC236}">
                <a16:creationId xmlns:a16="http://schemas.microsoft.com/office/drawing/2014/main" id="{CD8C5168-CF15-4FBC-9BF9-04C54C6B21E1}"/>
              </a:ext>
            </a:extLst>
          </p:cNvPr>
          <p:cNvSpPr>
            <a:spLocks xmlns:a="http://schemas.openxmlformats.org/drawingml/2006/main" noGrp="1"/>
          </p:cNvSpPr>
          <p:nvPr/>
        </p:nvSpPr>
        <p:spPr>
          <a:xfrm xmlns:a="http://schemas.openxmlformats.org/drawingml/2006/main">
            <a:off x="514350" y="4953000"/>
            <a:ext cx="107442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C2CC"/>
            </a:solidFill>
            <a:prstDash val="solid"/>
          </a:ln>
        </p:spPr>
      </p:sp>
      <p:sp>
        <p:nvSpPr>
          <p:cNvPr id="34" name="">
            <a:extLst xmlns:a="http://schemas.openxmlformats.org/drawingml/2006/main">
              <a:ext uri="{FF2B5EF4-FFF2-40B4-BE49-F238E27FC236}">
                <a16:creationId xmlns:a16="http://schemas.microsoft.com/office/drawing/2014/main" id="{BF9497B3-07EB-4F76-8CD9-AEB1AA163B82}"/>
              </a:ext>
            </a:extLst>
          </p:cNvPr>
          <p:cNvSpPr>
            <a:spLocks xmlns:a="http://schemas.openxmlformats.org/drawingml/2006/main" noGrp="1"/>
          </p:cNvSpPr>
          <p:nvPr/>
        </p:nvSpPr>
        <p:spPr>
          <a:xfrm xmlns:a="http://schemas.openxmlformats.org/drawingml/2006/main">
            <a:off x="685800" y="50863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7212B"/>
                </a:solidFill>
              </a:defRPr>
            </a:pPr>
            <a:r>
              <a:rPr sz="1275" b="1" i="0">
                <a:solidFill>
                  <a:srgbClr val="17212B"/>
                </a:solidFill>
              </a:rPr>
              <a:t>Exclusive lock</a:t>
            </a:r>
          </a:p>
        </p:txBody>
      </p:sp>
      <p:sp>
        <p:nvSpPr>
          <p:cNvPr id="35" name="">
            <a:extLst xmlns:a="http://schemas.openxmlformats.org/drawingml/2006/main">
              <a:ext uri="{FF2B5EF4-FFF2-40B4-BE49-F238E27FC236}">
                <a16:creationId xmlns:a16="http://schemas.microsoft.com/office/drawing/2014/main" id="{A508EC11-BB9D-4A97-8FB6-E9365F3BBAF5}"/>
              </a:ext>
            </a:extLst>
          </p:cNvPr>
          <p:cNvSpPr>
            <a:spLocks xmlns:a="http://schemas.openxmlformats.org/drawingml/2006/main" noGrp="1"/>
          </p:cNvSpPr>
          <p:nvPr/>
        </p:nvSpPr>
        <p:spPr>
          <a:xfrm xmlns:a="http://schemas.openxmlformats.org/drawingml/2006/main">
            <a:off x="4038600" y="50863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16785B"/>
                </a:solidFill>
              </a:defRPr>
            </a:pPr>
            <a:r>
              <a:rPr sz="1200" b="1" i="0">
                <a:solidFill>
                  <a:srgbClr val="16785B"/>
                </a:solidFill>
              </a:rPr>
              <a:t>VERIFIED</a:t>
            </a:r>
          </a:p>
        </p:txBody>
      </p:sp>
      <p:sp>
        <p:nvSpPr>
          <p:cNvPr id="36" name="">
            <a:extLst xmlns:a="http://schemas.openxmlformats.org/drawingml/2006/main">
              <a:ext uri="{FF2B5EF4-FFF2-40B4-BE49-F238E27FC236}">
                <a16:creationId xmlns:a16="http://schemas.microsoft.com/office/drawing/2014/main" id="{98773FEA-51CE-4AA7-AC45-C2268EF598C7}"/>
              </a:ext>
            </a:extLst>
          </p:cNvPr>
          <p:cNvSpPr>
            <a:spLocks xmlns:a="http://schemas.openxmlformats.org/drawingml/2006/main" noGrp="1"/>
          </p:cNvSpPr>
          <p:nvPr/>
        </p:nvSpPr>
        <p:spPr>
          <a:xfrm xmlns:a="http://schemas.openxmlformats.org/drawingml/2006/main">
            <a:off x="6000750" y="5086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17212B"/>
                </a:solidFill>
              </a:defRPr>
            </a:pPr>
            <a:r>
              <a:rPr sz="1200" b="0" i="0">
                <a:solidFill>
                  <a:srgbClr val="17212B"/>
                </a:solidFill>
              </a:rPr>
              <a:t>Second-process warning observed</a:t>
            </a:r>
          </a:p>
        </p:txBody>
      </p:sp>
      <p:sp>
        <p:nvSpPr>
          <p:cNvPr id="37" name="">
            <a:extLst xmlns:a="http://schemas.openxmlformats.org/drawingml/2006/main">
              <a:ext uri="{FF2B5EF4-FFF2-40B4-BE49-F238E27FC236}">
                <a16:creationId xmlns:a16="http://schemas.microsoft.com/office/drawing/2014/main" id="{0D0D5C05-9FAB-41FB-BF12-4E3D67BBD82B}"/>
              </a:ext>
            </a:extLst>
          </p:cNvPr>
          <p:cNvSpPr>
            <a:spLocks xmlns:a="http://schemas.openxmlformats.org/drawingml/2006/main" noGrp="1"/>
          </p:cNvSpPr>
          <p:nvPr/>
        </p:nvSpPr>
        <p:spPr>
          <a:xfrm xmlns:a="http://schemas.openxmlformats.org/drawingml/2006/main">
            <a:off x="514350" y="5448300"/>
            <a:ext cx="10744200" cy="495300"/>
          </a:xfrm>
          <a:prstGeom xmlns:a="http://schemas.openxmlformats.org/drawingml/2006/main" prst="rect">
            <a:avLst/>
          </a:prstGeom>
          <a:solidFill xmlns:a="http://schemas.openxmlformats.org/drawingml/2006/main">
            <a:srgbClr val="EEF1F3"/>
          </a:solidFill>
          <a:ln xmlns:a="http://schemas.openxmlformats.org/drawingml/2006/main" w="9525">
            <a:solidFill>
              <a:srgbClr val="B8C2CC"/>
            </a:solidFill>
            <a:prstDash val="solid"/>
          </a:ln>
        </p:spPr>
      </p:sp>
      <p:sp>
        <p:nvSpPr>
          <p:cNvPr id="38" name="">
            <a:extLst xmlns:a="http://schemas.openxmlformats.org/drawingml/2006/main">
              <a:ext uri="{FF2B5EF4-FFF2-40B4-BE49-F238E27FC236}">
                <a16:creationId xmlns:a16="http://schemas.microsoft.com/office/drawing/2014/main" id="{C39C7064-09D3-4962-B181-3E6ADC2F1F15}"/>
              </a:ext>
            </a:extLst>
          </p:cNvPr>
          <p:cNvSpPr>
            <a:spLocks xmlns:a="http://schemas.openxmlformats.org/drawingml/2006/main" noGrp="1"/>
          </p:cNvSpPr>
          <p:nvPr/>
        </p:nvSpPr>
        <p:spPr>
          <a:xfrm xmlns:a="http://schemas.openxmlformats.org/drawingml/2006/main">
            <a:off x="685800" y="55816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7212B"/>
                </a:solidFill>
              </a:defRPr>
            </a:pPr>
            <a:r>
              <a:rPr sz="1275" b="1" i="0">
                <a:solidFill>
                  <a:srgbClr val="17212B"/>
                </a:solidFill>
              </a:rPr>
              <a:t>Relay unavailable</a:t>
            </a:r>
          </a:p>
        </p:txBody>
      </p:sp>
      <p:sp>
        <p:nvSpPr>
          <p:cNvPr id="39" name="">
            <a:extLst xmlns:a="http://schemas.openxmlformats.org/drawingml/2006/main">
              <a:ext uri="{FF2B5EF4-FFF2-40B4-BE49-F238E27FC236}">
                <a16:creationId xmlns:a16="http://schemas.microsoft.com/office/drawing/2014/main" id="{88C087AF-7B6F-433C-9760-661BE06357D5}"/>
              </a:ext>
            </a:extLst>
          </p:cNvPr>
          <p:cNvSpPr>
            <a:spLocks xmlns:a="http://schemas.openxmlformats.org/drawingml/2006/main" noGrp="1"/>
          </p:cNvSpPr>
          <p:nvPr/>
        </p:nvSpPr>
        <p:spPr>
          <a:xfrm xmlns:a="http://schemas.openxmlformats.org/drawingml/2006/main">
            <a:off x="4038600" y="55816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16785B"/>
                </a:solidFill>
              </a:defRPr>
            </a:pPr>
            <a:r>
              <a:rPr sz="1200" b="1" i="0">
                <a:solidFill>
                  <a:srgbClr val="16785B"/>
                </a:solidFill>
              </a:rPr>
              <a:t>VERIFIED</a:t>
            </a:r>
          </a:p>
        </p:txBody>
      </p:sp>
      <p:sp>
        <p:nvSpPr>
          <p:cNvPr id="40" name="">
            <a:extLst xmlns:a="http://schemas.openxmlformats.org/drawingml/2006/main">
              <a:ext uri="{FF2B5EF4-FFF2-40B4-BE49-F238E27FC236}">
                <a16:creationId xmlns:a16="http://schemas.microsoft.com/office/drawing/2014/main" id="{3656542A-FB0A-47EB-AFCB-D683970B357E}"/>
              </a:ext>
            </a:extLst>
          </p:cNvPr>
          <p:cNvSpPr>
            <a:spLocks xmlns:a="http://schemas.openxmlformats.org/drawingml/2006/main" noGrp="1"/>
          </p:cNvSpPr>
          <p:nvPr/>
        </p:nvSpPr>
        <p:spPr>
          <a:xfrm xmlns:a="http://schemas.openxmlformats.org/drawingml/2006/main">
            <a:off x="6000750" y="55816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17212B"/>
                </a:solidFill>
              </a:defRPr>
            </a:pPr>
            <a:r>
              <a:rPr sz="1200" b="0" i="0">
                <a:solidFill>
                  <a:srgbClr val="17212B"/>
                </a:solidFill>
              </a:rPr>
              <a:t>Clear OTP error; offline use remained healthy</a:t>
            </a:r>
          </a:p>
        </p:txBody>
      </p:sp>
      <p:sp>
        <p:nvSpPr>
          <p:cNvPr id="41" name="">
            <a:extLst xmlns:a="http://schemas.openxmlformats.org/drawingml/2006/main">
              <a:ext uri="{FF2B5EF4-FFF2-40B4-BE49-F238E27FC236}">
                <a16:creationId xmlns:a16="http://schemas.microsoft.com/office/drawing/2014/main" id="{E6D62DEF-15DD-4DF7-B257-63699CD813C6}"/>
              </a:ext>
            </a:extLst>
          </p:cNvPr>
          <p:cNvSpPr>
            <a:spLocks xmlns:a="http://schemas.openxmlformats.org/drawingml/2006/main" noGrp="1"/>
          </p:cNvSpPr>
          <p:nvPr/>
        </p:nvSpPr>
        <p:spPr>
          <a:xfrm xmlns:a="http://schemas.openxmlformats.org/drawingml/2006/main">
            <a:off x="514350" y="61150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B42318"/>
                </a:solidFill>
              </a:defRPr>
            </a:pPr>
            <a:r>
              <a:rPr sz="1350" b="0" i="0">
                <a:solidFill>
                  <a:srgbClr val="B42318"/>
                </a:solidFill>
              </a:rPr>
              <a:t>No sensitive screenshots are included; evidence uses sanitized outcomes and repository traceability.</a:t>
            </a:r>
          </a:p>
        </p:txBody>
      </p:sp>
    </p:spTree>
    <p:extLst>
      <p:ext uri="{BB962C8B-B14F-4D97-AF65-F5344CB8AC3E}">
        <p14:creationId xmlns:p14="http://schemas.microsoft.com/office/powerpoint/2010/main" val="125959276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B4F82727-AA82-4059-85EC-754DD4DCEED8}"/>
              </a:ext>
            </a:extLst>
          </p:cNvPr>
          <p:cNvSpPr>
            <a:spLocks xmlns:a="http://schemas.openxmlformats.org/drawingml/2006/main" noGrp="1"/>
          </p:cNvSpPr>
          <p:nvPr/>
        </p:nvSpPr>
        <p:spPr>
          <a:xfrm xmlns:a="http://schemas.openxmlformats.org/drawingml/2006/main">
            <a:off x="400050" y="247650"/>
            <a:ext cx="11391900" cy="38100"/>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2" name="">
            <a:extLst xmlns:a="http://schemas.openxmlformats.org/drawingml/2006/main">
              <a:ext uri="{FF2B5EF4-FFF2-40B4-BE49-F238E27FC236}">
                <a16:creationId xmlns:a16="http://schemas.microsoft.com/office/drawing/2014/main" id="{191A5FE6-C7FD-4CD7-ABF3-D642723741AD}"/>
              </a:ext>
            </a:extLst>
          </p:cNvPr>
          <p:cNvSpPr>
            <a:spLocks xmlns:a="http://schemas.openxmlformats.org/drawingml/2006/main" noGrp="1"/>
          </p:cNvSpPr>
          <p:nvPr/>
        </p:nvSpPr>
        <p:spPr>
          <a:xfrm xmlns:a="http://schemas.openxmlformats.org/drawingml/2006/main">
            <a:off x="457200" y="371475"/>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QUALITY EVIDENCE</a:t>
            </a:r>
          </a:p>
        </p:txBody>
      </p:sp>
      <p:sp>
        <p:nvSpPr>
          <p:cNvPr id="3" name="">
            <a:extLst xmlns:a="http://schemas.openxmlformats.org/drawingml/2006/main">
              <a:ext uri="{FF2B5EF4-FFF2-40B4-BE49-F238E27FC236}">
                <a16:creationId xmlns:a16="http://schemas.microsoft.com/office/drawing/2014/main" id="{024629E8-98F6-4808-9F7D-46564C52DC25}"/>
              </a:ext>
            </a:extLst>
          </p:cNvPr>
          <p:cNvSpPr>
            <a:spLocks xmlns:a="http://schemas.openxmlformats.org/drawingml/2006/main" noGrp="1"/>
          </p:cNvSpPr>
          <p:nvPr/>
        </p:nvSpPr>
        <p:spPr>
          <a:xfrm xmlns:a="http://schemas.openxmlformats.org/drawingml/2006/main">
            <a:off x="457200" y="72390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7212B"/>
                </a:solidFill>
              </a:defRPr>
            </a:pPr>
            <a:r>
              <a:rPr sz="3000" b="1" i="0">
                <a:solidFill>
                  <a:srgbClr val="17212B"/>
                </a:solidFill>
              </a:rPr>
              <a:t>All 47 automated entry points passed in one Ant run</a:t>
            </a:r>
          </a:p>
        </p:txBody>
      </p:sp>
      <p:sp>
        <p:nvSpPr>
          <p:cNvPr id="4" name="">
            <a:extLst xmlns:a="http://schemas.openxmlformats.org/drawingml/2006/main">
              <a:ext uri="{FF2B5EF4-FFF2-40B4-BE49-F238E27FC236}">
                <a16:creationId xmlns:a16="http://schemas.microsoft.com/office/drawing/2014/main" id="{376F3BB3-DE07-4743-B264-9E1A7BD9D46F}"/>
              </a:ext>
            </a:extLst>
          </p:cNvPr>
          <p:cNvSpPr>
            <a:spLocks xmlns:a="http://schemas.openxmlformats.org/drawingml/2006/main" noGrp="1"/>
          </p:cNvSpPr>
          <p:nvPr/>
        </p:nvSpPr>
        <p:spPr>
          <a:xfrm xmlns:a="http://schemas.openxmlformats.org/drawingml/2006/main">
            <a:off x="1127760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i="0">
                <a:solidFill>
                  <a:srgbClr val="5B6573"/>
                </a:solidFill>
              </a:defRPr>
            </a:pPr>
            <a:r>
              <a:rPr sz="1050" b="0" i="0">
                <a:solidFill>
                  <a:srgbClr val="5B6573"/>
                </a:solidFill>
              </a:rPr>
              <a:t>13</a:t>
            </a:r>
          </a:p>
        </p:txBody>
      </p:sp>
      <p:sp>
        <p:nvSpPr>
          <p:cNvPr id="5" name="">
            <a:extLst xmlns:a="http://schemas.openxmlformats.org/drawingml/2006/main">
              <a:ext uri="{FF2B5EF4-FFF2-40B4-BE49-F238E27FC236}">
                <a16:creationId xmlns:a16="http://schemas.microsoft.com/office/drawing/2014/main" id="{3E618C6A-63AC-433B-9385-C061F4908C00}"/>
              </a:ext>
            </a:extLst>
          </p:cNvPr>
          <p:cNvSpPr>
            <a:spLocks xmlns:a="http://schemas.openxmlformats.org/drawingml/2006/main" noGrp="1"/>
          </p:cNvSpPr>
          <p:nvPr/>
        </p:nvSpPr>
        <p:spPr>
          <a:xfrm xmlns:a="http://schemas.openxmlformats.org/drawingml/2006/main">
            <a:off x="514350" y="1581150"/>
            <a:ext cx="2381250" cy="1162050"/>
          </a:xfrm>
          <a:prstGeom xmlns:a="http://schemas.openxmlformats.org/drawingml/2006/main" prst="rect">
            <a:avLst/>
          </a:prstGeom>
          <a:solidFill xmlns:a="http://schemas.openxmlformats.org/drawingml/2006/main">
            <a:srgbClr val="EAF5F0"/>
          </a:solidFill>
          <a:ln xmlns:a="http://schemas.openxmlformats.org/drawingml/2006/main" w="9525">
            <a:solidFill>
              <a:srgbClr val="B8C2CC"/>
            </a:solidFill>
            <a:prstDash val="solid"/>
          </a:ln>
        </p:spPr>
      </p:sp>
      <p:sp>
        <p:nvSpPr>
          <p:cNvPr id="6" name="">
            <a:extLst xmlns:a="http://schemas.openxmlformats.org/drawingml/2006/main">
              <a:ext uri="{FF2B5EF4-FFF2-40B4-BE49-F238E27FC236}">
                <a16:creationId xmlns:a16="http://schemas.microsoft.com/office/drawing/2014/main" id="{87DA3515-6F33-40F7-8E5D-195DD57032C8}"/>
              </a:ext>
            </a:extLst>
          </p:cNvPr>
          <p:cNvSpPr>
            <a:spLocks xmlns:a="http://schemas.openxmlformats.org/drawingml/2006/main" noGrp="1"/>
          </p:cNvSpPr>
          <p:nvPr/>
        </p:nvSpPr>
        <p:spPr>
          <a:xfrm xmlns:a="http://schemas.openxmlformats.org/drawingml/2006/main">
            <a:off x="704850" y="1733550"/>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0F5F49"/>
                </a:solidFill>
              </a:defRPr>
            </a:pPr>
            <a:r>
              <a:rPr sz="2700" b="1" i="0">
                <a:solidFill>
                  <a:srgbClr val="0F5F49"/>
                </a:solidFill>
              </a:rPr>
              <a:t>47 / 47</a:t>
            </a:r>
          </a:p>
        </p:txBody>
      </p:sp>
      <p:sp>
        <p:nvSpPr>
          <p:cNvPr id="7" name="">
            <a:extLst xmlns:a="http://schemas.openxmlformats.org/drawingml/2006/main">
              <a:ext uri="{FF2B5EF4-FFF2-40B4-BE49-F238E27FC236}">
                <a16:creationId xmlns:a16="http://schemas.microsoft.com/office/drawing/2014/main" id="{CB14AF04-5C67-49DD-A230-7CA9217922DC}"/>
              </a:ext>
            </a:extLst>
          </p:cNvPr>
          <p:cNvSpPr>
            <a:spLocks xmlns:a="http://schemas.openxmlformats.org/drawingml/2006/main" noGrp="1"/>
          </p:cNvSpPr>
          <p:nvPr/>
        </p:nvSpPr>
        <p:spPr>
          <a:xfrm xmlns:a="http://schemas.openxmlformats.org/drawingml/2006/main">
            <a:off x="704850" y="23050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5B6573"/>
                </a:solidFill>
              </a:defRPr>
            </a:pPr>
            <a:r>
              <a:rPr sz="1050" b="1" i="0">
                <a:solidFill>
                  <a:srgbClr val="5B6573"/>
                </a:solidFill>
              </a:rPr>
              <a:t>ENTRY POINTS PASSED</a:t>
            </a:r>
          </a:p>
        </p:txBody>
      </p:sp>
      <p:sp>
        <p:nvSpPr>
          <p:cNvPr id="8" name="">
            <a:extLst xmlns:a="http://schemas.openxmlformats.org/drawingml/2006/main">
              <a:ext uri="{FF2B5EF4-FFF2-40B4-BE49-F238E27FC236}">
                <a16:creationId xmlns:a16="http://schemas.microsoft.com/office/drawing/2014/main" id="{7D9D7C10-2A7C-40BC-A426-1B5077BF5E71}"/>
              </a:ext>
            </a:extLst>
          </p:cNvPr>
          <p:cNvSpPr>
            <a:spLocks xmlns:a="http://schemas.openxmlformats.org/drawingml/2006/main" noGrp="1"/>
          </p:cNvSpPr>
          <p:nvPr/>
        </p:nvSpPr>
        <p:spPr>
          <a:xfrm xmlns:a="http://schemas.openxmlformats.org/drawingml/2006/main">
            <a:off x="3105150" y="1581150"/>
            <a:ext cx="2381250" cy="1162050"/>
          </a:xfrm>
          <a:prstGeom xmlns:a="http://schemas.openxmlformats.org/drawingml/2006/main" prst="rect">
            <a:avLst/>
          </a:prstGeom>
          <a:solidFill xmlns:a="http://schemas.openxmlformats.org/drawingml/2006/main">
            <a:srgbClr val="DCEAF8"/>
          </a:solidFill>
          <a:ln xmlns:a="http://schemas.openxmlformats.org/drawingml/2006/main" w="9525">
            <a:solidFill>
              <a:srgbClr val="B8C2CC"/>
            </a:solidFill>
            <a:prstDash val="solid"/>
          </a:ln>
        </p:spPr>
      </p:sp>
      <p:sp>
        <p:nvSpPr>
          <p:cNvPr id="9" name="">
            <a:extLst xmlns:a="http://schemas.openxmlformats.org/drawingml/2006/main">
              <a:ext uri="{FF2B5EF4-FFF2-40B4-BE49-F238E27FC236}">
                <a16:creationId xmlns:a16="http://schemas.microsoft.com/office/drawing/2014/main" id="{B3480E95-92D5-44CC-BDFD-BE611E377166}"/>
              </a:ext>
            </a:extLst>
          </p:cNvPr>
          <p:cNvSpPr>
            <a:spLocks xmlns:a="http://schemas.openxmlformats.org/drawingml/2006/main" noGrp="1"/>
          </p:cNvSpPr>
          <p:nvPr/>
        </p:nvSpPr>
        <p:spPr>
          <a:xfrm xmlns:a="http://schemas.openxmlformats.org/drawingml/2006/main">
            <a:off x="3295650" y="1733550"/>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0F5F49"/>
                </a:solidFill>
              </a:defRPr>
            </a:pPr>
            <a:r>
              <a:rPr sz="2700" b="1" i="0">
                <a:solidFill>
                  <a:srgbClr val="0F5F49"/>
                </a:solidFill>
              </a:rPr>
              <a:t>SUCCESS</a:t>
            </a:r>
          </a:p>
        </p:txBody>
      </p:sp>
      <p:sp>
        <p:nvSpPr>
          <p:cNvPr id="10" name="">
            <a:extLst xmlns:a="http://schemas.openxmlformats.org/drawingml/2006/main">
              <a:ext uri="{FF2B5EF4-FFF2-40B4-BE49-F238E27FC236}">
                <a16:creationId xmlns:a16="http://schemas.microsoft.com/office/drawing/2014/main" id="{97017FA2-252E-46F2-BBFE-AE124BA21247}"/>
              </a:ext>
            </a:extLst>
          </p:cNvPr>
          <p:cNvSpPr>
            <a:spLocks xmlns:a="http://schemas.openxmlformats.org/drawingml/2006/main" noGrp="1"/>
          </p:cNvSpPr>
          <p:nvPr/>
        </p:nvSpPr>
        <p:spPr>
          <a:xfrm xmlns:a="http://schemas.openxmlformats.org/drawingml/2006/main">
            <a:off x="3295650" y="23050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5B6573"/>
                </a:solidFill>
              </a:defRPr>
            </a:pPr>
            <a:r>
              <a:rPr sz="1050" b="1" i="0">
                <a:solidFill>
                  <a:srgbClr val="5B6573"/>
                </a:solidFill>
              </a:rPr>
              <a:t>CLEAN + TEST + JAR</a:t>
            </a:r>
          </a:p>
        </p:txBody>
      </p:sp>
      <p:sp>
        <p:nvSpPr>
          <p:cNvPr id="11" name="">
            <a:extLst xmlns:a="http://schemas.openxmlformats.org/drawingml/2006/main">
              <a:ext uri="{FF2B5EF4-FFF2-40B4-BE49-F238E27FC236}">
                <a16:creationId xmlns:a16="http://schemas.microsoft.com/office/drawing/2014/main" id="{A66E1AC6-8C97-448E-8A1B-49697289C816}"/>
              </a:ext>
            </a:extLst>
          </p:cNvPr>
          <p:cNvSpPr>
            <a:spLocks xmlns:a="http://schemas.openxmlformats.org/drawingml/2006/main" noGrp="1"/>
          </p:cNvSpPr>
          <p:nvPr/>
        </p:nvSpPr>
        <p:spPr>
          <a:xfrm xmlns:a="http://schemas.openxmlformats.org/drawingml/2006/main">
            <a:off x="5695950" y="1581150"/>
            <a:ext cx="2381250" cy="1162050"/>
          </a:xfrm>
          <a:prstGeom xmlns:a="http://schemas.openxmlformats.org/drawingml/2006/main" prst="rect">
            <a:avLst/>
          </a:prstGeom>
          <a:solidFill xmlns:a="http://schemas.openxmlformats.org/drawingml/2006/main">
            <a:srgbClr val="EAF5F0"/>
          </a:solidFill>
          <a:ln xmlns:a="http://schemas.openxmlformats.org/drawingml/2006/main" w="9525">
            <a:solidFill>
              <a:srgbClr val="B8C2CC"/>
            </a:solidFill>
            <a:prstDash val="solid"/>
          </a:ln>
        </p:spPr>
      </p:sp>
      <p:sp>
        <p:nvSpPr>
          <p:cNvPr id="12" name="">
            <a:extLst xmlns:a="http://schemas.openxmlformats.org/drawingml/2006/main">
              <a:ext uri="{FF2B5EF4-FFF2-40B4-BE49-F238E27FC236}">
                <a16:creationId xmlns:a16="http://schemas.microsoft.com/office/drawing/2014/main" id="{83613F3A-8096-4FAF-A607-CC60BB97BDE5}"/>
              </a:ext>
            </a:extLst>
          </p:cNvPr>
          <p:cNvSpPr>
            <a:spLocks xmlns:a="http://schemas.openxmlformats.org/drawingml/2006/main" noGrp="1"/>
          </p:cNvSpPr>
          <p:nvPr/>
        </p:nvSpPr>
        <p:spPr>
          <a:xfrm xmlns:a="http://schemas.openxmlformats.org/drawingml/2006/main">
            <a:off x="5886450" y="1733550"/>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0F5F49"/>
                </a:solidFill>
              </a:defRPr>
            </a:pPr>
            <a:r>
              <a:rPr sz="2700" b="1" i="0">
                <a:solidFill>
                  <a:srgbClr val="0F5F49"/>
                </a:solidFill>
              </a:rPr>
              <a:t>Java 25</a:t>
            </a:r>
          </a:p>
        </p:txBody>
      </p:sp>
      <p:sp>
        <p:nvSpPr>
          <p:cNvPr id="13" name="">
            <a:extLst xmlns:a="http://schemas.openxmlformats.org/drawingml/2006/main">
              <a:ext uri="{FF2B5EF4-FFF2-40B4-BE49-F238E27FC236}">
                <a16:creationId xmlns:a16="http://schemas.microsoft.com/office/drawing/2014/main" id="{9F520DDF-61B6-4700-9787-F3A5CC97F78D}"/>
              </a:ext>
            </a:extLst>
          </p:cNvPr>
          <p:cNvSpPr>
            <a:spLocks xmlns:a="http://schemas.openxmlformats.org/drawingml/2006/main" noGrp="1"/>
          </p:cNvSpPr>
          <p:nvPr/>
        </p:nvSpPr>
        <p:spPr>
          <a:xfrm xmlns:a="http://schemas.openxmlformats.org/drawingml/2006/main">
            <a:off x="5886450" y="23050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5B6573"/>
                </a:solidFill>
              </a:defRPr>
            </a:pPr>
            <a:r>
              <a:rPr sz="1050" b="1" i="0">
                <a:solidFill>
                  <a:srgbClr val="5B6573"/>
                </a:solidFill>
              </a:rPr>
              <a:t>COMPILER + RUNTIME</a:t>
            </a:r>
          </a:p>
        </p:txBody>
      </p:sp>
      <p:sp>
        <p:nvSpPr>
          <p:cNvPr id="14" name="">
            <a:extLst xmlns:a="http://schemas.openxmlformats.org/drawingml/2006/main">
              <a:ext uri="{FF2B5EF4-FFF2-40B4-BE49-F238E27FC236}">
                <a16:creationId xmlns:a16="http://schemas.microsoft.com/office/drawing/2014/main" id="{E549765E-1D26-4DE4-8F4C-B28CF197CD9C}"/>
              </a:ext>
            </a:extLst>
          </p:cNvPr>
          <p:cNvSpPr>
            <a:spLocks xmlns:a="http://schemas.openxmlformats.org/drawingml/2006/main" noGrp="1"/>
          </p:cNvSpPr>
          <p:nvPr/>
        </p:nvSpPr>
        <p:spPr>
          <a:xfrm xmlns:a="http://schemas.openxmlformats.org/drawingml/2006/main">
            <a:off x="8286750" y="1581150"/>
            <a:ext cx="2971800" cy="1162050"/>
          </a:xfrm>
          <a:prstGeom xmlns:a="http://schemas.openxmlformats.org/drawingml/2006/main" prst="rect">
            <a:avLst/>
          </a:prstGeom>
          <a:solidFill xmlns:a="http://schemas.openxmlformats.org/drawingml/2006/main">
            <a:srgbClr val="DCEAF8"/>
          </a:solidFill>
          <a:ln xmlns:a="http://schemas.openxmlformats.org/drawingml/2006/main" w="9525">
            <a:solidFill>
              <a:srgbClr val="B8C2CC"/>
            </a:solidFill>
            <a:prstDash val="solid"/>
          </a:ln>
        </p:spPr>
      </p:sp>
      <p:sp>
        <p:nvSpPr>
          <p:cNvPr id="15" name="">
            <a:extLst xmlns:a="http://schemas.openxmlformats.org/drawingml/2006/main">
              <a:ext uri="{FF2B5EF4-FFF2-40B4-BE49-F238E27FC236}">
                <a16:creationId xmlns:a16="http://schemas.microsoft.com/office/drawing/2014/main" id="{AA2E4831-3AFE-470A-8701-E4E4109C6FED}"/>
              </a:ext>
            </a:extLst>
          </p:cNvPr>
          <p:cNvSpPr>
            <a:spLocks xmlns:a="http://schemas.openxmlformats.org/drawingml/2006/main" noGrp="1"/>
          </p:cNvSpPr>
          <p:nvPr/>
        </p:nvSpPr>
        <p:spPr>
          <a:xfrm xmlns:a="http://schemas.openxmlformats.org/drawingml/2006/main">
            <a:off x="8477250" y="1733550"/>
            <a:ext cx="2590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0F5F49"/>
                </a:solidFill>
              </a:defRPr>
            </a:pPr>
            <a:r>
              <a:rPr sz="2700" b="1" i="0">
                <a:solidFill>
                  <a:srgbClr val="0F5F49"/>
                </a:solidFill>
              </a:rPr>
              <a:t>Ant 1.10.17</a:t>
            </a:r>
          </a:p>
        </p:txBody>
      </p:sp>
      <p:sp>
        <p:nvSpPr>
          <p:cNvPr id="16" name="">
            <a:extLst xmlns:a="http://schemas.openxmlformats.org/drawingml/2006/main">
              <a:ext uri="{FF2B5EF4-FFF2-40B4-BE49-F238E27FC236}">
                <a16:creationId xmlns:a16="http://schemas.microsoft.com/office/drawing/2014/main" id="{CAF9DBC5-E56F-43F7-BD4D-5D14DA2C4A74}"/>
              </a:ext>
            </a:extLst>
          </p:cNvPr>
          <p:cNvSpPr>
            <a:spLocks xmlns:a="http://schemas.openxmlformats.org/drawingml/2006/main" noGrp="1"/>
          </p:cNvSpPr>
          <p:nvPr/>
        </p:nvSpPr>
        <p:spPr>
          <a:xfrm xmlns:a="http://schemas.openxmlformats.org/drawingml/2006/main">
            <a:off x="8477250" y="2305050"/>
            <a:ext cx="2590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5B6573"/>
                </a:solidFill>
              </a:defRPr>
            </a:pPr>
            <a:r>
              <a:rPr sz="1050" b="1" i="0">
                <a:solidFill>
                  <a:srgbClr val="5B6573"/>
                </a:solidFill>
              </a:rPr>
              <a:t>REPEATABLE BUILD</a:t>
            </a:r>
          </a:p>
        </p:txBody>
      </p:sp>
      <p:sp>
        <p:nvSpPr>
          <p:cNvPr id="17" name="">
            <a:extLst xmlns:a="http://schemas.openxmlformats.org/drawingml/2006/main">
              <a:ext uri="{FF2B5EF4-FFF2-40B4-BE49-F238E27FC236}">
                <a16:creationId xmlns:a16="http://schemas.microsoft.com/office/drawing/2014/main" id="{B809AABB-874F-459F-9AB1-4E21F191232E}"/>
              </a:ext>
            </a:extLst>
          </p:cNvPr>
          <p:cNvSpPr>
            <a:spLocks xmlns:a="http://schemas.openxmlformats.org/drawingml/2006/main" noGrp="1"/>
          </p:cNvSpPr>
          <p:nvPr/>
        </p:nvSpPr>
        <p:spPr>
          <a:xfrm xmlns:a="http://schemas.openxmlformats.org/drawingml/2006/main">
            <a:off x="514350" y="3105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COVERAGE CHAIN</a:t>
            </a:r>
          </a:p>
        </p:txBody>
      </p:sp>
      <p:sp>
        <p:nvSpPr>
          <p:cNvPr id="18" name="">
            <a:extLst xmlns:a="http://schemas.openxmlformats.org/drawingml/2006/main">
              <a:ext uri="{FF2B5EF4-FFF2-40B4-BE49-F238E27FC236}">
                <a16:creationId xmlns:a16="http://schemas.microsoft.com/office/drawing/2014/main" id="{BA4D7135-0E71-478C-83C9-0E28092CFD00}"/>
              </a:ext>
            </a:extLst>
          </p:cNvPr>
          <p:cNvSpPr>
            <a:spLocks xmlns:a="http://schemas.openxmlformats.org/drawingml/2006/main" noGrp="1"/>
          </p:cNvSpPr>
          <p:nvPr/>
        </p:nvSpPr>
        <p:spPr>
          <a:xfrm xmlns:a="http://schemas.openxmlformats.org/drawingml/2006/main">
            <a:off x="514350" y="3543300"/>
            <a:ext cx="4953000" cy="28575"/>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19" name="">
            <a:extLst xmlns:a="http://schemas.openxmlformats.org/drawingml/2006/main">
              <a:ext uri="{FF2B5EF4-FFF2-40B4-BE49-F238E27FC236}">
                <a16:creationId xmlns:a16="http://schemas.microsoft.com/office/drawing/2014/main" id="{05CD5087-27C0-4F60-BA20-A2C6870B06F8}"/>
              </a:ext>
            </a:extLst>
          </p:cNvPr>
          <p:cNvSpPr>
            <a:spLocks xmlns:a="http://schemas.openxmlformats.org/drawingml/2006/main" noGrp="1"/>
          </p:cNvSpPr>
          <p:nvPr/>
        </p:nvSpPr>
        <p:spPr>
          <a:xfrm xmlns:a="http://schemas.openxmlformats.org/drawingml/2006/main">
            <a:off x="514350" y="365760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7212B"/>
                </a:solidFill>
              </a:defRPr>
            </a:pPr>
            <a:r>
              <a:rPr sz="1500" b="1" i="0">
                <a:solidFill>
                  <a:srgbClr val="17212B"/>
                </a:solidFill>
              </a:rPr>
              <a:t>Core model / repository / service</a:t>
            </a:r>
          </a:p>
        </p:txBody>
      </p:sp>
      <p:sp>
        <p:nvSpPr>
          <p:cNvPr id="20" name="">
            <a:extLst xmlns:a="http://schemas.openxmlformats.org/drawingml/2006/main">
              <a:ext uri="{FF2B5EF4-FFF2-40B4-BE49-F238E27FC236}">
                <a16:creationId xmlns:a16="http://schemas.microsoft.com/office/drawing/2014/main" id="{80F17AB1-3B0D-4E40-87D0-5E7D04B38AEB}"/>
              </a:ext>
            </a:extLst>
          </p:cNvPr>
          <p:cNvSpPr>
            <a:spLocks xmlns:a="http://schemas.openxmlformats.org/drawingml/2006/main" noGrp="1"/>
          </p:cNvSpPr>
          <p:nvPr/>
        </p:nvSpPr>
        <p:spPr>
          <a:xfrm xmlns:a="http://schemas.openxmlformats.org/drawingml/2006/main">
            <a:off x="5981700" y="3543300"/>
            <a:ext cx="4953000" cy="28575"/>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21" name="">
            <a:extLst xmlns:a="http://schemas.openxmlformats.org/drawingml/2006/main">
              <a:ext uri="{FF2B5EF4-FFF2-40B4-BE49-F238E27FC236}">
                <a16:creationId xmlns:a16="http://schemas.microsoft.com/office/drawing/2014/main" id="{9E23DDA5-AF59-4374-80DC-7CD056836B2A}"/>
              </a:ext>
            </a:extLst>
          </p:cNvPr>
          <p:cNvSpPr>
            <a:spLocks xmlns:a="http://schemas.openxmlformats.org/drawingml/2006/main" noGrp="1"/>
          </p:cNvSpPr>
          <p:nvPr/>
        </p:nvSpPr>
        <p:spPr>
          <a:xfrm xmlns:a="http://schemas.openxmlformats.org/drawingml/2006/main">
            <a:off x="5981700" y="365760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7212B"/>
                </a:solidFill>
              </a:defRPr>
            </a:pPr>
            <a:r>
              <a:rPr sz="1500" b="1" i="0">
                <a:solidFill>
                  <a:srgbClr val="17212B"/>
                </a:solidFill>
              </a:rPr>
              <a:t>Swing foundations and frame smoke tests</a:t>
            </a:r>
          </a:p>
        </p:txBody>
      </p:sp>
      <p:sp>
        <p:nvSpPr>
          <p:cNvPr id="22" name="">
            <a:extLst xmlns:a="http://schemas.openxmlformats.org/drawingml/2006/main">
              <a:ext uri="{FF2B5EF4-FFF2-40B4-BE49-F238E27FC236}">
                <a16:creationId xmlns:a16="http://schemas.microsoft.com/office/drawing/2014/main" id="{B7581FC8-DBAB-4ED5-9ECC-4530B193BB8C}"/>
              </a:ext>
            </a:extLst>
          </p:cNvPr>
          <p:cNvSpPr>
            <a:spLocks xmlns:a="http://schemas.openxmlformats.org/drawingml/2006/main" noGrp="1"/>
          </p:cNvSpPr>
          <p:nvPr/>
        </p:nvSpPr>
        <p:spPr>
          <a:xfrm xmlns:a="http://schemas.openxmlformats.org/drawingml/2006/main">
            <a:off x="514350" y="4229100"/>
            <a:ext cx="4953000" cy="28575"/>
          </a:xfrm>
          <a:prstGeom xmlns:a="http://schemas.openxmlformats.org/drawingml/2006/main" prst="rect">
            <a:avLst/>
          </a:prstGeom>
          <a:solidFill xmlns:a="http://schemas.openxmlformats.org/drawingml/2006/main">
            <a:srgbClr val="2B6CB0"/>
          </a:solidFill>
          <a:ln xmlns:a="http://schemas.openxmlformats.org/drawingml/2006/main" w="0">
            <a:solidFill>
              <a:srgbClr val="2B6CB0"/>
            </a:solidFill>
            <a:prstDash val="solid"/>
          </a:ln>
        </p:spPr>
      </p:sp>
      <p:sp>
        <p:nvSpPr>
          <p:cNvPr id="23" name="">
            <a:extLst xmlns:a="http://schemas.openxmlformats.org/drawingml/2006/main">
              <a:ext uri="{FF2B5EF4-FFF2-40B4-BE49-F238E27FC236}">
                <a16:creationId xmlns:a16="http://schemas.microsoft.com/office/drawing/2014/main" id="{E4EE3443-D603-40A4-8A32-AC7870681D68}"/>
              </a:ext>
            </a:extLst>
          </p:cNvPr>
          <p:cNvSpPr>
            <a:spLocks xmlns:a="http://schemas.openxmlformats.org/drawingml/2006/main" noGrp="1"/>
          </p:cNvSpPr>
          <p:nvPr/>
        </p:nvSpPr>
        <p:spPr>
          <a:xfrm xmlns:a="http://schemas.openxmlformats.org/drawingml/2006/main">
            <a:off x="514350" y="434340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7212B"/>
                </a:solidFill>
              </a:defRPr>
            </a:pPr>
            <a:r>
              <a:rPr sz="1500" b="1" i="0">
                <a:solidFill>
                  <a:srgbClr val="17212B"/>
                </a:solidFill>
              </a:rPr>
              <a:t>Budgets, recurring, goals, debts and analytics</a:t>
            </a:r>
          </a:p>
        </p:txBody>
      </p:sp>
      <p:sp>
        <p:nvSpPr>
          <p:cNvPr id="24" name="">
            <a:extLst xmlns:a="http://schemas.openxmlformats.org/drawingml/2006/main">
              <a:ext uri="{FF2B5EF4-FFF2-40B4-BE49-F238E27FC236}">
                <a16:creationId xmlns:a16="http://schemas.microsoft.com/office/drawing/2014/main" id="{E6AA6476-26E4-43E6-BB39-EB606CA474C3}"/>
              </a:ext>
            </a:extLst>
          </p:cNvPr>
          <p:cNvSpPr>
            <a:spLocks xmlns:a="http://schemas.openxmlformats.org/drawingml/2006/main" noGrp="1"/>
          </p:cNvSpPr>
          <p:nvPr/>
        </p:nvSpPr>
        <p:spPr>
          <a:xfrm xmlns:a="http://schemas.openxmlformats.org/drawingml/2006/main">
            <a:off x="5981700" y="4229100"/>
            <a:ext cx="4953000" cy="28575"/>
          </a:xfrm>
          <a:prstGeom xmlns:a="http://schemas.openxmlformats.org/drawingml/2006/main" prst="rect">
            <a:avLst/>
          </a:prstGeom>
          <a:solidFill xmlns:a="http://schemas.openxmlformats.org/drawingml/2006/main">
            <a:srgbClr val="2B6CB0"/>
          </a:solidFill>
          <a:ln xmlns:a="http://schemas.openxmlformats.org/drawingml/2006/main" w="0">
            <a:solidFill>
              <a:srgbClr val="2B6CB0"/>
            </a:solidFill>
            <a:prstDash val="solid"/>
          </a:ln>
        </p:spPr>
      </p:sp>
      <p:sp>
        <p:nvSpPr>
          <p:cNvPr id="25" name="">
            <a:extLst xmlns:a="http://schemas.openxmlformats.org/drawingml/2006/main">
              <a:ext uri="{FF2B5EF4-FFF2-40B4-BE49-F238E27FC236}">
                <a16:creationId xmlns:a16="http://schemas.microsoft.com/office/drawing/2014/main" id="{3472915F-22B8-4DA5-A08F-44D6E6C15FB8}"/>
              </a:ext>
            </a:extLst>
          </p:cNvPr>
          <p:cNvSpPr>
            <a:spLocks xmlns:a="http://schemas.openxmlformats.org/drawingml/2006/main" noGrp="1"/>
          </p:cNvSpPr>
          <p:nvPr/>
        </p:nvSpPr>
        <p:spPr>
          <a:xfrm xmlns:a="http://schemas.openxmlformats.org/drawingml/2006/main">
            <a:off x="5981700" y="434340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7212B"/>
                </a:solidFill>
              </a:defRPr>
            </a:pPr>
            <a:r>
              <a:rPr sz="1500" b="1" i="0">
                <a:solidFill>
                  <a:srgbClr val="17212B"/>
                </a:solidFill>
              </a:rPr>
              <a:t>Authentication, OTP HTTP client and relay policy</a:t>
            </a:r>
          </a:p>
        </p:txBody>
      </p:sp>
      <p:sp>
        <p:nvSpPr>
          <p:cNvPr id="26" name="">
            <a:extLst xmlns:a="http://schemas.openxmlformats.org/drawingml/2006/main">
              <a:ext uri="{FF2B5EF4-FFF2-40B4-BE49-F238E27FC236}">
                <a16:creationId xmlns:a16="http://schemas.microsoft.com/office/drawing/2014/main" id="{69421EC1-78F0-4984-BC1A-8ED93732B1B4}"/>
              </a:ext>
            </a:extLst>
          </p:cNvPr>
          <p:cNvSpPr>
            <a:spLocks xmlns:a="http://schemas.openxmlformats.org/drawingml/2006/main" noGrp="1"/>
          </p:cNvSpPr>
          <p:nvPr/>
        </p:nvSpPr>
        <p:spPr>
          <a:xfrm xmlns:a="http://schemas.openxmlformats.org/drawingml/2006/main">
            <a:off x="514350" y="4914900"/>
            <a:ext cx="4953000" cy="28575"/>
          </a:xfrm>
          <a:prstGeom xmlns:a="http://schemas.openxmlformats.org/drawingml/2006/main" prst="rect">
            <a:avLst/>
          </a:prstGeom>
          <a:solidFill xmlns:a="http://schemas.openxmlformats.org/drawingml/2006/main">
            <a:srgbClr val="B8C2CC"/>
          </a:solidFill>
          <a:ln xmlns:a="http://schemas.openxmlformats.org/drawingml/2006/main" w="0">
            <a:solidFill>
              <a:srgbClr val="B8C2CC"/>
            </a:solidFill>
            <a:prstDash val="solid"/>
          </a:ln>
        </p:spPr>
      </p:sp>
      <p:sp>
        <p:nvSpPr>
          <p:cNvPr id="27" name="">
            <a:extLst xmlns:a="http://schemas.openxmlformats.org/drawingml/2006/main">
              <a:ext uri="{FF2B5EF4-FFF2-40B4-BE49-F238E27FC236}">
                <a16:creationId xmlns:a16="http://schemas.microsoft.com/office/drawing/2014/main" id="{FEB715EF-278B-4418-9D66-2FBBFBD98B85}"/>
              </a:ext>
            </a:extLst>
          </p:cNvPr>
          <p:cNvSpPr>
            <a:spLocks xmlns:a="http://schemas.openxmlformats.org/drawingml/2006/main" noGrp="1"/>
          </p:cNvSpPr>
          <p:nvPr/>
        </p:nvSpPr>
        <p:spPr>
          <a:xfrm xmlns:a="http://schemas.openxmlformats.org/drawingml/2006/main">
            <a:off x="514350" y="502920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7212B"/>
                </a:solidFill>
              </a:defRPr>
            </a:pPr>
            <a:r>
              <a:rPr sz="1500" b="1" i="0">
                <a:solidFill>
                  <a:srgbClr val="17212B"/>
                </a:solidFill>
              </a:rPr>
              <a:t>Persistence, backup/import and Money Manager</a:t>
            </a:r>
          </a:p>
        </p:txBody>
      </p:sp>
      <p:sp>
        <p:nvSpPr>
          <p:cNvPr id="28" name="">
            <a:extLst xmlns:a="http://schemas.openxmlformats.org/drawingml/2006/main">
              <a:ext uri="{FF2B5EF4-FFF2-40B4-BE49-F238E27FC236}">
                <a16:creationId xmlns:a16="http://schemas.microsoft.com/office/drawing/2014/main" id="{29290AA9-09E1-46DE-87EC-4B5B67C9DF1B}"/>
              </a:ext>
            </a:extLst>
          </p:cNvPr>
          <p:cNvSpPr>
            <a:spLocks xmlns:a="http://schemas.openxmlformats.org/drawingml/2006/main" noGrp="1"/>
          </p:cNvSpPr>
          <p:nvPr/>
        </p:nvSpPr>
        <p:spPr>
          <a:xfrm xmlns:a="http://schemas.openxmlformats.org/drawingml/2006/main">
            <a:off x="5981700" y="4914900"/>
            <a:ext cx="4953000" cy="28575"/>
          </a:xfrm>
          <a:prstGeom xmlns:a="http://schemas.openxmlformats.org/drawingml/2006/main" prst="rect">
            <a:avLst/>
          </a:prstGeom>
          <a:solidFill xmlns:a="http://schemas.openxmlformats.org/drawingml/2006/main">
            <a:srgbClr val="B8C2CC"/>
          </a:solidFill>
          <a:ln xmlns:a="http://schemas.openxmlformats.org/drawingml/2006/main" w="0">
            <a:solidFill>
              <a:srgbClr val="B8C2CC"/>
            </a:solidFill>
            <a:prstDash val="solid"/>
          </a:ln>
        </p:spPr>
      </p:sp>
      <p:sp>
        <p:nvSpPr>
          <p:cNvPr id="29" name="">
            <a:extLst xmlns:a="http://schemas.openxmlformats.org/drawingml/2006/main">
              <a:ext uri="{FF2B5EF4-FFF2-40B4-BE49-F238E27FC236}">
                <a16:creationId xmlns:a16="http://schemas.microsoft.com/office/drawing/2014/main" id="{CCEC232D-DC73-448E-A12D-653F55CF0960}"/>
              </a:ext>
            </a:extLst>
          </p:cNvPr>
          <p:cNvSpPr>
            <a:spLocks xmlns:a="http://schemas.openxmlformats.org/drawingml/2006/main" noGrp="1"/>
          </p:cNvSpPr>
          <p:nvPr/>
        </p:nvSpPr>
        <p:spPr>
          <a:xfrm xmlns:a="http://schemas.openxmlformats.org/drawingml/2006/main">
            <a:off x="5981700" y="502920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7212B"/>
                </a:solidFill>
              </a:defRPr>
            </a:pPr>
            <a:r>
              <a:rPr sz="1500" b="1" i="0">
                <a:solidFill>
                  <a:srgbClr val="17212B"/>
                </a:solidFill>
              </a:rPr>
              <a:t>Presentation data and voice transaction parsing</a:t>
            </a:r>
          </a:p>
        </p:txBody>
      </p:sp>
      <p:sp>
        <p:nvSpPr>
          <p:cNvPr id="30" name="">
            <a:extLst xmlns:a="http://schemas.openxmlformats.org/drawingml/2006/main">
              <a:ext uri="{FF2B5EF4-FFF2-40B4-BE49-F238E27FC236}">
                <a16:creationId xmlns:a16="http://schemas.microsoft.com/office/drawing/2014/main" id="{F5932419-181D-4660-8CD7-86CC7A9C4277}"/>
              </a:ext>
            </a:extLst>
          </p:cNvPr>
          <p:cNvSpPr>
            <a:spLocks xmlns:a="http://schemas.openxmlformats.org/drawingml/2006/main" noGrp="1"/>
          </p:cNvSpPr>
          <p:nvPr/>
        </p:nvSpPr>
        <p:spPr>
          <a:xfrm xmlns:a="http://schemas.openxmlformats.org/drawingml/2006/main">
            <a:off x="514350" y="5772150"/>
            <a:ext cx="10744200" cy="457200"/>
          </a:xfrm>
          <a:prstGeom xmlns:a="http://schemas.openxmlformats.org/drawingml/2006/main" prst="rect">
            <a:avLst/>
          </a:prstGeom>
          <a:solidFill xmlns:a="http://schemas.openxmlformats.org/drawingml/2006/main">
            <a:srgbClr val="EEF1F3"/>
          </a:solidFill>
          <a:ln xmlns:a="http://schemas.openxmlformats.org/drawingml/2006/main" w="9525">
            <a:solidFill>
              <a:srgbClr val="B8C2CC"/>
            </a:solidFill>
            <a:prstDash val="solid"/>
          </a:ln>
        </p:spPr>
      </p:sp>
      <p:sp>
        <p:nvSpPr>
          <p:cNvPr id="31" name="">
            <a:extLst xmlns:a="http://schemas.openxmlformats.org/drawingml/2006/main">
              <a:ext uri="{FF2B5EF4-FFF2-40B4-BE49-F238E27FC236}">
                <a16:creationId xmlns:a16="http://schemas.microsoft.com/office/drawing/2014/main" id="{5D040372-30AC-40B3-A7E1-D5EDDE9A7A2B}"/>
              </a:ext>
            </a:extLst>
          </p:cNvPr>
          <p:cNvSpPr>
            <a:spLocks xmlns:a="http://schemas.openxmlformats.org/drawingml/2006/main" noGrp="1"/>
          </p:cNvSpPr>
          <p:nvPr/>
        </p:nvSpPr>
        <p:spPr>
          <a:xfrm xmlns:a="http://schemas.openxmlformats.org/drawingml/2006/main">
            <a:off x="704850" y="588645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i="0">
                <a:solidFill>
                  <a:srgbClr val="0F5F49"/>
                </a:solidFill>
              </a:defRPr>
            </a:pPr>
            <a:r>
              <a:rPr sz="1575" b="1" i="0">
                <a:solidFill>
                  <a:srgbClr val="0F5F49"/>
                </a:solidFill>
              </a:rPr>
              <a:t>Both JARs verified; the Windows launcher suite passed DPAPI, reuse, and cleanup checks.</a:t>
            </a:r>
          </a:p>
        </p:txBody>
      </p:sp>
    </p:spTree>
    <p:extLst>
      <p:ext uri="{BB962C8B-B14F-4D97-AF65-F5344CB8AC3E}">
        <p14:creationId xmlns:p14="http://schemas.microsoft.com/office/powerpoint/2010/main" val="193856906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3B783DF-D43A-47E6-A4F1-E785A6950E7F}"/>
              </a:ext>
            </a:extLst>
          </p:cNvPr>
          <p:cNvSpPr>
            <a:spLocks xmlns:a="http://schemas.openxmlformats.org/drawingml/2006/main" noGrp="1"/>
          </p:cNvSpPr>
          <p:nvPr/>
        </p:nvSpPr>
        <p:spPr>
          <a:xfrm xmlns:a="http://schemas.openxmlformats.org/drawingml/2006/main">
            <a:off x="400050" y="247650"/>
            <a:ext cx="11391900" cy="38100"/>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2" name="">
            <a:extLst xmlns:a="http://schemas.openxmlformats.org/drawingml/2006/main">
              <a:ext uri="{FF2B5EF4-FFF2-40B4-BE49-F238E27FC236}">
                <a16:creationId xmlns:a16="http://schemas.microsoft.com/office/drawing/2014/main" id="{8C08E1C1-955B-4218-8E0C-EEE2462EE86A}"/>
              </a:ext>
            </a:extLst>
          </p:cNvPr>
          <p:cNvSpPr>
            <a:spLocks xmlns:a="http://schemas.openxmlformats.org/drawingml/2006/main" noGrp="1"/>
          </p:cNvSpPr>
          <p:nvPr/>
        </p:nvSpPr>
        <p:spPr>
          <a:xfrm xmlns:a="http://schemas.openxmlformats.org/drawingml/2006/main">
            <a:off x="457200" y="371475"/>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DEFENSE READINESS</a:t>
            </a:r>
          </a:p>
        </p:txBody>
      </p:sp>
      <p:sp>
        <p:nvSpPr>
          <p:cNvPr id="3" name="">
            <a:extLst xmlns:a="http://schemas.openxmlformats.org/drawingml/2006/main">
              <a:ext uri="{FF2B5EF4-FFF2-40B4-BE49-F238E27FC236}">
                <a16:creationId xmlns:a16="http://schemas.microsoft.com/office/drawing/2014/main" id="{3346249F-B086-410E-9D63-D2EAED10331F}"/>
              </a:ext>
            </a:extLst>
          </p:cNvPr>
          <p:cNvSpPr>
            <a:spLocks xmlns:a="http://schemas.openxmlformats.org/drawingml/2006/main" noGrp="1"/>
          </p:cNvSpPr>
          <p:nvPr/>
        </p:nvSpPr>
        <p:spPr>
          <a:xfrm xmlns:a="http://schemas.openxmlformats.org/drawingml/2006/main">
            <a:off x="457200" y="72390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7212B"/>
                </a:solidFill>
              </a:defRPr>
            </a:pPr>
            <a:r>
              <a:rPr sz="3000" b="1" i="0">
                <a:solidFill>
                  <a:srgbClr val="17212B"/>
                </a:solidFill>
              </a:rPr>
              <a:t>Build once, then launch in one click</a:t>
            </a:r>
          </a:p>
        </p:txBody>
      </p:sp>
      <p:sp>
        <p:nvSpPr>
          <p:cNvPr id="4" name="">
            <a:extLst xmlns:a="http://schemas.openxmlformats.org/drawingml/2006/main">
              <a:ext uri="{FF2B5EF4-FFF2-40B4-BE49-F238E27FC236}">
                <a16:creationId xmlns:a16="http://schemas.microsoft.com/office/drawing/2014/main" id="{CE0DADF0-20F8-4CD2-9B62-648E13120D42}"/>
              </a:ext>
            </a:extLst>
          </p:cNvPr>
          <p:cNvSpPr>
            <a:spLocks xmlns:a="http://schemas.openxmlformats.org/drawingml/2006/main" noGrp="1"/>
          </p:cNvSpPr>
          <p:nvPr/>
        </p:nvSpPr>
        <p:spPr>
          <a:xfrm xmlns:a="http://schemas.openxmlformats.org/drawingml/2006/main">
            <a:off x="1127760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i="0">
                <a:solidFill>
                  <a:srgbClr val="5B6573"/>
                </a:solidFill>
              </a:defRPr>
            </a:pPr>
            <a:r>
              <a:rPr sz="1050" b="0" i="0">
                <a:solidFill>
                  <a:srgbClr val="5B6573"/>
                </a:solidFill>
              </a:rPr>
              <a:t>14</a:t>
            </a:r>
          </a:p>
        </p:txBody>
      </p:sp>
      <p:sp>
        <p:nvSpPr>
          <p:cNvPr id="5" name="">
            <a:extLst xmlns:a="http://schemas.openxmlformats.org/drawingml/2006/main">
              <a:ext uri="{FF2B5EF4-FFF2-40B4-BE49-F238E27FC236}">
                <a16:creationId xmlns:a16="http://schemas.microsoft.com/office/drawing/2014/main" id="{0CFA2F2F-1F79-4842-9B7B-592E18CC38A3}"/>
              </a:ext>
            </a:extLst>
          </p:cNvPr>
          <p:cNvSpPr>
            <a:spLocks xmlns:a="http://schemas.openxmlformats.org/drawingml/2006/main" noGrp="1"/>
          </p:cNvSpPr>
          <p:nvPr/>
        </p:nvSpPr>
        <p:spPr>
          <a:xfrm xmlns:a="http://schemas.openxmlformats.org/drawingml/2006/main">
            <a:off x="514350" y="158115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BUILD AND LAUNCH</a:t>
            </a:r>
          </a:p>
        </p:txBody>
      </p:sp>
      <p:sp>
        <p:nvSpPr>
          <p:cNvPr id="6" name="">
            <a:extLst xmlns:a="http://schemas.openxmlformats.org/drawingml/2006/main">
              <a:ext uri="{FF2B5EF4-FFF2-40B4-BE49-F238E27FC236}">
                <a16:creationId xmlns:a16="http://schemas.microsoft.com/office/drawing/2014/main" id="{F7ED6894-E608-4820-AE8F-D59DE20FB20B}"/>
              </a:ext>
            </a:extLst>
          </p:cNvPr>
          <p:cNvSpPr>
            <a:spLocks xmlns:a="http://schemas.openxmlformats.org/drawingml/2006/main" noGrp="1"/>
          </p:cNvSpPr>
          <p:nvPr/>
        </p:nvSpPr>
        <p:spPr>
          <a:xfrm xmlns:a="http://schemas.openxmlformats.org/drawingml/2006/main">
            <a:off x="514350" y="1962150"/>
            <a:ext cx="4953000" cy="1638300"/>
          </a:xfrm>
          <a:prstGeom xmlns:a="http://schemas.openxmlformats.org/drawingml/2006/main" prst="rect">
            <a:avLst/>
          </a:prstGeom>
          <a:solidFill xmlns:a="http://schemas.openxmlformats.org/drawingml/2006/main">
            <a:srgbClr val="EEF1F3"/>
          </a:solidFill>
          <a:ln xmlns:a="http://schemas.openxmlformats.org/drawingml/2006/main" w="9525">
            <a:solidFill>
              <a:srgbClr val="B8C2CC"/>
            </a:solidFill>
            <a:prstDash val="solid"/>
          </a:ln>
        </p:spPr>
      </p:sp>
      <p:sp>
        <p:nvSpPr>
          <p:cNvPr id="7" name="">
            <a:extLst xmlns:a="http://schemas.openxmlformats.org/drawingml/2006/main">
              <a:ext uri="{FF2B5EF4-FFF2-40B4-BE49-F238E27FC236}">
                <a16:creationId xmlns:a16="http://schemas.microsoft.com/office/drawing/2014/main" id="{B06DB305-C20B-4148-A694-F4466667E5F8}"/>
              </a:ext>
            </a:extLst>
          </p:cNvPr>
          <p:cNvSpPr>
            <a:spLocks xmlns:a="http://schemas.openxmlformats.org/drawingml/2006/main" noGrp="1"/>
          </p:cNvSpPr>
          <p:nvPr/>
        </p:nvSpPr>
        <p:spPr>
          <a:xfrm xmlns:a="http://schemas.openxmlformats.org/drawingml/2006/main">
            <a:off x="781050" y="222885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0F5F49"/>
                </a:solidFill>
              </a:defRPr>
            </a:pPr>
            <a:r>
              <a:rPr sz="1875" b="1" i="0">
                <a:solidFill>
                  <a:srgbClr val="0F5F49"/>
                </a:solidFill>
              </a:rPr>
              <a:t>ant clean test-quality jar</a:t>
            </a:r>
          </a:p>
        </p:txBody>
      </p:sp>
      <p:sp>
        <p:nvSpPr>
          <p:cNvPr id="8" name="">
            <a:extLst xmlns:a="http://schemas.openxmlformats.org/drawingml/2006/main">
              <a:ext uri="{FF2B5EF4-FFF2-40B4-BE49-F238E27FC236}">
                <a16:creationId xmlns:a16="http://schemas.microsoft.com/office/drawing/2014/main" id="{68A8301D-0A2F-400B-BB57-85EFA7DDB744}"/>
              </a:ext>
            </a:extLst>
          </p:cNvPr>
          <p:cNvSpPr>
            <a:spLocks xmlns:a="http://schemas.openxmlformats.org/drawingml/2006/main" noGrp="1"/>
          </p:cNvSpPr>
          <p:nvPr/>
        </p:nvSpPr>
        <p:spPr>
          <a:xfrm xmlns:a="http://schemas.openxmlformats.org/drawingml/2006/main">
            <a:off x="781050" y="27813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2B6CB0"/>
                </a:solidFill>
              </a:defRPr>
            </a:pPr>
            <a:r>
              <a:rPr sz="1875" b="1" i="0">
                <a:solidFill>
                  <a:srgbClr val="2B6CB0"/>
                </a:solidFill>
              </a:rPr>
              <a:t>Start Wealthora.cmd  (one click)</a:t>
            </a:r>
          </a:p>
        </p:txBody>
      </p:sp>
      <p:sp>
        <p:nvSpPr>
          <p:cNvPr id="9" name="">
            <a:extLst xmlns:a="http://schemas.openxmlformats.org/drawingml/2006/main">
              <a:ext uri="{FF2B5EF4-FFF2-40B4-BE49-F238E27FC236}">
                <a16:creationId xmlns:a16="http://schemas.microsoft.com/office/drawing/2014/main" id="{114F1637-F688-417B-A9FD-00A6EFAA724F}"/>
              </a:ext>
            </a:extLst>
          </p:cNvPr>
          <p:cNvSpPr>
            <a:spLocks xmlns:a="http://schemas.openxmlformats.org/drawingml/2006/main" noGrp="1"/>
          </p:cNvSpPr>
          <p:nvPr/>
        </p:nvSpPr>
        <p:spPr>
          <a:xfrm xmlns:a="http://schemas.openxmlformats.org/drawingml/2006/main">
            <a:off x="781050" y="3276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B6573"/>
                </a:solidFill>
              </a:defRPr>
            </a:pPr>
            <a:r>
              <a:rPr sz="1275" b="0" i="0">
                <a:solidFill>
                  <a:srgbClr val="5B6573"/>
                </a:solidFill>
              </a:rPr>
              <a:t>F6: keep the NetBeans OTP relay launcher open</a:t>
            </a:r>
          </a:p>
        </p:txBody>
      </p:sp>
      <p:sp>
        <p:nvSpPr>
          <p:cNvPr id="10" name="">
            <a:extLst xmlns:a="http://schemas.openxmlformats.org/drawingml/2006/main">
              <a:ext uri="{FF2B5EF4-FFF2-40B4-BE49-F238E27FC236}">
                <a16:creationId xmlns:a16="http://schemas.microsoft.com/office/drawing/2014/main" id="{98959C5F-6FF6-42FF-AE20-109FCA4F9F50}"/>
              </a:ext>
            </a:extLst>
          </p:cNvPr>
          <p:cNvSpPr>
            <a:spLocks xmlns:a="http://schemas.openxmlformats.org/drawingml/2006/main" noGrp="1"/>
          </p:cNvSpPr>
          <p:nvPr/>
        </p:nvSpPr>
        <p:spPr>
          <a:xfrm xmlns:a="http://schemas.openxmlformats.org/drawingml/2006/main">
            <a:off x="6153150" y="15811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2B6CB0"/>
                </a:solidFill>
              </a:defRPr>
            </a:pPr>
            <a:r>
              <a:rPr sz="1125" b="1" i="0">
                <a:solidFill>
                  <a:srgbClr val="2B6CB0"/>
                </a:solidFill>
              </a:rPr>
              <a:t>RECOMMENDED LIVE SEQUENCE</a:t>
            </a:r>
          </a:p>
        </p:txBody>
      </p:sp>
      <p:sp>
        <p:nvSpPr>
          <p:cNvPr id="11" name="">
            <a:extLst xmlns:a="http://schemas.openxmlformats.org/drawingml/2006/main">
              <a:ext uri="{FF2B5EF4-FFF2-40B4-BE49-F238E27FC236}">
                <a16:creationId xmlns:a16="http://schemas.microsoft.com/office/drawing/2014/main" id="{8E2722EE-1675-4B77-830C-59C59200A1C4}"/>
              </a:ext>
            </a:extLst>
          </p:cNvPr>
          <p:cNvSpPr>
            <a:spLocks xmlns:a="http://schemas.openxmlformats.org/drawingml/2006/main" noGrp="1"/>
          </p:cNvSpPr>
          <p:nvPr/>
        </p:nvSpPr>
        <p:spPr>
          <a:xfrm xmlns:a="http://schemas.openxmlformats.org/drawingml/2006/main">
            <a:off x="6153150" y="2000250"/>
            <a:ext cx="4762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i="0">
                <a:solidFill>
                  <a:srgbClr val="17212B"/>
                </a:solidFill>
              </a:defRPr>
            </a:pPr>
            <a:r>
              <a:rPr sz="1650" b="0" i="0">
                <a:solidFill>
                  <a:srgbClr val="17212B"/>
                </a:solidFill>
              </a:rPr>
              <a:t>1  Bring printed six-page report</a:t>
            </a:r>
          </a:p>
          <a:p xmlns:a="http://schemas.openxmlformats.org/drawingml/2006/main">
            <a:pPr algn="l">
              <a:buNone/>
              <a:defRPr sz="1650" b="0" i="0">
                <a:solidFill>
                  <a:srgbClr val="17212B"/>
                </a:solidFill>
              </a:defRPr>
            </a:pPr>
            <a:r>
              <a:rPr sz="1650" b="0" i="0">
                <a:solidFill>
                  <a:srgbClr val="17212B"/>
                </a:solidFill>
              </a:rPr>
              <a:t>2  Sign in as controlled OWNER</a:t>
            </a:r>
          </a:p>
          <a:p xmlns:a="http://schemas.openxmlformats.org/drawingml/2006/main">
            <a:pPr algn="l">
              <a:buNone/>
              <a:defRPr sz="1650" b="0" i="0">
                <a:solidFill>
                  <a:srgbClr val="17212B"/>
                </a:solidFill>
              </a:defRPr>
            </a:pPr>
            <a:r>
              <a:rPr sz="1650" b="0" i="0">
                <a:solidFill>
                  <a:srgbClr val="17212B"/>
                </a:solidFill>
              </a:rPr>
              <a:t>3  Load presentation data once</a:t>
            </a:r>
          </a:p>
          <a:p xmlns:a="http://schemas.openxmlformats.org/drawingml/2006/main">
            <a:pPr algn="l">
              <a:buNone/>
              <a:defRPr sz="1650" b="0" i="0">
                <a:solidFill>
                  <a:srgbClr val="17212B"/>
                </a:solidFill>
              </a:defRPr>
            </a:pPr>
            <a:r>
              <a:rPr sz="1650" b="0" i="0">
                <a:solidFill>
                  <a:srgbClr val="17212B"/>
                </a:solidFill>
              </a:rPr>
              <a:t>4  Show dashboard + balances</a:t>
            </a:r>
          </a:p>
          <a:p xmlns:a="http://schemas.openxmlformats.org/drawingml/2006/main">
            <a:pPr algn="l">
              <a:buNone/>
              <a:defRPr sz="1650" b="0" i="0">
                <a:solidFill>
                  <a:srgbClr val="17212B"/>
                </a:solidFill>
              </a:defRPr>
            </a:pPr>
            <a:r>
              <a:rPr sz="1650" b="0" i="0">
                <a:solidFill>
                  <a:srgbClr val="17212B"/>
                </a:solidFill>
              </a:rPr>
              <a:t>5  CRUD disposable records</a:t>
            </a:r>
          </a:p>
          <a:p xmlns:a="http://schemas.openxmlformats.org/drawingml/2006/main">
            <a:pPr algn="l">
              <a:buNone/>
              <a:defRPr sz="1650" b="0" i="0">
                <a:solidFill>
                  <a:srgbClr val="17212B"/>
                </a:solidFill>
              </a:defRPr>
            </a:pPr>
            <a:r>
              <a:rPr sz="1650" b="0" i="0">
                <a:solidFill>
                  <a:srgbClr val="17212B"/>
                </a:solidFill>
              </a:rPr>
              <a:t>6  Budgets, analytics and search</a:t>
            </a:r>
          </a:p>
          <a:p xmlns:a="http://schemas.openxmlformats.org/drawingml/2006/main">
            <a:pPr algn="l">
              <a:buNone/>
              <a:defRPr sz="1650" b="0" i="0">
                <a:solidFill>
                  <a:srgbClr val="17212B"/>
                </a:solidFill>
              </a:defRPr>
            </a:pPr>
            <a:r>
              <a:rPr sz="1650" b="0" i="0">
                <a:solidFill>
                  <a:srgbClr val="17212B"/>
                </a:solidFill>
              </a:rPr>
              <a:t>7  Explain import/export safety</a:t>
            </a:r>
          </a:p>
          <a:p xmlns:a="http://schemas.openxmlformats.org/drawingml/2006/main">
            <a:pPr algn="l">
              <a:buNone/>
              <a:defRPr sz="1650" b="0" i="0">
                <a:solidFill>
                  <a:srgbClr val="17212B"/>
                </a:solidFill>
              </a:defRPr>
            </a:pPr>
            <a:r>
              <a:rPr sz="1650" b="0" i="0">
                <a:solidFill>
                  <a:srgbClr val="17212B"/>
                </a:solidFill>
              </a:rPr>
              <a:t>8  Relaunch for persistence</a:t>
            </a:r>
          </a:p>
        </p:txBody>
      </p:sp>
      <p:sp>
        <p:nvSpPr>
          <p:cNvPr id="12" name="">
            <a:extLst xmlns:a="http://schemas.openxmlformats.org/drawingml/2006/main">
              <a:ext uri="{FF2B5EF4-FFF2-40B4-BE49-F238E27FC236}">
                <a16:creationId xmlns:a16="http://schemas.microsoft.com/office/drawing/2014/main" id="{F69BC60C-0331-4FE6-B941-3BA937502C00}"/>
              </a:ext>
            </a:extLst>
          </p:cNvPr>
          <p:cNvSpPr>
            <a:spLocks xmlns:a="http://schemas.openxmlformats.org/drawingml/2006/main" noGrp="1"/>
          </p:cNvSpPr>
          <p:nvPr/>
        </p:nvSpPr>
        <p:spPr>
          <a:xfrm xmlns:a="http://schemas.openxmlformats.org/drawingml/2006/main">
            <a:off x="514350" y="4095750"/>
            <a:ext cx="4953000" cy="19050"/>
          </a:xfrm>
          <a:prstGeom xmlns:a="http://schemas.openxmlformats.org/drawingml/2006/main" prst="rect">
            <a:avLst/>
          </a:prstGeom>
          <a:solidFill xmlns:a="http://schemas.openxmlformats.org/drawingml/2006/main">
            <a:srgbClr val="B8C2CC"/>
          </a:solidFill>
          <a:ln xmlns:a="http://schemas.openxmlformats.org/drawingml/2006/main" w="0">
            <a:solidFill>
              <a:srgbClr val="B8C2CC"/>
            </a:solidFill>
            <a:prstDash val="solid"/>
          </a:ln>
        </p:spPr>
      </p:sp>
      <p:sp>
        <p:nvSpPr>
          <p:cNvPr id="13" name="">
            <a:extLst xmlns:a="http://schemas.openxmlformats.org/drawingml/2006/main">
              <a:ext uri="{FF2B5EF4-FFF2-40B4-BE49-F238E27FC236}">
                <a16:creationId xmlns:a16="http://schemas.microsoft.com/office/drawing/2014/main" id="{47D3B134-D36C-479A-9A5F-33D3723885B8}"/>
              </a:ext>
            </a:extLst>
          </p:cNvPr>
          <p:cNvSpPr>
            <a:spLocks xmlns:a="http://schemas.openxmlformats.org/drawingml/2006/main" noGrp="1"/>
          </p:cNvSpPr>
          <p:nvPr/>
        </p:nvSpPr>
        <p:spPr>
          <a:xfrm xmlns:a="http://schemas.openxmlformats.org/drawingml/2006/main">
            <a:off x="514350" y="43624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B42318"/>
                </a:solidFill>
              </a:defRPr>
            </a:pPr>
            <a:r>
              <a:rPr sz="1125" b="1" i="0">
                <a:solidFill>
                  <a:srgbClr val="B42318"/>
                </a:solidFill>
              </a:rPr>
              <a:t>PRESENTATION RULE</a:t>
            </a:r>
          </a:p>
        </p:txBody>
      </p:sp>
      <p:sp>
        <p:nvSpPr>
          <p:cNvPr id="14" name="">
            <a:extLst xmlns:a="http://schemas.openxmlformats.org/drawingml/2006/main">
              <a:ext uri="{FF2B5EF4-FFF2-40B4-BE49-F238E27FC236}">
                <a16:creationId xmlns:a16="http://schemas.microsoft.com/office/drawing/2014/main" id="{6649ABE5-12C4-4734-84BB-87C561CC55AA}"/>
              </a:ext>
            </a:extLst>
          </p:cNvPr>
          <p:cNvSpPr>
            <a:spLocks xmlns:a="http://schemas.openxmlformats.org/drawingml/2006/main" noGrp="1"/>
          </p:cNvSpPr>
          <p:nvPr/>
        </p:nvSpPr>
        <p:spPr>
          <a:xfrm xmlns:a="http://schemas.openxmlformats.org/drawingml/2006/main">
            <a:off x="514350" y="476250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B42318"/>
                </a:solidFill>
              </a:defRPr>
            </a:pPr>
            <a:r>
              <a:rPr sz="1500" b="1" i="0">
                <a:solidFill>
                  <a:srgbClr val="B42318"/>
                </a:solidFill>
              </a:rPr>
              <a:t>Use invented values and a controlled mailbox. Never display passwords, OTPs, recovery answers, SMTP credentials, signing secrets, private CSV files, or backups.</a:t>
            </a:r>
          </a:p>
        </p:txBody>
      </p:sp>
      <p:sp>
        <p:nvSpPr>
          <p:cNvPr id="15" name="">
            <a:extLst xmlns:a="http://schemas.openxmlformats.org/drawingml/2006/main">
              <a:ext uri="{FF2B5EF4-FFF2-40B4-BE49-F238E27FC236}">
                <a16:creationId xmlns:a16="http://schemas.microsoft.com/office/drawing/2014/main" id="{97E06FF2-6B75-44FE-8E78-6CC7FB0B9281}"/>
              </a:ext>
            </a:extLst>
          </p:cNvPr>
          <p:cNvSpPr>
            <a:spLocks xmlns:a="http://schemas.openxmlformats.org/drawingml/2006/main" noGrp="1"/>
          </p:cNvSpPr>
          <p:nvPr/>
        </p:nvSpPr>
        <p:spPr>
          <a:xfrm xmlns:a="http://schemas.openxmlformats.org/drawingml/2006/main">
            <a:off x="6153150" y="5219700"/>
            <a:ext cx="4762500" cy="685800"/>
          </a:xfrm>
          <a:prstGeom xmlns:a="http://schemas.openxmlformats.org/drawingml/2006/main" prst="rect">
            <a:avLst/>
          </a:prstGeom>
          <a:solidFill xmlns:a="http://schemas.openxmlformats.org/drawingml/2006/main">
            <a:srgbClr val="EAF5F0"/>
          </a:solidFill>
          <a:ln xmlns:a="http://schemas.openxmlformats.org/drawingml/2006/main" w="9525">
            <a:solidFill>
              <a:srgbClr val="16785B"/>
            </a:solidFill>
            <a:prstDash val="solid"/>
          </a:ln>
        </p:spPr>
      </p:sp>
      <p:sp>
        <p:nvSpPr>
          <p:cNvPr id="16" name="">
            <a:extLst xmlns:a="http://schemas.openxmlformats.org/drawingml/2006/main">
              <a:ext uri="{FF2B5EF4-FFF2-40B4-BE49-F238E27FC236}">
                <a16:creationId xmlns:a16="http://schemas.microsoft.com/office/drawing/2014/main" id="{597C75A3-105F-4FFA-9A79-699C9E876874}"/>
              </a:ext>
            </a:extLst>
          </p:cNvPr>
          <p:cNvSpPr>
            <a:spLocks xmlns:a="http://schemas.openxmlformats.org/drawingml/2006/main" noGrp="1"/>
          </p:cNvSpPr>
          <p:nvPr/>
        </p:nvSpPr>
        <p:spPr>
          <a:xfrm xmlns:a="http://schemas.openxmlformats.org/drawingml/2006/main">
            <a:off x="6362700" y="5324475"/>
            <a:ext cx="434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i="0">
                <a:solidFill>
                  <a:srgbClr val="0F5F49"/>
                </a:solidFill>
              </a:defRPr>
            </a:pPr>
            <a:r>
              <a:rPr sz="1425" b="1" i="0">
                <a:solidFill>
                  <a:srgbClr val="0F5F49"/>
                </a:solidFill>
              </a:rPr>
              <a:t>Demo coordination: Shibli Rahman Moon</a:t>
            </a:r>
          </a:p>
        </p:txBody>
      </p:sp>
      <p:sp>
        <p:nvSpPr>
          <p:cNvPr id="17" name="">
            <a:extLst xmlns:a="http://schemas.openxmlformats.org/drawingml/2006/main">
              <a:ext uri="{FF2B5EF4-FFF2-40B4-BE49-F238E27FC236}">
                <a16:creationId xmlns:a16="http://schemas.microsoft.com/office/drawing/2014/main" id="{60DAF524-339C-4959-AF2C-FA9EA5AA0269}"/>
              </a:ext>
            </a:extLst>
          </p:cNvPr>
          <p:cNvSpPr>
            <a:spLocks xmlns:a="http://schemas.openxmlformats.org/drawingml/2006/main" noGrp="1"/>
          </p:cNvSpPr>
          <p:nvPr/>
        </p:nvSpPr>
        <p:spPr>
          <a:xfrm xmlns:a="http://schemas.openxmlformats.org/drawingml/2006/main">
            <a:off x="6362700" y="5610225"/>
            <a:ext cx="434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5B6573"/>
                </a:solidFill>
              </a:defRPr>
            </a:pPr>
            <a:r>
              <a:rPr sz="1275" b="1" i="0">
                <a:solidFill>
                  <a:srgbClr val="5B6573"/>
                </a:solidFill>
              </a:rPr>
              <a:t>Project Lead · System Design &amp; Integration</a:t>
            </a:r>
          </a:p>
        </p:txBody>
      </p:sp>
    </p:spTree>
    <p:extLst>
      <p:ext uri="{BB962C8B-B14F-4D97-AF65-F5344CB8AC3E}">
        <p14:creationId xmlns:p14="http://schemas.microsoft.com/office/powerpoint/2010/main" val="107515646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12F1398-4541-41AE-B995-8A6CF046A498}"/>
              </a:ext>
            </a:extLst>
          </p:cNvPr>
          <p:cNvSpPr>
            <a:spLocks xmlns:a="http://schemas.openxmlformats.org/drawingml/2006/main" noGrp="1"/>
          </p:cNvSpPr>
          <p:nvPr/>
        </p:nvSpPr>
        <p:spPr>
          <a:xfrm xmlns:a="http://schemas.openxmlformats.org/drawingml/2006/main">
            <a:off x="400050" y="247650"/>
            <a:ext cx="11391900" cy="38100"/>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2" name="">
            <a:extLst xmlns:a="http://schemas.openxmlformats.org/drawingml/2006/main">
              <a:ext uri="{FF2B5EF4-FFF2-40B4-BE49-F238E27FC236}">
                <a16:creationId xmlns:a16="http://schemas.microsoft.com/office/drawing/2014/main" id="{0B7FAB76-255E-4674-AECB-285A33227CB7}"/>
              </a:ext>
            </a:extLst>
          </p:cNvPr>
          <p:cNvSpPr>
            <a:spLocks xmlns:a="http://schemas.openxmlformats.org/drawingml/2006/main" noGrp="1"/>
          </p:cNvSpPr>
          <p:nvPr/>
        </p:nvSpPr>
        <p:spPr>
          <a:xfrm xmlns:a="http://schemas.openxmlformats.org/drawingml/2006/main">
            <a:off x="457200" y="371475"/>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REFLECTION</a:t>
            </a:r>
          </a:p>
        </p:txBody>
      </p:sp>
      <p:sp>
        <p:nvSpPr>
          <p:cNvPr id="3" name="">
            <a:extLst xmlns:a="http://schemas.openxmlformats.org/drawingml/2006/main">
              <a:ext uri="{FF2B5EF4-FFF2-40B4-BE49-F238E27FC236}">
                <a16:creationId xmlns:a16="http://schemas.microsoft.com/office/drawing/2014/main" id="{35A9DFAC-66C1-49CA-A69E-BA270DFBF993}"/>
              </a:ext>
            </a:extLst>
          </p:cNvPr>
          <p:cNvSpPr>
            <a:spLocks xmlns:a="http://schemas.openxmlformats.org/drawingml/2006/main" noGrp="1"/>
          </p:cNvSpPr>
          <p:nvPr/>
        </p:nvSpPr>
        <p:spPr>
          <a:xfrm xmlns:a="http://schemas.openxmlformats.org/drawingml/2006/main">
            <a:off x="457200" y="72390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7212B"/>
                </a:solidFill>
              </a:defRPr>
            </a:pPr>
            <a:r>
              <a:rPr sz="3000" b="1" i="0">
                <a:solidFill>
                  <a:srgbClr val="17212B"/>
                </a:solidFill>
              </a:rPr>
              <a:t>Clear boundaries point directly to future work</a:t>
            </a:r>
          </a:p>
        </p:txBody>
      </p:sp>
      <p:sp>
        <p:nvSpPr>
          <p:cNvPr id="4" name="">
            <a:extLst xmlns:a="http://schemas.openxmlformats.org/drawingml/2006/main">
              <a:ext uri="{FF2B5EF4-FFF2-40B4-BE49-F238E27FC236}">
                <a16:creationId xmlns:a16="http://schemas.microsoft.com/office/drawing/2014/main" id="{7A4A5CE2-EF82-4FC7-A5AD-6B453BDFFF06}"/>
              </a:ext>
            </a:extLst>
          </p:cNvPr>
          <p:cNvSpPr>
            <a:spLocks xmlns:a="http://schemas.openxmlformats.org/drawingml/2006/main" noGrp="1"/>
          </p:cNvSpPr>
          <p:nvPr/>
        </p:nvSpPr>
        <p:spPr>
          <a:xfrm xmlns:a="http://schemas.openxmlformats.org/drawingml/2006/main">
            <a:off x="1127760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i="0">
                <a:solidFill>
                  <a:srgbClr val="5B6573"/>
                </a:solidFill>
              </a:defRPr>
            </a:pPr>
            <a:r>
              <a:rPr sz="1050" b="0" i="0">
                <a:solidFill>
                  <a:srgbClr val="5B6573"/>
                </a:solidFill>
              </a:rPr>
              <a:t>15</a:t>
            </a:r>
          </a:p>
        </p:txBody>
      </p:sp>
      <p:sp>
        <p:nvSpPr>
          <p:cNvPr id="5" name="">
            <a:extLst xmlns:a="http://schemas.openxmlformats.org/drawingml/2006/main">
              <a:ext uri="{FF2B5EF4-FFF2-40B4-BE49-F238E27FC236}">
                <a16:creationId xmlns:a16="http://schemas.microsoft.com/office/drawing/2014/main" id="{D0BF624B-B07C-4BD0-BA23-C7D16C247F99}"/>
              </a:ext>
            </a:extLst>
          </p:cNvPr>
          <p:cNvSpPr>
            <a:spLocks xmlns:a="http://schemas.openxmlformats.org/drawingml/2006/main" noGrp="1"/>
          </p:cNvSpPr>
          <p:nvPr/>
        </p:nvSpPr>
        <p:spPr>
          <a:xfrm xmlns:a="http://schemas.openxmlformats.org/drawingml/2006/main">
            <a:off x="514350" y="15811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B42318"/>
                </a:solidFill>
              </a:defRPr>
            </a:pPr>
            <a:r>
              <a:rPr sz="1125" b="1" i="0">
                <a:solidFill>
                  <a:srgbClr val="B42318"/>
                </a:solidFill>
              </a:rPr>
              <a:t>CURRENT LIMITATIONS</a:t>
            </a:r>
          </a:p>
        </p:txBody>
      </p:sp>
      <p:sp>
        <p:nvSpPr>
          <p:cNvPr id="6" name="">
            <a:extLst xmlns:a="http://schemas.openxmlformats.org/drawingml/2006/main">
              <a:ext uri="{FF2B5EF4-FFF2-40B4-BE49-F238E27FC236}">
                <a16:creationId xmlns:a16="http://schemas.microsoft.com/office/drawing/2014/main" id="{0DBA7972-E249-4BBD-9AA5-64AEEC518B96}"/>
              </a:ext>
            </a:extLst>
          </p:cNvPr>
          <p:cNvSpPr>
            <a:spLocks xmlns:a="http://schemas.openxmlformats.org/drawingml/2006/main" noGrp="1"/>
          </p:cNvSpPr>
          <p:nvPr/>
        </p:nvSpPr>
        <p:spPr>
          <a:xfrm xmlns:a="http://schemas.openxmlformats.org/drawingml/2006/main">
            <a:off x="514350" y="1981200"/>
            <a:ext cx="4953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17212B"/>
                </a:solidFill>
              </a:defRPr>
            </a:pPr>
            <a:r>
              <a:rPr sz="1575" b="0" i="0">
                <a:solidFill>
                  <a:srgbClr val="17212B"/>
                </a:solidFill>
              </a:rPr>
              <a:t>• CSV safety is per file, not one transaction across several files</a:t>
            </a:r>
          </a:p>
          <a:p xmlns:a="http://schemas.openxmlformats.org/drawingml/2006/main">
            <a:pPr algn="l">
              <a:buNone/>
              <a:defRPr sz="1575" b="0" i="0">
                <a:solidFill>
                  <a:srgbClr val="17212B"/>
                </a:solidFill>
              </a:defRPr>
            </a:pPr>
            <a:r>
              <a:rPr sz="1575" b="0" i="0">
                <a:solidFill>
                  <a:srgbClr val="17212B"/>
                </a:solidFill>
              </a:rPr>
              <a:t>• Goals and debt records do not silently move account money</a:t>
            </a:r>
          </a:p>
          <a:p xmlns:a="http://schemas.openxmlformats.org/drawingml/2006/main">
            <a:pPr algn="l">
              <a:buNone/>
              <a:defRPr sz="1575" b="0" i="0">
                <a:solidFill>
                  <a:srgbClr val="17212B"/>
                </a:solidFill>
              </a:defRPr>
            </a:pPr>
            <a:r>
              <a:rPr sz="1575" b="0" i="0">
                <a:solidFill>
                  <a:srgbClr val="17212B"/>
                </a:solidFill>
              </a:rPr>
              <a:t>• CSV import supports transaction exports only</a:t>
            </a:r>
          </a:p>
          <a:p xmlns:a="http://schemas.openxmlformats.org/drawingml/2006/main">
            <a:pPr algn="l">
              <a:buNone/>
              <a:defRPr sz="1575" b="0" i="0">
                <a:solidFill>
                  <a:srgbClr val="17212B"/>
                </a:solidFill>
              </a:defRPr>
            </a:pPr>
            <a:r>
              <a:rPr sz="1575" b="0" i="0">
                <a:solidFill>
                  <a:srgbClr val="17212B"/>
                </a:solidFill>
              </a:rPr>
              <a:t>• Notifications run only while Wealthora is open</a:t>
            </a:r>
          </a:p>
          <a:p xmlns:a="http://schemas.openxmlformats.org/drawingml/2006/main">
            <a:pPr algn="l">
              <a:buNone/>
              <a:defRPr sz="1575" b="0" i="0">
                <a:solidFill>
                  <a:srgbClr val="17212B"/>
                </a:solidFill>
              </a:defRPr>
            </a:pPr>
            <a:r>
              <a:rPr sz="1575" b="0" i="0">
                <a:solidFill>
                  <a:srgbClr val="17212B"/>
                </a:solidFill>
              </a:rPr>
              <a:t>• Relay restart invalidates pending in-memory challenges</a:t>
            </a:r>
          </a:p>
          <a:p xmlns:a="http://schemas.openxmlformats.org/drawingml/2006/main">
            <a:pPr algn="l">
              <a:buNone/>
              <a:defRPr sz="1575" b="0" i="0">
                <a:solidFill>
                  <a:srgbClr val="17212B"/>
                </a:solidFill>
              </a:defRPr>
            </a:pPr>
            <a:r>
              <a:rPr sz="1575" b="0" i="0">
                <a:solidFill>
                  <a:srgbClr val="17212B"/>
                </a:solidFill>
              </a:rPr>
              <a:t>• Live OTP depends on operator-managed HTTPS and SMTP</a:t>
            </a:r>
          </a:p>
        </p:txBody>
      </p:sp>
      <p:sp>
        <p:nvSpPr>
          <p:cNvPr id="7" name="">
            <a:extLst xmlns:a="http://schemas.openxmlformats.org/drawingml/2006/main">
              <a:ext uri="{FF2B5EF4-FFF2-40B4-BE49-F238E27FC236}">
                <a16:creationId xmlns:a16="http://schemas.microsoft.com/office/drawing/2014/main" id="{6564152B-510F-43C2-A592-602344DBB701}"/>
              </a:ext>
            </a:extLst>
          </p:cNvPr>
          <p:cNvSpPr>
            <a:spLocks xmlns:a="http://schemas.openxmlformats.org/drawingml/2006/main" noGrp="1"/>
          </p:cNvSpPr>
          <p:nvPr/>
        </p:nvSpPr>
        <p:spPr>
          <a:xfrm xmlns:a="http://schemas.openxmlformats.org/drawingml/2006/main">
            <a:off x="5810250" y="1619250"/>
            <a:ext cx="19050" cy="3810000"/>
          </a:xfrm>
          <a:prstGeom xmlns:a="http://schemas.openxmlformats.org/drawingml/2006/main" prst="rect">
            <a:avLst/>
          </a:prstGeom>
          <a:solidFill xmlns:a="http://schemas.openxmlformats.org/drawingml/2006/main">
            <a:srgbClr val="B8C2CC"/>
          </a:solidFill>
          <a:ln xmlns:a="http://schemas.openxmlformats.org/drawingml/2006/main" w="0">
            <a:solidFill>
              <a:srgbClr val="B8C2CC"/>
            </a:solidFill>
            <a:prstDash val="solid"/>
          </a:ln>
        </p:spPr>
      </p:sp>
      <p:sp>
        <p:nvSpPr>
          <p:cNvPr id="8" name="">
            <a:extLst xmlns:a="http://schemas.openxmlformats.org/drawingml/2006/main">
              <a:ext uri="{FF2B5EF4-FFF2-40B4-BE49-F238E27FC236}">
                <a16:creationId xmlns:a16="http://schemas.microsoft.com/office/drawing/2014/main" id="{479647F3-80A0-4DB1-A207-1DA1F2CDB490}"/>
              </a:ext>
            </a:extLst>
          </p:cNvPr>
          <p:cNvSpPr>
            <a:spLocks xmlns:a="http://schemas.openxmlformats.org/drawingml/2006/main" noGrp="1"/>
          </p:cNvSpPr>
          <p:nvPr/>
        </p:nvSpPr>
        <p:spPr>
          <a:xfrm xmlns:a="http://schemas.openxmlformats.org/drawingml/2006/main">
            <a:off x="6305550" y="15811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2B6CB0"/>
                </a:solidFill>
              </a:defRPr>
            </a:pPr>
            <a:r>
              <a:rPr sz="1125" b="1" i="0">
                <a:solidFill>
                  <a:srgbClr val="2B6CB0"/>
                </a:solidFill>
              </a:rPr>
              <a:t>FUTURE IMPROVEMENTS</a:t>
            </a:r>
          </a:p>
        </p:txBody>
      </p:sp>
      <p:sp>
        <p:nvSpPr>
          <p:cNvPr id="9" name="">
            <a:extLst xmlns:a="http://schemas.openxmlformats.org/drawingml/2006/main">
              <a:ext uri="{FF2B5EF4-FFF2-40B4-BE49-F238E27FC236}">
                <a16:creationId xmlns:a16="http://schemas.microsoft.com/office/drawing/2014/main" id="{66D78A55-47F7-4B44-A742-FFBFF58F5CF9}"/>
              </a:ext>
            </a:extLst>
          </p:cNvPr>
          <p:cNvSpPr>
            <a:spLocks xmlns:a="http://schemas.openxmlformats.org/drawingml/2006/main" noGrp="1"/>
          </p:cNvSpPr>
          <p:nvPr/>
        </p:nvSpPr>
        <p:spPr>
          <a:xfrm xmlns:a="http://schemas.openxmlformats.org/drawingml/2006/main">
            <a:off x="6305550" y="1981200"/>
            <a:ext cx="4953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17212B"/>
                </a:solidFill>
              </a:defRPr>
            </a:pPr>
            <a:r>
              <a:rPr sz="1575" b="0" i="0">
                <a:solidFill>
                  <a:srgbClr val="17212B"/>
                </a:solidFill>
              </a:rPr>
              <a:t>• Durable shared OTP challenge storage</a:t>
            </a:r>
          </a:p>
          <a:p xmlns:a="http://schemas.openxmlformats.org/drawingml/2006/main">
            <a:pPr algn="l">
              <a:buNone/>
              <a:defRPr sz="1575" b="0" i="0">
                <a:solidFill>
                  <a:srgbClr val="17212B"/>
                </a:solidFill>
              </a:defRPr>
            </a:pPr>
            <a:r>
              <a:rPr sz="1575" b="0" i="0">
                <a:solidFill>
                  <a:srgbClr val="17212B"/>
                </a:solidFill>
              </a:rPr>
              <a:t>• Provider-specific SMTP adapters and safe observability</a:t>
            </a:r>
          </a:p>
          <a:p xmlns:a="http://schemas.openxmlformats.org/drawingml/2006/main">
            <a:pPr algn="l">
              <a:buNone/>
              <a:defRPr sz="1575" b="0" i="0">
                <a:solidFill>
                  <a:srgbClr val="17212B"/>
                </a:solidFill>
              </a:defRPr>
            </a:pPr>
            <a:r>
              <a:rPr sz="1575" b="0" i="0">
                <a:solidFill>
                  <a:srgbClr val="17212B"/>
                </a:solidFill>
              </a:rPr>
              <a:t>• Opt-in cross-device sync with conflict and rollback controls</a:t>
            </a:r>
          </a:p>
          <a:p xmlns:a="http://schemas.openxmlformats.org/drawingml/2006/main">
            <a:pPr algn="l">
              <a:buNone/>
              <a:defRPr sz="1575" b="0" i="0">
                <a:solidFill>
                  <a:srgbClr val="17212B"/>
                </a:solidFill>
              </a:defRPr>
            </a:pPr>
            <a:r>
              <a:rPr sz="1575" b="0" i="0">
                <a:solidFill>
                  <a:srgbClr val="17212B"/>
                </a:solidFill>
              </a:rPr>
              <a:t>• Additional import formats</a:t>
            </a:r>
          </a:p>
          <a:p xmlns:a="http://schemas.openxmlformats.org/drawingml/2006/main">
            <a:pPr algn="l">
              <a:buNone/>
              <a:defRPr sz="1575" b="0" i="0">
                <a:solidFill>
                  <a:srgbClr val="17212B"/>
                </a:solidFill>
              </a:defRPr>
            </a:pPr>
            <a:r>
              <a:rPr sz="1575" b="0" i="0">
                <a:solidFill>
                  <a:srgbClr val="17212B"/>
                </a:solidFill>
              </a:rPr>
              <a:t>• Accessibility and keyboard-navigation refinements</a:t>
            </a:r>
          </a:p>
          <a:p xmlns:a="http://schemas.openxmlformats.org/drawingml/2006/main">
            <a:pPr algn="l">
              <a:buNone/>
              <a:defRPr sz="1575" b="0" i="0">
                <a:solidFill>
                  <a:srgbClr val="17212B"/>
                </a:solidFill>
              </a:defRPr>
            </a:pPr>
            <a:r>
              <a:rPr sz="1575" b="0" i="0">
                <a:solidFill>
                  <a:srgbClr val="17212B"/>
                </a:solidFill>
              </a:rPr>
              <a:t>• Optional platform background notifications</a:t>
            </a:r>
          </a:p>
        </p:txBody>
      </p:sp>
      <p:sp>
        <p:nvSpPr>
          <p:cNvPr id="10" name="">
            <a:extLst xmlns:a="http://schemas.openxmlformats.org/drawingml/2006/main">
              <a:ext uri="{FF2B5EF4-FFF2-40B4-BE49-F238E27FC236}">
                <a16:creationId xmlns:a16="http://schemas.microsoft.com/office/drawing/2014/main" id="{4C301FB4-5931-42EC-B3B5-7499D2F4A108}"/>
              </a:ext>
            </a:extLst>
          </p:cNvPr>
          <p:cNvSpPr>
            <a:spLocks xmlns:a="http://schemas.openxmlformats.org/drawingml/2006/main" noGrp="1"/>
          </p:cNvSpPr>
          <p:nvPr/>
        </p:nvSpPr>
        <p:spPr>
          <a:xfrm xmlns:a="http://schemas.openxmlformats.org/drawingml/2006/main">
            <a:off x="514350" y="5562600"/>
            <a:ext cx="10744200" cy="590550"/>
          </a:xfrm>
          <a:prstGeom xmlns:a="http://schemas.openxmlformats.org/drawingml/2006/main" prst="rect">
            <a:avLst/>
          </a:prstGeom>
          <a:solidFill xmlns:a="http://schemas.openxmlformats.org/drawingml/2006/main">
            <a:srgbClr val="EAF5F0"/>
          </a:solidFill>
          <a:ln xmlns:a="http://schemas.openxmlformats.org/drawingml/2006/main" w="9525">
            <a:solidFill>
              <a:srgbClr val="16785B"/>
            </a:solidFill>
            <a:prstDash val="solid"/>
          </a:ln>
        </p:spPr>
      </p:sp>
      <p:sp>
        <p:nvSpPr>
          <p:cNvPr id="11" name="">
            <a:extLst xmlns:a="http://schemas.openxmlformats.org/drawingml/2006/main">
              <a:ext uri="{FF2B5EF4-FFF2-40B4-BE49-F238E27FC236}">
                <a16:creationId xmlns:a16="http://schemas.microsoft.com/office/drawing/2014/main" id="{DA3BF2CC-229D-4C11-A00D-68B72765EF5E}"/>
              </a:ext>
            </a:extLst>
          </p:cNvPr>
          <p:cNvSpPr>
            <a:spLocks xmlns:a="http://schemas.openxmlformats.org/drawingml/2006/main" noGrp="1"/>
          </p:cNvSpPr>
          <p:nvPr/>
        </p:nvSpPr>
        <p:spPr>
          <a:xfrm xmlns:a="http://schemas.openxmlformats.org/drawingml/2006/main">
            <a:off x="742950" y="57340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F5F49"/>
                </a:solidFill>
              </a:defRPr>
            </a:pPr>
            <a:r>
              <a:rPr sz="1350" b="1" i="0">
                <a:solidFill>
                  <a:srgbClr val="0F5F49"/>
                </a:solidFill>
              </a:rPr>
              <a:t>The implemented local-first architecture remains the baseline; future networking must stay explicit and privacy-preserving.</a:t>
            </a:r>
          </a:p>
        </p:txBody>
      </p:sp>
    </p:spTree>
    <p:extLst>
      <p:ext uri="{BB962C8B-B14F-4D97-AF65-F5344CB8AC3E}">
        <p14:creationId xmlns:p14="http://schemas.microsoft.com/office/powerpoint/2010/main" val="206355880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3A675E9-FAEA-48AA-9464-FC762369BDB7}"/>
              </a:ext>
            </a:extLst>
          </p:cNvPr>
          <p:cNvSpPr>
            <a:spLocks xmlns:a="http://schemas.openxmlformats.org/drawingml/2006/main" noGrp="1"/>
          </p:cNvSpPr>
          <p:nvPr/>
        </p:nvSpPr>
        <p:spPr>
          <a:xfrm xmlns:a="http://schemas.openxmlformats.org/drawingml/2006/main">
            <a:off x="400050" y="247650"/>
            <a:ext cx="11391900" cy="38100"/>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2" name="">
            <a:extLst xmlns:a="http://schemas.openxmlformats.org/drawingml/2006/main">
              <a:ext uri="{FF2B5EF4-FFF2-40B4-BE49-F238E27FC236}">
                <a16:creationId xmlns:a16="http://schemas.microsoft.com/office/drawing/2014/main" id="{7FB2A0D4-9DD8-47A3-91C9-333D56736015}"/>
              </a:ext>
            </a:extLst>
          </p:cNvPr>
          <p:cNvSpPr>
            <a:spLocks xmlns:a="http://schemas.openxmlformats.org/drawingml/2006/main" noGrp="1"/>
          </p:cNvSpPr>
          <p:nvPr/>
        </p:nvSpPr>
        <p:spPr>
          <a:xfrm xmlns:a="http://schemas.openxmlformats.org/drawingml/2006/main">
            <a:off x="457200" y="371475"/>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TEAM CONTRIBUTIONS</a:t>
            </a:r>
          </a:p>
        </p:txBody>
      </p:sp>
      <p:sp>
        <p:nvSpPr>
          <p:cNvPr id="3" name="">
            <a:extLst xmlns:a="http://schemas.openxmlformats.org/drawingml/2006/main">
              <a:ext uri="{FF2B5EF4-FFF2-40B4-BE49-F238E27FC236}">
                <a16:creationId xmlns:a16="http://schemas.microsoft.com/office/drawing/2014/main" id="{DC850003-6B49-4445-BD9C-A73C4A2C2BBD}"/>
              </a:ext>
            </a:extLst>
          </p:cNvPr>
          <p:cNvSpPr>
            <a:spLocks xmlns:a="http://schemas.openxmlformats.org/drawingml/2006/main" noGrp="1"/>
          </p:cNvSpPr>
          <p:nvPr/>
        </p:nvSpPr>
        <p:spPr>
          <a:xfrm xmlns:a="http://schemas.openxmlformats.org/drawingml/2006/main">
            <a:off x="457200" y="72390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7212B"/>
                </a:solidFill>
              </a:defRPr>
            </a:pPr>
            <a:r>
              <a:rPr sz="3000" b="1" i="0">
                <a:solidFill>
                  <a:srgbClr val="17212B"/>
                </a:solidFill>
              </a:rPr>
              <a:t>Clear ownership supports integrated delivery</a:t>
            </a:r>
          </a:p>
        </p:txBody>
      </p:sp>
      <p:sp>
        <p:nvSpPr>
          <p:cNvPr id="4" name="">
            <a:extLst xmlns:a="http://schemas.openxmlformats.org/drawingml/2006/main">
              <a:ext uri="{FF2B5EF4-FFF2-40B4-BE49-F238E27FC236}">
                <a16:creationId xmlns:a16="http://schemas.microsoft.com/office/drawing/2014/main" id="{80439ADA-ED28-43A6-A657-E0387D3776FB}"/>
              </a:ext>
            </a:extLst>
          </p:cNvPr>
          <p:cNvSpPr>
            <a:spLocks xmlns:a="http://schemas.openxmlformats.org/drawingml/2006/main" noGrp="1"/>
          </p:cNvSpPr>
          <p:nvPr/>
        </p:nvSpPr>
        <p:spPr>
          <a:xfrm xmlns:a="http://schemas.openxmlformats.org/drawingml/2006/main">
            <a:off x="1127760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i="0">
                <a:solidFill>
                  <a:srgbClr val="5B6573"/>
                </a:solidFill>
              </a:defRPr>
            </a:pPr>
            <a:r>
              <a:rPr sz="1050" b="0" i="0">
                <a:solidFill>
                  <a:srgbClr val="5B6573"/>
                </a:solidFill>
              </a:rPr>
              <a:t>16</a:t>
            </a:r>
          </a:p>
        </p:txBody>
      </p:sp>
      <p:sp>
        <p:nvSpPr>
          <p:cNvPr id="5" name="">
            <a:extLst xmlns:a="http://schemas.openxmlformats.org/drawingml/2006/main">
              <a:ext uri="{FF2B5EF4-FFF2-40B4-BE49-F238E27FC236}">
                <a16:creationId xmlns:a16="http://schemas.microsoft.com/office/drawing/2014/main" id="{94717962-7C0B-47AD-8CFC-13671DD1C559}"/>
              </a:ext>
            </a:extLst>
          </p:cNvPr>
          <p:cNvSpPr>
            <a:spLocks xmlns:a="http://schemas.openxmlformats.org/drawingml/2006/main" noGrp="1"/>
          </p:cNvSpPr>
          <p:nvPr/>
        </p:nvSpPr>
        <p:spPr>
          <a:xfrm xmlns:a="http://schemas.openxmlformats.org/drawingml/2006/main">
            <a:off x="514350" y="1562100"/>
            <a:ext cx="10744200" cy="28575"/>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6" name="">
            <a:extLst xmlns:a="http://schemas.openxmlformats.org/drawingml/2006/main">
              <a:ext uri="{FF2B5EF4-FFF2-40B4-BE49-F238E27FC236}">
                <a16:creationId xmlns:a16="http://schemas.microsoft.com/office/drawing/2014/main" id="{52D8D3A0-E379-41D9-9F51-3C2587F2F09D}"/>
              </a:ext>
            </a:extLst>
          </p:cNvPr>
          <p:cNvSpPr>
            <a:spLocks xmlns:a="http://schemas.openxmlformats.org/drawingml/2006/main" noGrp="1"/>
          </p:cNvSpPr>
          <p:nvPr/>
        </p:nvSpPr>
        <p:spPr>
          <a:xfrm xmlns:a="http://schemas.openxmlformats.org/drawingml/2006/main">
            <a:off x="514350" y="17716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F5F49"/>
                </a:solidFill>
              </a:defRPr>
            </a:pPr>
            <a:r>
              <a:rPr sz="1800" b="1" i="0">
                <a:solidFill>
                  <a:srgbClr val="0F5F49"/>
                </a:solidFill>
              </a:rPr>
              <a:t>Shibli Rahman Moon</a:t>
            </a:r>
          </a:p>
        </p:txBody>
      </p:sp>
      <p:sp>
        <p:nvSpPr>
          <p:cNvPr id="7" name="">
            <a:extLst xmlns:a="http://schemas.openxmlformats.org/drawingml/2006/main">
              <a:ext uri="{FF2B5EF4-FFF2-40B4-BE49-F238E27FC236}">
                <a16:creationId xmlns:a16="http://schemas.microsoft.com/office/drawing/2014/main" id="{DE834F51-9851-4DF7-B97E-EC0D5C6F997F}"/>
              </a:ext>
            </a:extLst>
          </p:cNvPr>
          <p:cNvSpPr>
            <a:spLocks xmlns:a="http://schemas.openxmlformats.org/drawingml/2006/main" noGrp="1"/>
          </p:cNvSpPr>
          <p:nvPr/>
        </p:nvSpPr>
        <p:spPr>
          <a:xfrm xmlns:a="http://schemas.openxmlformats.org/drawingml/2006/main">
            <a:off x="3524250" y="17907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16785B"/>
                </a:solidFill>
              </a:defRPr>
            </a:pPr>
            <a:r>
              <a:rPr sz="1350" b="1" i="0">
                <a:solidFill>
                  <a:srgbClr val="16785B"/>
                </a:solidFill>
              </a:rPr>
              <a:t>PROJECT LEAD  ·  SYSTEM DESIGN &amp; INTEGRATION</a:t>
            </a:r>
          </a:p>
        </p:txBody>
      </p:sp>
      <p:sp>
        <p:nvSpPr>
          <p:cNvPr id="8" name="">
            <a:extLst xmlns:a="http://schemas.openxmlformats.org/drawingml/2006/main">
              <a:ext uri="{FF2B5EF4-FFF2-40B4-BE49-F238E27FC236}">
                <a16:creationId xmlns:a16="http://schemas.microsoft.com/office/drawing/2014/main" id="{1B1B06A4-AAEB-4F96-B72B-730DFF58E13A}"/>
              </a:ext>
            </a:extLst>
          </p:cNvPr>
          <p:cNvSpPr>
            <a:spLocks xmlns:a="http://schemas.openxmlformats.org/drawingml/2006/main" noGrp="1"/>
          </p:cNvSpPr>
          <p:nvPr/>
        </p:nvSpPr>
        <p:spPr>
          <a:xfrm xmlns:a="http://schemas.openxmlformats.org/drawingml/2006/main">
            <a:off x="514350" y="2190750"/>
            <a:ext cx="10477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17212B"/>
                </a:solidFill>
              </a:defRPr>
            </a:pPr>
            <a:r>
              <a:rPr sz="1350" b="0" i="0">
                <a:solidFill>
                  <a:srgbClr val="17212B"/>
                </a:solidFill>
              </a:rPr>
              <a:t>Professional UI/UX and Dashboard · authentication and Email OTP · password recovery · multi-user/workspace integration · overall module/system integration · QA and 47/47 verification · final build verification · documentation coordination · presentation and live-demo preparation</a:t>
            </a:r>
          </a:p>
        </p:txBody>
      </p:sp>
      <p:sp>
        <p:nvSpPr>
          <p:cNvPr id="9" name="">
            <a:extLst xmlns:a="http://schemas.openxmlformats.org/drawingml/2006/main">
              <a:ext uri="{FF2B5EF4-FFF2-40B4-BE49-F238E27FC236}">
                <a16:creationId xmlns:a16="http://schemas.microsoft.com/office/drawing/2014/main" id="{DA24B348-41A8-42BE-8224-527977DDBEBA}"/>
              </a:ext>
            </a:extLst>
          </p:cNvPr>
          <p:cNvSpPr>
            <a:spLocks xmlns:a="http://schemas.openxmlformats.org/drawingml/2006/main" noGrp="1"/>
          </p:cNvSpPr>
          <p:nvPr/>
        </p:nvSpPr>
        <p:spPr>
          <a:xfrm xmlns:a="http://schemas.openxmlformats.org/drawingml/2006/main">
            <a:off x="514350" y="3352800"/>
            <a:ext cx="10744200" cy="28575"/>
          </a:xfrm>
          <a:prstGeom xmlns:a="http://schemas.openxmlformats.org/drawingml/2006/main" prst="rect">
            <a:avLst/>
          </a:prstGeom>
          <a:solidFill xmlns:a="http://schemas.openxmlformats.org/drawingml/2006/main">
            <a:srgbClr val="2B6CB0"/>
          </a:solidFill>
          <a:ln xmlns:a="http://schemas.openxmlformats.org/drawingml/2006/main" w="0">
            <a:solidFill>
              <a:srgbClr val="2B6CB0"/>
            </a:solidFill>
            <a:prstDash val="solid"/>
          </a:ln>
        </p:spPr>
      </p:sp>
      <p:sp>
        <p:nvSpPr>
          <p:cNvPr id="10" name="">
            <a:extLst xmlns:a="http://schemas.openxmlformats.org/drawingml/2006/main">
              <a:ext uri="{FF2B5EF4-FFF2-40B4-BE49-F238E27FC236}">
                <a16:creationId xmlns:a16="http://schemas.microsoft.com/office/drawing/2014/main" id="{BA167206-7B19-48AD-BB6E-A5B76E041809}"/>
              </a:ext>
            </a:extLst>
          </p:cNvPr>
          <p:cNvSpPr>
            <a:spLocks xmlns:a="http://schemas.openxmlformats.org/drawingml/2006/main" noGrp="1"/>
          </p:cNvSpPr>
          <p:nvPr/>
        </p:nvSpPr>
        <p:spPr>
          <a:xfrm xmlns:a="http://schemas.openxmlformats.org/drawingml/2006/main">
            <a:off x="514350" y="356235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0F5F49"/>
                </a:solidFill>
              </a:defRPr>
            </a:pPr>
            <a:r>
              <a:rPr sz="1725" b="1" i="0">
                <a:solidFill>
                  <a:srgbClr val="0F5F49"/>
                </a:solidFill>
              </a:rPr>
              <a:t>Md. Nafij Jaman Rabbi</a:t>
            </a:r>
          </a:p>
        </p:txBody>
      </p:sp>
      <p:sp>
        <p:nvSpPr>
          <p:cNvPr id="11" name="">
            <a:extLst xmlns:a="http://schemas.openxmlformats.org/drawingml/2006/main">
              <a:ext uri="{FF2B5EF4-FFF2-40B4-BE49-F238E27FC236}">
                <a16:creationId xmlns:a16="http://schemas.microsoft.com/office/drawing/2014/main" id="{1C162778-55F4-470F-8CF7-8B9D397D556B}"/>
              </a:ext>
            </a:extLst>
          </p:cNvPr>
          <p:cNvSpPr>
            <a:spLocks xmlns:a="http://schemas.openxmlformats.org/drawingml/2006/main" noGrp="1"/>
          </p:cNvSpPr>
          <p:nvPr/>
        </p:nvSpPr>
        <p:spPr>
          <a:xfrm xmlns:a="http://schemas.openxmlformats.org/drawingml/2006/main">
            <a:off x="3943350" y="35814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2B6CB0"/>
                </a:solidFill>
              </a:defRPr>
            </a:pPr>
            <a:r>
              <a:rPr sz="1350" b="1" i="0">
                <a:solidFill>
                  <a:srgbClr val="2B6CB0"/>
                </a:solidFill>
              </a:rPr>
              <a:t>CORE FINANCE MODULES</a:t>
            </a:r>
          </a:p>
        </p:txBody>
      </p:sp>
      <p:sp>
        <p:nvSpPr>
          <p:cNvPr id="12" name="">
            <a:extLst xmlns:a="http://schemas.openxmlformats.org/drawingml/2006/main">
              <a:ext uri="{FF2B5EF4-FFF2-40B4-BE49-F238E27FC236}">
                <a16:creationId xmlns:a16="http://schemas.microsoft.com/office/drawing/2014/main" id="{61445B28-BA83-442C-976E-863F657A3AF3}"/>
              </a:ext>
            </a:extLst>
          </p:cNvPr>
          <p:cNvSpPr>
            <a:spLocks xmlns:a="http://schemas.openxmlformats.org/drawingml/2006/main" noGrp="1"/>
          </p:cNvSpPr>
          <p:nvPr/>
        </p:nvSpPr>
        <p:spPr>
          <a:xfrm xmlns:a="http://schemas.openxmlformats.org/drawingml/2006/main">
            <a:off x="514350" y="398145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17212B"/>
                </a:solidFill>
              </a:defRPr>
            </a:pPr>
            <a:r>
              <a:rPr sz="1350" b="0" i="0">
                <a:solidFill>
                  <a:srgbClr val="17212B"/>
                </a:solidFill>
              </a:rPr>
              <a:t>Accounts · income/expense transactions · transfers · budgets · goals · debt management · finance-data validation · related functional testing</a:t>
            </a:r>
          </a:p>
        </p:txBody>
      </p:sp>
      <p:sp>
        <p:nvSpPr>
          <p:cNvPr id="13" name="">
            <a:extLst xmlns:a="http://schemas.openxmlformats.org/drawingml/2006/main">
              <a:ext uri="{FF2B5EF4-FFF2-40B4-BE49-F238E27FC236}">
                <a16:creationId xmlns:a16="http://schemas.microsoft.com/office/drawing/2014/main" id="{AD9CEDA2-B3A7-4207-8D14-041DC238BF42}"/>
              </a:ext>
            </a:extLst>
          </p:cNvPr>
          <p:cNvSpPr>
            <a:spLocks xmlns:a="http://schemas.openxmlformats.org/drawingml/2006/main" noGrp="1"/>
          </p:cNvSpPr>
          <p:nvPr/>
        </p:nvSpPr>
        <p:spPr>
          <a:xfrm xmlns:a="http://schemas.openxmlformats.org/drawingml/2006/main">
            <a:off x="514350" y="4819650"/>
            <a:ext cx="10744200" cy="28575"/>
          </a:xfrm>
          <a:prstGeom xmlns:a="http://schemas.openxmlformats.org/drawingml/2006/main" prst="rect">
            <a:avLst/>
          </a:prstGeom>
          <a:solidFill xmlns:a="http://schemas.openxmlformats.org/drawingml/2006/main">
            <a:srgbClr val="C58B20"/>
          </a:solidFill>
          <a:ln xmlns:a="http://schemas.openxmlformats.org/drawingml/2006/main" w="0">
            <a:solidFill>
              <a:srgbClr val="C58B20"/>
            </a:solidFill>
            <a:prstDash val="solid"/>
          </a:ln>
        </p:spPr>
      </p:sp>
      <p:sp>
        <p:nvSpPr>
          <p:cNvPr id="14" name="">
            <a:extLst xmlns:a="http://schemas.openxmlformats.org/drawingml/2006/main">
              <a:ext uri="{FF2B5EF4-FFF2-40B4-BE49-F238E27FC236}">
                <a16:creationId xmlns:a16="http://schemas.microsoft.com/office/drawing/2014/main" id="{CED89F8C-6024-4BB4-AD1A-E362C35B7A13}"/>
              </a:ext>
            </a:extLst>
          </p:cNvPr>
          <p:cNvSpPr>
            <a:spLocks xmlns:a="http://schemas.openxmlformats.org/drawingml/2006/main" noGrp="1"/>
          </p:cNvSpPr>
          <p:nvPr/>
        </p:nvSpPr>
        <p:spPr>
          <a:xfrm xmlns:a="http://schemas.openxmlformats.org/drawingml/2006/main">
            <a:off x="514350" y="502920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0F5F49"/>
                </a:solidFill>
              </a:defRPr>
            </a:pPr>
            <a:r>
              <a:rPr sz="1725" b="1" i="0">
                <a:solidFill>
                  <a:srgbClr val="0F5F49"/>
                </a:solidFill>
              </a:rPr>
              <a:t>Md. Monimul Haque</a:t>
            </a:r>
          </a:p>
        </p:txBody>
      </p:sp>
      <p:sp>
        <p:nvSpPr>
          <p:cNvPr id="15" name="">
            <a:extLst xmlns:a="http://schemas.openxmlformats.org/drawingml/2006/main">
              <a:ext uri="{FF2B5EF4-FFF2-40B4-BE49-F238E27FC236}">
                <a16:creationId xmlns:a16="http://schemas.microsoft.com/office/drawing/2014/main" id="{5A518D9F-6B8D-4CCA-BF17-F515B01DA386}"/>
              </a:ext>
            </a:extLst>
          </p:cNvPr>
          <p:cNvSpPr>
            <a:spLocks xmlns:a="http://schemas.openxmlformats.org/drawingml/2006/main" noGrp="1"/>
          </p:cNvSpPr>
          <p:nvPr/>
        </p:nvSpPr>
        <p:spPr>
          <a:xfrm xmlns:a="http://schemas.openxmlformats.org/drawingml/2006/main">
            <a:off x="3943350" y="50482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C58B20"/>
                </a:solidFill>
              </a:defRPr>
            </a:pPr>
            <a:r>
              <a:rPr sz="1350" b="1" i="0">
                <a:solidFill>
                  <a:srgbClr val="C58B20"/>
                </a:solidFill>
              </a:rPr>
              <a:t>REPORTS &amp; PRODUCTIVITY MODULES</a:t>
            </a:r>
          </a:p>
        </p:txBody>
      </p:sp>
      <p:sp>
        <p:nvSpPr>
          <p:cNvPr id="16" name="">
            <a:extLst xmlns:a="http://schemas.openxmlformats.org/drawingml/2006/main">
              <a:ext uri="{FF2B5EF4-FFF2-40B4-BE49-F238E27FC236}">
                <a16:creationId xmlns:a16="http://schemas.microsoft.com/office/drawing/2014/main" id="{3BCBC90D-213F-4A68-9A34-C6B186F41FB8}"/>
              </a:ext>
            </a:extLst>
          </p:cNvPr>
          <p:cNvSpPr>
            <a:spLocks xmlns:a="http://schemas.openxmlformats.org/drawingml/2006/main" noGrp="1"/>
          </p:cNvSpPr>
          <p:nvPr/>
        </p:nvSpPr>
        <p:spPr>
          <a:xfrm xmlns:a="http://schemas.openxmlformats.org/drawingml/2006/main">
            <a:off x="514350" y="5448300"/>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17212B"/>
                </a:solidFill>
              </a:defRPr>
            </a:pPr>
            <a:r>
              <a:rPr sz="1350" b="0" i="0">
                <a:solidFill>
                  <a:srgbClr val="17212B"/>
                </a:solidFill>
              </a:rPr>
              <a:t>Reports · recurring transactions · calendar features · import/export · backup and restore · demo-data support · related testing</a:t>
            </a:r>
          </a:p>
        </p:txBody>
      </p:sp>
    </p:spTree>
    <p:extLst>
      <p:ext uri="{BB962C8B-B14F-4D97-AF65-F5344CB8AC3E}">
        <p14:creationId xmlns:p14="http://schemas.microsoft.com/office/powerpoint/2010/main" val="163679017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C2E1703-94D5-429B-B85D-E9AB7886D9B4}"/>
              </a:ext>
            </a:extLst>
          </p:cNvPr>
          <p:cNvSpPr>
            <a:spLocks xmlns:a="http://schemas.openxmlformats.org/drawingml/2006/main" noGrp="1"/>
          </p:cNvSpPr>
          <p:nvPr/>
        </p:nvSpPr>
        <p:spPr>
          <a:xfrm xmlns:a="http://schemas.openxmlformats.org/drawingml/2006/main">
            <a:off x="400050" y="247650"/>
            <a:ext cx="11391900" cy="38100"/>
          </a:xfrm>
          <a:prstGeom xmlns:a="http://schemas.openxmlformats.org/drawingml/2006/main" prst="rect">
            <a:avLst/>
          </a:prstGeom>
          <a:solidFill xmlns:a="http://schemas.openxmlformats.org/drawingml/2006/main">
            <a:srgbClr val="16785B"/>
          </a:solidFill>
          <a:ln xmlns:a="http://schemas.openxmlformats.org/drawingml/2006/main" w="0">
            <a:solidFill>
              <a:srgbClr val="16785B"/>
            </a:solidFill>
            <a:prstDash val="solid"/>
          </a:ln>
        </p:spPr>
      </p:sp>
      <p:sp>
        <p:nvSpPr>
          <p:cNvPr id="2" name="">
            <a:extLst xmlns:a="http://schemas.openxmlformats.org/drawingml/2006/main">
              <a:ext uri="{FF2B5EF4-FFF2-40B4-BE49-F238E27FC236}">
                <a16:creationId xmlns:a16="http://schemas.microsoft.com/office/drawing/2014/main" id="{E0EFA16A-A247-4FA5-8659-9CFAEA62F6EE}"/>
              </a:ext>
            </a:extLst>
          </p:cNvPr>
          <p:cNvSpPr>
            <a:spLocks xmlns:a="http://schemas.openxmlformats.org/drawingml/2006/main" noGrp="1"/>
          </p:cNvSpPr>
          <p:nvPr/>
        </p:nvSpPr>
        <p:spPr>
          <a:xfrm xmlns:a="http://schemas.openxmlformats.org/drawingml/2006/main">
            <a:off x="457200" y="371475"/>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CONCLUSION</a:t>
            </a:r>
          </a:p>
        </p:txBody>
      </p:sp>
      <p:sp>
        <p:nvSpPr>
          <p:cNvPr id="3" name="">
            <a:extLst xmlns:a="http://schemas.openxmlformats.org/drawingml/2006/main">
              <a:ext uri="{FF2B5EF4-FFF2-40B4-BE49-F238E27FC236}">
                <a16:creationId xmlns:a16="http://schemas.microsoft.com/office/drawing/2014/main" id="{47A18D9F-BC71-4634-B371-B9016596CA92}"/>
              </a:ext>
            </a:extLst>
          </p:cNvPr>
          <p:cNvSpPr>
            <a:spLocks xmlns:a="http://schemas.openxmlformats.org/drawingml/2006/main" noGrp="1"/>
          </p:cNvSpPr>
          <p:nvPr/>
        </p:nvSpPr>
        <p:spPr>
          <a:xfrm xmlns:a="http://schemas.openxmlformats.org/drawingml/2006/main">
            <a:off x="457200" y="72390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7212B"/>
                </a:solidFill>
              </a:defRPr>
            </a:pPr>
            <a:r>
              <a:rPr sz="3000" b="1" i="0">
                <a:solidFill>
                  <a:srgbClr val="17212B"/>
                </a:solidFill>
              </a:rPr>
              <a:t>Architecture, behavior, and evidence now agree</a:t>
            </a:r>
          </a:p>
        </p:txBody>
      </p:sp>
      <p:sp>
        <p:nvSpPr>
          <p:cNvPr id="4" name="">
            <a:extLst xmlns:a="http://schemas.openxmlformats.org/drawingml/2006/main">
              <a:ext uri="{FF2B5EF4-FFF2-40B4-BE49-F238E27FC236}">
                <a16:creationId xmlns:a16="http://schemas.microsoft.com/office/drawing/2014/main" id="{FF4FA80B-323E-4AD3-933C-9A19E94B6DBE}"/>
              </a:ext>
            </a:extLst>
          </p:cNvPr>
          <p:cNvSpPr>
            <a:spLocks xmlns:a="http://schemas.openxmlformats.org/drawingml/2006/main" noGrp="1"/>
          </p:cNvSpPr>
          <p:nvPr/>
        </p:nvSpPr>
        <p:spPr>
          <a:xfrm xmlns:a="http://schemas.openxmlformats.org/drawingml/2006/main">
            <a:off x="1127760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i="0">
                <a:solidFill>
                  <a:srgbClr val="5B6573"/>
                </a:solidFill>
              </a:defRPr>
            </a:pPr>
            <a:r>
              <a:rPr sz="1050" b="0" i="0">
                <a:solidFill>
                  <a:srgbClr val="5B6573"/>
                </a:solidFill>
              </a:rPr>
              <a:t>17</a:t>
            </a:r>
          </a:p>
        </p:txBody>
      </p:sp>
      <p:sp>
        <p:nvSpPr>
          <p:cNvPr id="5" name="">
            <a:extLst xmlns:a="http://schemas.openxmlformats.org/drawingml/2006/main">
              <a:ext uri="{FF2B5EF4-FFF2-40B4-BE49-F238E27FC236}">
                <a16:creationId xmlns:a16="http://schemas.microsoft.com/office/drawing/2014/main" id="{3E06A2B6-4840-4A52-84D7-38FB6703702E}"/>
              </a:ext>
            </a:extLst>
          </p:cNvPr>
          <p:cNvSpPr>
            <a:spLocks xmlns:a="http://schemas.openxmlformats.org/drawingml/2006/main" noGrp="1"/>
          </p:cNvSpPr>
          <p:nvPr/>
        </p:nvSpPr>
        <p:spPr>
          <a:xfrm xmlns:a="http://schemas.openxmlformats.org/drawingml/2006/main">
            <a:off x="514350" y="15811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6785B"/>
                </a:solidFill>
              </a:defRPr>
            </a:pPr>
            <a:r>
              <a:rPr sz="1125" b="1" i="0">
                <a:solidFill>
                  <a:srgbClr val="16785B"/>
                </a:solidFill>
              </a:rPr>
              <a:t>FINAL VERIFIED BASELINE</a:t>
            </a:r>
          </a:p>
        </p:txBody>
      </p:sp>
      <p:sp>
        <p:nvSpPr>
          <p:cNvPr id="6" name="">
            <a:extLst xmlns:a="http://schemas.openxmlformats.org/drawingml/2006/main">
              <a:ext uri="{FF2B5EF4-FFF2-40B4-BE49-F238E27FC236}">
                <a16:creationId xmlns:a16="http://schemas.microsoft.com/office/drawing/2014/main" id="{1EE3B1FD-CAF3-4F9C-AB46-7DCB57A83EEC}"/>
              </a:ext>
            </a:extLst>
          </p:cNvPr>
          <p:cNvSpPr>
            <a:spLocks xmlns:a="http://schemas.openxmlformats.org/drawingml/2006/main" noGrp="1"/>
          </p:cNvSpPr>
          <p:nvPr/>
        </p:nvSpPr>
        <p:spPr>
          <a:xfrm xmlns:a="http://schemas.openxmlformats.org/drawingml/2006/main">
            <a:off x="514350" y="2152650"/>
            <a:ext cx="3429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500" b="1" i="0">
                <a:solidFill>
                  <a:srgbClr val="0F5F49"/>
                </a:solidFill>
              </a:defRPr>
            </a:pPr>
            <a:r>
              <a:rPr sz="4500" b="1" i="0">
                <a:solidFill>
                  <a:srgbClr val="0F5F49"/>
                </a:solidFill>
              </a:rPr>
              <a:t>47 / 47</a:t>
            </a:r>
          </a:p>
        </p:txBody>
      </p:sp>
      <p:sp>
        <p:nvSpPr>
          <p:cNvPr id="7" name="">
            <a:extLst xmlns:a="http://schemas.openxmlformats.org/drawingml/2006/main">
              <a:ext uri="{FF2B5EF4-FFF2-40B4-BE49-F238E27FC236}">
                <a16:creationId xmlns:a16="http://schemas.microsoft.com/office/drawing/2014/main" id="{B0AC7698-60D9-4FCC-B823-8C098F178123}"/>
              </a:ext>
            </a:extLst>
          </p:cNvPr>
          <p:cNvSpPr>
            <a:spLocks xmlns:a="http://schemas.openxmlformats.org/drawingml/2006/main" noGrp="1"/>
          </p:cNvSpPr>
          <p:nvPr/>
        </p:nvSpPr>
        <p:spPr>
          <a:xfrm xmlns:a="http://schemas.openxmlformats.org/drawingml/2006/main">
            <a:off x="514350" y="29146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i="0">
                <a:solidFill>
                  <a:srgbClr val="5B6573"/>
                </a:solidFill>
              </a:defRPr>
            </a:pPr>
            <a:r>
              <a:rPr sz="1575" b="1" i="0">
                <a:solidFill>
                  <a:srgbClr val="5B6573"/>
                </a:solidFill>
              </a:rPr>
              <a:t>automated entry points passed</a:t>
            </a:r>
          </a:p>
        </p:txBody>
      </p:sp>
      <p:sp>
        <p:nvSpPr>
          <p:cNvPr id="8" name="">
            <a:extLst xmlns:a="http://schemas.openxmlformats.org/drawingml/2006/main">
              <a:ext uri="{FF2B5EF4-FFF2-40B4-BE49-F238E27FC236}">
                <a16:creationId xmlns:a16="http://schemas.microsoft.com/office/drawing/2014/main" id="{A97E6C0C-AAE6-4A0B-BD0F-235FFEDF6A7A}"/>
              </a:ext>
            </a:extLst>
          </p:cNvPr>
          <p:cNvSpPr>
            <a:spLocks xmlns:a="http://schemas.openxmlformats.org/drawingml/2006/main" noGrp="1"/>
          </p:cNvSpPr>
          <p:nvPr/>
        </p:nvSpPr>
        <p:spPr>
          <a:xfrm xmlns:a="http://schemas.openxmlformats.org/drawingml/2006/main">
            <a:off x="4819650" y="1562100"/>
            <a:ext cx="19050" cy="3676650"/>
          </a:xfrm>
          <a:prstGeom xmlns:a="http://schemas.openxmlformats.org/drawingml/2006/main" prst="rect">
            <a:avLst/>
          </a:prstGeom>
          <a:solidFill xmlns:a="http://schemas.openxmlformats.org/drawingml/2006/main">
            <a:srgbClr val="B8C2CC"/>
          </a:solidFill>
          <a:ln xmlns:a="http://schemas.openxmlformats.org/drawingml/2006/main" w="0">
            <a:solidFill>
              <a:srgbClr val="B8C2CC"/>
            </a:solidFill>
            <a:prstDash val="solid"/>
          </a:ln>
        </p:spPr>
      </p:sp>
      <p:sp>
        <p:nvSpPr>
          <p:cNvPr id="9" name="">
            <a:extLst xmlns:a="http://schemas.openxmlformats.org/drawingml/2006/main">
              <a:ext uri="{FF2B5EF4-FFF2-40B4-BE49-F238E27FC236}">
                <a16:creationId xmlns:a16="http://schemas.microsoft.com/office/drawing/2014/main" id="{40D539C5-8042-484A-8571-5E9FA68FA48D}"/>
              </a:ext>
            </a:extLst>
          </p:cNvPr>
          <p:cNvSpPr>
            <a:spLocks xmlns:a="http://schemas.openxmlformats.org/drawingml/2006/main" noGrp="1"/>
          </p:cNvSpPr>
          <p:nvPr/>
        </p:nvSpPr>
        <p:spPr>
          <a:xfrm xmlns:a="http://schemas.openxmlformats.org/drawingml/2006/main">
            <a:off x="5410200" y="2000250"/>
            <a:ext cx="5334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0" i="0">
                <a:solidFill>
                  <a:srgbClr val="17212B"/>
                </a:solidFill>
              </a:defRPr>
            </a:pPr>
            <a:r>
              <a:rPr sz="1950" b="0" i="0">
                <a:solidFill>
                  <a:srgbClr val="17212B"/>
                </a:solidFill>
              </a:rPr>
              <a:t>Two verified distribution JARs</a:t>
            </a:r>
          </a:p>
          <a:p xmlns:a="http://schemas.openxmlformats.org/drawingml/2006/main">
            <a:pPr algn="l">
              <a:buNone/>
              <a:defRPr sz="1950" b="0" i="0">
                <a:solidFill>
                  <a:srgbClr val="17212B"/>
                </a:solidFill>
              </a:defRPr>
            </a:pPr>
            <a:r>
              <a:rPr sz="1950" b="0" i="0">
                <a:solidFill>
                  <a:srgbClr val="17212B"/>
                </a:solidFill>
              </a:rPr>
              <a:t>No functional blockers</a:t>
            </a:r>
          </a:p>
          <a:p xmlns:a="http://schemas.openxmlformats.org/drawingml/2006/main">
            <a:pPr algn="l">
              <a:buNone/>
              <a:defRPr sz="1950" b="0" i="0">
                <a:solidFill>
                  <a:srgbClr val="17212B"/>
                </a:solidFill>
              </a:defRPr>
            </a:pPr>
            <a:r>
              <a:rPr sz="1950" b="0" i="0">
                <a:solidFill>
                  <a:srgbClr val="17212B"/>
                </a:solidFill>
              </a:rPr>
              <a:t>Offline-first security boundary</a:t>
            </a:r>
          </a:p>
          <a:p xmlns:a="http://schemas.openxmlformats.org/drawingml/2006/main">
            <a:pPr algn="l">
              <a:buNone/>
              <a:defRPr sz="1950" b="0" i="0">
                <a:solidFill>
                  <a:srgbClr val="17212B"/>
                </a:solidFill>
              </a:defRPr>
            </a:pPr>
            <a:r>
              <a:rPr sz="1950" b="0" i="0">
                <a:solidFill>
                  <a:srgbClr val="17212B"/>
                </a:solidFill>
              </a:rPr>
              <a:t>Per-user portable persistence</a:t>
            </a:r>
          </a:p>
          <a:p xmlns:a="http://schemas.openxmlformats.org/drawingml/2006/main">
            <a:pPr algn="l">
              <a:buNone/>
              <a:defRPr sz="1950" b="0" i="0">
                <a:solidFill>
                  <a:srgbClr val="17212B"/>
                </a:solidFill>
              </a:defRPr>
            </a:pPr>
            <a:r>
              <a:rPr sz="1950" b="0" i="0">
                <a:solidFill>
                  <a:srgbClr val="17212B"/>
                </a:solidFill>
              </a:rPr>
              <a:t>DPAPI-secured one-click OTP launch</a:t>
            </a:r>
          </a:p>
          <a:p xmlns:a="http://schemas.openxmlformats.org/drawingml/2006/main">
            <a:pPr algn="l">
              <a:buNone/>
              <a:defRPr sz="1950" b="0" i="0">
                <a:solidFill>
                  <a:srgbClr val="17212B"/>
                </a:solidFill>
              </a:defRPr>
            </a:pPr>
            <a:r>
              <a:rPr sz="1950" b="0" i="0">
                <a:solidFill>
                  <a:srgbClr val="17212B"/>
                </a:solidFill>
              </a:rPr>
              <a:t>Repository-backed documentation</a:t>
            </a:r>
          </a:p>
        </p:txBody>
      </p:sp>
      <p:sp>
        <p:nvSpPr>
          <p:cNvPr id="10" name="">
            <a:extLst xmlns:a="http://schemas.openxmlformats.org/drawingml/2006/main">
              <a:ext uri="{FF2B5EF4-FFF2-40B4-BE49-F238E27FC236}">
                <a16:creationId xmlns:a16="http://schemas.microsoft.com/office/drawing/2014/main" id="{7BD31716-90A7-4DAD-A867-FCDA95060B0C}"/>
              </a:ext>
            </a:extLst>
          </p:cNvPr>
          <p:cNvSpPr>
            <a:spLocks xmlns:a="http://schemas.openxmlformats.org/drawingml/2006/main" noGrp="1"/>
          </p:cNvSpPr>
          <p:nvPr/>
        </p:nvSpPr>
        <p:spPr>
          <a:xfrm xmlns:a="http://schemas.openxmlformats.org/drawingml/2006/main">
            <a:off x="514350" y="5543550"/>
            <a:ext cx="10744200" cy="647700"/>
          </a:xfrm>
          <a:prstGeom xmlns:a="http://schemas.openxmlformats.org/drawingml/2006/main" prst="rect">
            <a:avLst/>
          </a:prstGeom>
          <a:solidFill xmlns:a="http://schemas.openxmlformats.org/drawingml/2006/main">
            <a:srgbClr val="0F5F49"/>
          </a:solidFill>
          <a:ln xmlns:a="http://schemas.openxmlformats.org/drawingml/2006/main" w="0">
            <a:solidFill>
              <a:srgbClr val="0F5F49"/>
            </a:solidFill>
            <a:prstDash val="solid"/>
          </a:ln>
        </p:spPr>
      </p:sp>
      <p:sp>
        <p:nvSpPr>
          <p:cNvPr id="11" name="">
            <a:extLst xmlns:a="http://schemas.openxmlformats.org/drawingml/2006/main">
              <a:ext uri="{FF2B5EF4-FFF2-40B4-BE49-F238E27FC236}">
                <a16:creationId xmlns:a16="http://schemas.microsoft.com/office/drawing/2014/main" id="{4934B4CF-19A8-4FC5-B7D1-79F4B08D0303}"/>
              </a:ext>
            </a:extLst>
          </p:cNvPr>
          <p:cNvSpPr>
            <a:spLocks xmlns:a="http://schemas.openxmlformats.org/drawingml/2006/main" noGrp="1"/>
          </p:cNvSpPr>
          <p:nvPr/>
        </p:nvSpPr>
        <p:spPr>
          <a:xfrm xmlns:a="http://schemas.openxmlformats.org/drawingml/2006/main">
            <a:off x="742950" y="5705475"/>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FFFFFF"/>
                </a:solidFill>
              </a:defRPr>
            </a:pPr>
            <a:r>
              <a:rPr sz="1800" b="1" i="0">
                <a:solidFill>
                  <a:srgbClr val="FFFFFF"/>
                </a:solidFill>
              </a:rPr>
              <a:t>Ready for CSE 215 Section 11 academic defense and final submission review</a:t>
            </a:r>
          </a:p>
        </p:txBody>
      </p:sp>
    </p:spTree>
    <p:extLst>
      <p:ext uri="{BB962C8B-B14F-4D97-AF65-F5344CB8AC3E}">
        <p14:creationId xmlns:p14="http://schemas.microsoft.com/office/powerpoint/2010/main" val="5744341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2026-08-09T18:45:08.9660000Z</dcterms:created>
  <dcterms:modified xsi:type="dcterms:W3CDTF">2026-08-09T18:45:08.9660000Z</dcterms:modified>
</coreProperties>
</file>